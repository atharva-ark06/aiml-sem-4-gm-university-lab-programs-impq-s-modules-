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3461798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4193326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33584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C90933B-36A1-4D89-ACEE-A9FEE764AFB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429631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C90933B-36A1-4D89-ACEE-A9FEE764AFBF}"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754635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C90933B-36A1-4D89-ACEE-A9FEE764AFBF}"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357728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90933B-36A1-4D89-ACEE-A9FEE764AFBF}"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1733272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90933B-36A1-4D89-ACEE-A9FEE764AFB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1873719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90933B-36A1-4D89-ACEE-A9FEE764AFB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143821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3339850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92909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3772814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881470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8858701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4176902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90933B-36A1-4D89-ACEE-A9FEE764AFB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244BF3-7C09-45BE-9990-9BA4EF7DD4D5}" type="slidenum">
              <a:rPr lang="en-US" smtClean="0"/>
              <a:t>‹#›</a:t>
            </a:fld>
            <a:endParaRPr lang="en-US"/>
          </a:p>
        </p:txBody>
      </p:sp>
    </p:spTree>
    <p:extLst>
      <p:ext uri="{BB962C8B-B14F-4D97-AF65-F5344CB8AC3E}">
        <p14:creationId xmlns:p14="http://schemas.microsoft.com/office/powerpoint/2010/main" val="1453525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90933B-36A1-4D89-ACEE-A9FEE764AFBF}" type="datetimeFigureOut">
              <a:rPr lang="en-US" smtClean="0"/>
              <a:t>4/2/2026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8244BF3-7C09-45BE-9990-9BA4EF7DD4D5}" type="slidenum">
              <a:rPr lang="en-US" smtClean="0"/>
              <a:t>‹#›</a:t>
            </a:fld>
            <a:endParaRPr lang="en-US"/>
          </a:p>
        </p:txBody>
      </p:sp>
    </p:spTree>
    <p:extLst>
      <p:ext uri="{BB962C8B-B14F-4D97-AF65-F5344CB8AC3E}">
        <p14:creationId xmlns:p14="http://schemas.microsoft.com/office/powerpoint/2010/main" val="1227824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maths/qualitative-dat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data-science/what-is-unstructured-data/" TargetMode="External"/><Relationship Id="rId2" Type="http://schemas.openxmlformats.org/officeDocument/2006/relationships/hyperlink" Target="https://www.geeksforgeeks.org/dbms/what-is-structured-data/" TargetMode="External"/><Relationship Id="rId1" Type="http://schemas.openxmlformats.org/officeDocument/2006/relationships/slideLayout" Target="../slideLayouts/slideLayout2.xml"/><Relationship Id="rId4" Type="http://schemas.openxmlformats.org/officeDocument/2006/relationships/hyperlink" Target="https://www.geeksforgeeks.org/dbms/what-is-semi-structured-data/"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geeksforgeeks.org/data-engineering/what-is-big-dat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dbms/what-is-semi-structured-data/" TargetMode="External"/><Relationship Id="rId2" Type="http://schemas.openxmlformats.org/officeDocument/2006/relationships/hyperlink" Target="https://www.geeksforgeeks.org/dbms/what-is-structured-data/" TargetMode="External"/><Relationship Id="rId1" Type="http://schemas.openxmlformats.org/officeDocument/2006/relationships/slideLayout" Target="../slideLayouts/slideLayout2.xml"/><Relationship Id="rId4" Type="http://schemas.openxmlformats.org/officeDocument/2006/relationships/hyperlink" Target="https://www.geeksforgeeks.org/data-science/what-is-unstructured-dat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eeksforgeeks.org/data-visualization/plotting-histogram-in-python-using-matplotlib/"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geeksforgeeks.org/python/countplot-using-seaborn-in-pytho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geeksforgeeks.org/data-science/plot-a-pie-chart-in-python-using-matplotlib/"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3486" y="2034862"/>
            <a:ext cx="8628845" cy="2015973"/>
          </a:xfrm>
        </p:spPr>
        <p:txBody>
          <a:bodyPr/>
          <a:lstStyle/>
          <a:p>
            <a:pPr algn="l"/>
            <a:r>
              <a:rPr lang="en-US" b="1" dirty="0" smtClean="0">
                <a:solidFill>
                  <a:schemeClr val="tx1"/>
                </a:solidFill>
                <a:latin typeface="Times New Roman" panose="02020603050405020304" pitchFamily="18" charset="0"/>
                <a:cs typeface="Times New Roman" panose="02020603050405020304" pitchFamily="18" charset="0"/>
              </a:rPr>
              <a:t>Module 3: Chapter 2 UNDERSTANDING </a:t>
            </a:r>
            <a:r>
              <a:rPr lang="en-US" b="1" dirty="0" smtClean="0">
                <a:solidFill>
                  <a:schemeClr val="tx1"/>
                </a:solidFill>
                <a:latin typeface="Times New Roman" panose="02020603050405020304" pitchFamily="18" charset="0"/>
                <a:cs typeface="Times New Roman" panose="02020603050405020304" pitchFamily="18" charset="0"/>
              </a:rPr>
              <a:t>DATA</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2455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13893"/>
          </a:xfrm>
        </p:spPr>
        <p:txBody>
          <a:bodyPr>
            <a:normAutofit fontScale="90000"/>
          </a:bodyPr>
          <a:lstStyle/>
          <a:p>
            <a:r>
              <a:rPr lang="en-US" b="1" dirty="0" smtClean="0">
                <a:solidFill>
                  <a:schemeClr val="tx1"/>
                </a:solidFill>
                <a:latin typeface="Times New Roman" panose="02020603050405020304" pitchFamily="18" charset="0"/>
                <a:cs typeface="Times New Roman" panose="02020603050405020304" pitchFamily="18" charset="0"/>
              </a:rPr>
              <a:t>DATA</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3" y="1478009"/>
            <a:ext cx="9342429" cy="3880773"/>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Data is the raw form of information, a collection of facts, figures, symbols or observations that represent details about events, objects or phenomena. By itself, data may appear meaningless, but when organized, processed and interpreted, it transforms into valuable insights that support decision-making, problem-solving and innovation.</a:t>
            </a:r>
          </a:p>
        </p:txBody>
      </p:sp>
    </p:spTree>
    <p:extLst>
      <p:ext uri="{BB962C8B-B14F-4D97-AF65-F5344CB8AC3E}">
        <p14:creationId xmlns:p14="http://schemas.microsoft.com/office/powerpoint/2010/main" val="4221915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sz="4000" b="1" dirty="0">
                <a:latin typeface="Times New Roman" panose="02020603050405020304" pitchFamily="18" charset="0"/>
                <a:cs typeface="Times New Roman" panose="02020603050405020304" pitchFamily="18" charset="0"/>
              </a:rPr>
              <a:t>Types of Data</a:t>
            </a:r>
          </a:p>
        </p:txBody>
      </p:sp>
      <p:pic>
        <p:nvPicPr>
          <p:cNvPr id="4" name="Content Placeholder 3"/>
          <p:cNvPicPr>
            <a:picLocks noGrp="1" noChangeAspect="1"/>
          </p:cNvPicPr>
          <p:nvPr>
            <p:ph idx="1"/>
          </p:nvPr>
        </p:nvPicPr>
        <p:blipFill>
          <a:blip r:embed="rId2"/>
          <a:stretch>
            <a:fillRect/>
          </a:stretch>
        </p:blipFill>
        <p:spPr>
          <a:xfrm>
            <a:off x="1211687" y="1812960"/>
            <a:ext cx="9130048" cy="4565024"/>
          </a:xfrm>
          <a:prstGeom prst="rect">
            <a:avLst/>
          </a:prstGeom>
        </p:spPr>
      </p:pic>
    </p:spTree>
    <p:extLst>
      <p:ext uri="{BB962C8B-B14F-4D97-AF65-F5344CB8AC3E}">
        <p14:creationId xmlns:p14="http://schemas.microsoft.com/office/powerpoint/2010/main" val="814472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5004" y="257577"/>
            <a:ext cx="9440214" cy="5919386"/>
          </a:xfrm>
        </p:spPr>
        <p:txBody>
          <a:bodyPr>
            <a:noAutofit/>
          </a:bodyPr>
          <a:lstStyle/>
          <a:p>
            <a:pPr marL="514350" indent="-514350" fontAlgn="base">
              <a:buAutoNum type="arabicPeriod"/>
            </a:pPr>
            <a:r>
              <a:rPr lang="en-US" sz="2000" b="1" dirty="0" smtClean="0">
                <a:latin typeface="Times New Roman" panose="02020603050405020304" pitchFamily="18" charset="0"/>
                <a:cs typeface="Times New Roman" panose="02020603050405020304" pitchFamily="18" charset="0"/>
              </a:rPr>
              <a:t>Quantitative Data</a:t>
            </a:r>
          </a:p>
          <a:p>
            <a:pPr marL="0" indent="0" fontAlgn="base">
              <a:buNone/>
            </a:pPr>
            <a:r>
              <a:rPr lang="en-US" sz="2000" u="sng" dirty="0">
                <a:latin typeface="Times New Roman" panose="02020603050405020304" pitchFamily="18" charset="0"/>
                <a:cs typeface="Times New Roman" panose="02020603050405020304" pitchFamily="18" charset="0"/>
                <a:hlinkClick r:id="rId2"/>
              </a:rPr>
              <a:t>Quantitative data</a:t>
            </a:r>
            <a:r>
              <a:rPr lang="en-US" sz="2000" dirty="0">
                <a:latin typeface="Times New Roman" panose="02020603050405020304" pitchFamily="18" charset="0"/>
                <a:cs typeface="Times New Roman" panose="02020603050405020304" pitchFamily="18" charset="0"/>
              </a:rPr>
              <a:t> is information that can be measured, counted and expressed in numerical form. It provides objective values that can be analyzed statistically to identify patterns, trends and relationships.</a:t>
            </a:r>
          </a:p>
          <a:p>
            <a:pPr fontAlgn="base"/>
            <a:r>
              <a:rPr lang="en-US" sz="2000" dirty="0">
                <a:latin typeface="Times New Roman" panose="02020603050405020304" pitchFamily="18" charset="0"/>
                <a:cs typeface="Times New Roman" panose="02020603050405020304" pitchFamily="18" charset="0"/>
              </a:rPr>
              <a:t>Represents numbers and measurable values.</a:t>
            </a:r>
          </a:p>
          <a:p>
            <a:pPr fontAlgn="base"/>
            <a:r>
              <a:rPr lang="en-US" sz="2000" dirty="0">
                <a:latin typeface="Times New Roman" panose="02020603050405020304" pitchFamily="18" charset="0"/>
                <a:cs typeface="Times New Roman" panose="02020603050405020304" pitchFamily="18" charset="0"/>
              </a:rPr>
              <a:t>Can be divided into: Discrete data (Whole numbers) and Continuous data (Values on a scale).</a:t>
            </a:r>
          </a:p>
          <a:p>
            <a:pPr fontAlgn="base"/>
            <a:r>
              <a:rPr lang="en-US" sz="2000" b="1" dirty="0" smtClean="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Age of people, number of customers visiting a store, temperature readings, sales revenue.</a:t>
            </a:r>
          </a:p>
          <a:p>
            <a:pPr marL="0" indent="0" fontAlgn="base">
              <a:buNone/>
            </a:pPr>
            <a:r>
              <a:rPr lang="en-US" sz="2000" b="1" dirty="0">
                <a:latin typeface="Times New Roman" panose="02020603050405020304" pitchFamily="18" charset="0"/>
                <a:cs typeface="Times New Roman" panose="02020603050405020304" pitchFamily="18" charset="0"/>
              </a:rPr>
              <a:t>2. Qualitative Data</a:t>
            </a:r>
          </a:p>
          <a:p>
            <a:pPr marL="0" indent="0" fontAlgn="base">
              <a:buNone/>
            </a:pPr>
            <a:r>
              <a:rPr lang="en-US" sz="2000" u="sng" dirty="0">
                <a:latin typeface="Times New Roman" panose="02020603050405020304" pitchFamily="18" charset="0"/>
                <a:cs typeface="Times New Roman" panose="02020603050405020304" pitchFamily="18" charset="0"/>
                <a:hlinkClick r:id="rId2"/>
              </a:rPr>
              <a:t>Qualitative data</a:t>
            </a:r>
            <a:r>
              <a:rPr lang="en-US" sz="2000" dirty="0">
                <a:latin typeface="Times New Roman" panose="02020603050405020304" pitchFamily="18" charset="0"/>
                <a:cs typeface="Times New Roman" panose="02020603050405020304" pitchFamily="18" charset="0"/>
              </a:rPr>
              <a:t> is descriptive, non-numeric information that explains qualities, characteristics or categories rather than quantities. It helps understand opinions, experiences and meanings behind behaviors.</a:t>
            </a:r>
          </a:p>
          <a:p>
            <a:pPr fontAlgn="base"/>
            <a:r>
              <a:rPr lang="en-US" sz="2000" dirty="0">
                <a:latin typeface="Times New Roman" panose="02020603050405020304" pitchFamily="18" charset="0"/>
                <a:cs typeface="Times New Roman" panose="02020603050405020304" pitchFamily="18" charset="0"/>
              </a:rPr>
              <a:t>Focuses on qualities, attributes and categories rather than numbers.</a:t>
            </a:r>
          </a:p>
          <a:p>
            <a:pPr fontAlgn="base"/>
            <a:r>
              <a:rPr lang="en-US" sz="2000" b="1" dirty="0" smtClean="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Customer feedback (“satisfied”, “unsatisfied”), product colors, interview transcripts, social media comments.</a:t>
            </a:r>
          </a:p>
          <a:p>
            <a:pPr marL="0" indent="0">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1231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5004" y="103031"/>
            <a:ext cx="9298546" cy="6754969"/>
          </a:xfrm>
        </p:spPr>
        <p:txBody>
          <a:bodyPr>
            <a:normAutofit/>
          </a:bodyPr>
          <a:lstStyle/>
          <a:p>
            <a:pPr marL="0" indent="0" fontAlgn="base">
              <a:lnSpc>
                <a:spcPct val="120000"/>
              </a:lnSpc>
              <a:buNone/>
            </a:pPr>
            <a:r>
              <a:rPr lang="en-US" b="1" dirty="0">
                <a:latin typeface="Times New Roman" panose="02020603050405020304" pitchFamily="18" charset="0"/>
                <a:cs typeface="Times New Roman" panose="02020603050405020304" pitchFamily="18" charset="0"/>
              </a:rPr>
              <a:t>3. Structured Data</a:t>
            </a:r>
          </a:p>
          <a:p>
            <a:pPr fontAlgn="base">
              <a:lnSpc>
                <a:spcPct val="120000"/>
              </a:lnSpc>
            </a:pPr>
            <a:r>
              <a:rPr lang="en-US" u="sng" dirty="0">
                <a:latin typeface="Times New Roman" panose="02020603050405020304" pitchFamily="18" charset="0"/>
                <a:cs typeface="Times New Roman" panose="02020603050405020304" pitchFamily="18" charset="0"/>
                <a:hlinkClick r:id="rId2"/>
              </a:rPr>
              <a:t>Structured data</a:t>
            </a:r>
            <a:r>
              <a:rPr lang="en-US" dirty="0">
                <a:latin typeface="Times New Roman" panose="02020603050405020304" pitchFamily="18" charset="0"/>
                <a:cs typeface="Times New Roman" panose="02020603050405020304" pitchFamily="18" charset="0"/>
              </a:rPr>
              <a:t> is information organized into a predefined format (rows and columns) that makes it easily searchable and manageable by traditional databases.</a:t>
            </a:r>
          </a:p>
          <a:p>
            <a:pPr fontAlgn="base">
              <a:lnSpc>
                <a:spcPct val="120000"/>
              </a:lnSpc>
            </a:pPr>
            <a:r>
              <a:rPr lang="en-US" dirty="0" smtClean="0">
                <a:latin typeface="Times New Roman" panose="02020603050405020304" pitchFamily="18" charset="0"/>
                <a:cs typeface="Times New Roman" panose="02020603050405020304" pitchFamily="18" charset="0"/>
              </a:rPr>
              <a:t>Best </a:t>
            </a:r>
            <a:r>
              <a:rPr lang="en-US" dirty="0">
                <a:latin typeface="Times New Roman" panose="02020603050405020304" pitchFamily="18" charset="0"/>
                <a:cs typeface="Times New Roman" panose="02020603050405020304" pitchFamily="18" charset="0"/>
              </a:rPr>
              <a:t>suited for tasks requiring accuracy and consistency.</a:t>
            </a:r>
          </a:p>
          <a:p>
            <a:pPr marL="0" indent="0" fontAlgn="base">
              <a:lnSpc>
                <a:spcPct val="120000"/>
              </a:lnSpc>
              <a:buNone/>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Bank transactions, employee records, product inventories.</a:t>
            </a:r>
          </a:p>
          <a:p>
            <a:pPr marL="0" indent="0" fontAlgn="base">
              <a:lnSpc>
                <a:spcPct val="120000"/>
              </a:lnSpc>
              <a:buNone/>
            </a:pPr>
            <a:r>
              <a:rPr lang="en-US" b="1" dirty="0">
                <a:latin typeface="Times New Roman" panose="02020603050405020304" pitchFamily="18" charset="0"/>
                <a:cs typeface="Times New Roman" panose="02020603050405020304" pitchFamily="18" charset="0"/>
              </a:rPr>
              <a:t>4. Unstructured Data</a:t>
            </a:r>
          </a:p>
          <a:p>
            <a:pPr fontAlgn="base">
              <a:lnSpc>
                <a:spcPct val="120000"/>
              </a:lnSpc>
            </a:pPr>
            <a:r>
              <a:rPr lang="en-US" u="sng" dirty="0">
                <a:latin typeface="Times New Roman" panose="02020603050405020304" pitchFamily="18" charset="0"/>
                <a:cs typeface="Times New Roman" panose="02020603050405020304" pitchFamily="18" charset="0"/>
                <a:hlinkClick r:id="rId3"/>
              </a:rPr>
              <a:t>Unstructured data</a:t>
            </a:r>
            <a:r>
              <a:rPr lang="en-US" dirty="0">
                <a:latin typeface="Times New Roman" panose="02020603050405020304" pitchFamily="18" charset="0"/>
                <a:cs typeface="Times New Roman" panose="02020603050405020304" pitchFamily="18" charset="0"/>
              </a:rPr>
              <a:t> is raw information that does not follow a predefined structure or format making it harder to organize and analyze with conventional tools.</a:t>
            </a:r>
          </a:p>
          <a:p>
            <a:pPr fontAlgn="base">
              <a:lnSpc>
                <a:spcPct val="120000"/>
              </a:lnSpc>
            </a:pPr>
            <a:r>
              <a:rPr lang="en-US" dirty="0">
                <a:latin typeface="Times New Roman" panose="02020603050405020304" pitchFamily="18" charset="0"/>
                <a:cs typeface="Times New Roman" panose="02020603050405020304" pitchFamily="18" charset="0"/>
              </a:rPr>
              <a:t>Accounts for over 80% of data generated globally.</a:t>
            </a:r>
          </a:p>
          <a:p>
            <a:pPr fontAlgn="base">
              <a:lnSpc>
                <a:spcPct val="120000"/>
              </a:lnSpc>
            </a:pPr>
            <a:r>
              <a:rPr lang="en-US" dirty="0" smtClean="0">
                <a:latin typeface="Times New Roman" panose="02020603050405020304" pitchFamily="18" charset="0"/>
                <a:cs typeface="Times New Roman" panose="02020603050405020304" pitchFamily="18" charset="0"/>
              </a:rPr>
              <a:t>Common </a:t>
            </a:r>
            <a:r>
              <a:rPr lang="en-US" dirty="0">
                <a:latin typeface="Times New Roman" panose="02020603050405020304" pitchFamily="18" charset="0"/>
                <a:cs typeface="Times New Roman" panose="02020603050405020304" pitchFamily="18" charset="0"/>
              </a:rPr>
              <a:t>in social media, multimedia and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applications.</a:t>
            </a:r>
          </a:p>
          <a:p>
            <a:pPr marL="0" indent="0" fontAlgn="base">
              <a:lnSpc>
                <a:spcPct val="120000"/>
              </a:lnSpc>
              <a:buNone/>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Emails, images, videos, voice recordings, PDF documents.</a:t>
            </a:r>
          </a:p>
          <a:p>
            <a:pPr marL="0" indent="0" fontAlgn="base">
              <a:lnSpc>
                <a:spcPct val="120000"/>
              </a:lnSpc>
              <a:buNone/>
            </a:pPr>
            <a:r>
              <a:rPr lang="en-US" b="1" dirty="0">
                <a:latin typeface="Times New Roman" panose="02020603050405020304" pitchFamily="18" charset="0"/>
                <a:cs typeface="Times New Roman" panose="02020603050405020304" pitchFamily="18" charset="0"/>
              </a:rPr>
              <a:t>5. Semi-Structured Data</a:t>
            </a:r>
          </a:p>
          <a:p>
            <a:pPr fontAlgn="base">
              <a:lnSpc>
                <a:spcPct val="120000"/>
              </a:lnSpc>
            </a:pPr>
            <a:r>
              <a:rPr lang="en-US" u="sng" dirty="0">
                <a:latin typeface="Times New Roman" panose="02020603050405020304" pitchFamily="18" charset="0"/>
                <a:cs typeface="Times New Roman" panose="02020603050405020304" pitchFamily="18" charset="0"/>
                <a:hlinkClick r:id="rId4"/>
              </a:rPr>
              <a:t>Semi-structured data</a:t>
            </a:r>
            <a:r>
              <a:rPr lang="en-US" dirty="0">
                <a:latin typeface="Times New Roman" panose="02020603050405020304" pitchFamily="18" charset="0"/>
                <a:cs typeface="Times New Roman" panose="02020603050405020304" pitchFamily="18" charset="0"/>
              </a:rPr>
              <a:t> combines aspects of structured and unstructured data. It does not reside in traditional tables but still contains tags or markers that provide a loose structure</a:t>
            </a:r>
            <a:r>
              <a:rPr lang="en-US" dirty="0" smtClean="0">
                <a:latin typeface="Times New Roman" panose="02020603050405020304" pitchFamily="18" charset="0"/>
                <a:cs typeface="Times New Roman" panose="02020603050405020304" pitchFamily="18" charset="0"/>
              </a:rPr>
              <a:t>.</a:t>
            </a:r>
          </a:p>
          <a:p>
            <a:pPr fontAlgn="base">
              <a:lnSpc>
                <a:spcPct val="120000"/>
              </a:lnSpc>
            </a:pPr>
            <a:r>
              <a:rPr lang="fr-FR" b="1" dirty="0" err="1">
                <a:latin typeface="Times New Roman" panose="02020603050405020304" pitchFamily="18" charset="0"/>
                <a:cs typeface="Times New Roman" panose="02020603050405020304" pitchFamily="18" charset="0"/>
              </a:rPr>
              <a:t>Example</a:t>
            </a:r>
            <a:r>
              <a:rPr lang="fr-FR" dirty="0">
                <a:latin typeface="Times New Roman" panose="02020603050405020304" pitchFamily="18" charset="0"/>
                <a:cs typeface="Times New Roman" panose="02020603050405020304" pitchFamily="18" charset="0"/>
              </a:rPr>
              <a:t>: JSON files, XML documents, </a:t>
            </a:r>
            <a:r>
              <a:rPr lang="fr-FR" dirty="0" err="1">
                <a:latin typeface="Times New Roman" panose="02020603050405020304" pitchFamily="18" charset="0"/>
                <a:cs typeface="Times New Roman" panose="02020603050405020304" pitchFamily="18" charset="0"/>
              </a:rPr>
              <a:t>NoSQL</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databases</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sensor</a:t>
            </a:r>
            <a:r>
              <a:rPr lang="fr-FR" dirty="0">
                <a:latin typeface="Times New Roman" panose="02020603050405020304" pitchFamily="18" charset="0"/>
                <a:cs typeface="Times New Roman" panose="02020603050405020304" pitchFamily="18" charset="0"/>
              </a:rPr>
              <a:t> logs.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1549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924" y="120428"/>
            <a:ext cx="10515600" cy="845488"/>
          </a:xfrm>
        </p:spPr>
        <p:txBody>
          <a:bodyPr>
            <a:normAutofit/>
          </a:bodyPr>
          <a:lstStyle/>
          <a:p>
            <a:pPr fontAlgn="base"/>
            <a:r>
              <a:rPr lang="en-US" sz="3600" b="1" dirty="0">
                <a:latin typeface="Times New Roman" panose="02020603050405020304" pitchFamily="18" charset="0"/>
                <a:cs typeface="Times New Roman" panose="02020603050405020304" pitchFamily="18" charset="0"/>
              </a:rPr>
              <a:t>Big Data</a:t>
            </a:r>
          </a:p>
        </p:txBody>
      </p:sp>
      <p:sp>
        <p:nvSpPr>
          <p:cNvPr id="3" name="Content Placeholder 2"/>
          <p:cNvSpPr>
            <a:spLocks noGrp="1"/>
          </p:cNvSpPr>
          <p:nvPr>
            <p:ph idx="1"/>
          </p:nvPr>
        </p:nvSpPr>
        <p:spPr>
          <a:xfrm>
            <a:off x="335924" y="1065772"/>
            <a:ext cx="10515600" cy="435133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When datasets grow in size, complexity and speed, traditional methods don’t suffice. </a:t>
            </a:r>
            <a:r>
              <a:rPr lang="en-US" sz="2400" u="sng" dirty="0">
                <a:latin typeface="Times New Roman" panose="02020603050405020304" pitchFamily="18" charset="0"/>
                <a:cs typeface="Times New Roman" panose="02020603050405020304" pitchFamily="18" charset="0"/>
                <a:hlinkClick r:id="rId2"/>
              </a:rPr>
              <a:t>Big Data</a:t>
            </a:r>
            <a:r>
              <a:rPr lang="en-US" sz="2400" dirty="0">
                <a:latin typeface="Times New Roman" panose="02020603050405020304" pitchFamily="18" charset="0"/>
                <a:cs typeface="Times New Roman" panose="02020603050405020304" pitchFamily="18" charset="0"/>
              </a:rPr>
              <a:t> refers to datasets that are too large, too varied or too fast to be handled by traditional data processing tools.</a:t>
            </a:r>
          </a:p>
        </p:txBody>
      </p:sp>
      <p:pic>
        <p:nvPicPr>
          <p:cNvPr id="4" name="Picture 3"/>
          <p:cNvPicPr>
            <a:picLocks noChangeAspect="1"/>
          </p:cNvPicPr>
          <p:nvPr/>
        </p:nvPicPr>
        <p:blipFill>
          <a:blip r:embed="rId3"/>
          <a:stretch>
            <a:fillRect/>
          </a:stretch>
        </p:blipFill>
        <p:spPr>
          <a:xfrm>
            <a:off x="1783724" y="2683098"/>
            <a:ext cx="7620000" cy="3810000"/>
          </a:xfrm>
          <a:prstGeom prst="rect">
            <a:avLst/>
          </a:prstGeom>
        </p:spPr>
      </p:pic>
    </p:spTree>
    <p:extLst>
      <p:ext uri="{BB962C8B-B14F-4D97-AF65-F5344CB8AC3E}">
        <p14:creationId xmlns:p14="http://schemas.microsoft.com/office/powerpoint/2010/main" val="2620696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9245" y="1081825"/>
            <a:ext cx="11372045" cy="5893628"/>
          </a:xfrm>
        </p:spPr>
        <p:txBody>
          <a:bodyPr>
            <a:normAutofit/>
          </a:bodyPr>
          <a:lstStyle/>
          <a:p>
            <a:pPr marL="0" indent="0" fontAlgn="base">
              <a:buNone/>
            </a:pPr>
            <a:r>
              <a:rPr lang="en-US" sz="2000" dirty="0">
                <a:latin typeface="Times New Roman" panose="02020603050405020304" pitchFamily="18" charset="0"/>
                <a:cs typeface="Times New Roman" panose="02020603050405020304" pitchFamily="18" charset="0"/>
              </a:rPr>
              <a:t>The defining characteristics often called the </a:t>
            </a:r>
            <a:r>
              <a:rPr lang="en-US" sz="2000" dirty="0" err="1">
                <a:latin typeface="Times New Roman" panose="02020603050405020304" pitchFamily="18" charset="0"/>
                <a:cs typeface="Times New Roman" panose="02020603050405020304" pitchFamily="18" charset="0"/>
              </a:rPr>
              <a:t>Vs</a:t>
            </a:r>
            <a:r>
              <a:rPr lang="en-US" sz="2000" dirty="0">
                <a:latin typeface="Times New Roman" panose="02020603050405020304" pitchFamily="18" charset="0"/>
                <a:cs typeface="Times New Roman" panose="02020603050405020304" pitchFamily="18" charset="0"/>
              </a:rPr>
              <a:t> of Big Data are:</a:t>
            </a:r>
          </a:p>
          <a:p>
            <a:pPr fontAlgn="base"/>
            <a:r>
              <a:rPr lang="en-US" sz="2000" b="1" dirty="0">
                <a:latin typeface="Times New Roman" panose="02020603050405020304" pitchFamily="18" charset="0"/>
                <a:cs typeface="Times New Roman" panose="02020603050405020304" pitchFamily="18" charset="0"/>
              </a:rPr>
              <a:t>Volume</a:t>
            </a:r>
            <a:r>
              <a:rPr lang="en-US" sz="2000" dirty="0">
                <a:latin typeface="Times New Roman" panose="02020603050405020304" pitchFamily="18" charset="0"/>
                <a:cs typeface="Times New Roman" panose="02020603050405020304" pitchFamily="18" charset="0"/>
              </a:rPr>
              <a:t>: Massive amounts of data.</a:t>
            </a:r>
          </a:p>
          <a:p>
            <a:pPr fontAlgn="base"/>
            <a:r>
              <a:rPr lang="en-US" sz="2000" b="1" dirty="0">
                <a:latin typeface="Times New Roman" panose="02020603050405020304" pitchFamily="18" charset="0"/>
                <a:cs typeface="Times New Roman" panose="02020603050405020304" pitchFamily="18" charset="0"/>
              </a:rPr>
              <a:t>Velocity</a:t>
            </a:r>
            <a:r>
              <a:rPr lang="en-US" sz="2000" dirty="0">
                <a:latin typeface="Times New Roman" panose="02020603050405020304" pitchFamily="18" charset="0"/>
                <a:cs typeface="Times New Roman" panose="02020603050405020304" pitchFamily="18" charset="0"/>
              </a:rPr>
              <a:t>: Speed of generation and processing.</a:t>
            </a:r>
          </a:p>
          <a:p>
            <a:pPr fontAlgn="base"/>
            <a:r>
              <a:rPr lang="en-US" sz="2000" b="1" dirty="0">
                <a:latin typeface="Times New Roman" panose="02020603050405020304" pitchFamily="18" charset="0"/>
                <a:cs typeface="Times New Roman" panose="02020603050405020304" pitchFamily="18" charset="0"/>
              </a:rPr>
              <a:t>Variety</a:t>
            </a:r>
            <a:r>
              <a:rPr lang="en-US" sz="2000" dirty="0">
                <a:latin typeface="Times New Roman" panose="02020603050405020304" pitchFamily="18" charset="0"/>
                <a:cs typeface="Times New Roman" panose="02020603050405020304" pitchFamily="18" charset="0"/>
              </a:rPr>
              <a:t>: Different formats: structured, unstructured, semi-structured.</a:t>
            </a:r>
          </a:p>
          <a:p>
            <a:pPr fontAlgn="base"/>
            <a:r>
              <a:rPr lang="en-US" sz="2000" b="1" dirty="0">
                <a:latin typeface="Times New Roman" panose="02020603050405020304" pitchFamily="18" charset="0"/>
                <a:cs typeface="Times New Roman" panose="02020603050405020304" pitchFamily="18" charset="0"/>
              </a:rPr>
              <a:t>Veracity</a:t>
            </a:r>
            <a:r>
              <a:rPr lang="en-US" sz="2000" dirty="0">
                <a:latin typeface="Times New Roman" panose="02020603050405020304" pitchFamily="18" charset="0"/>
                <a:cs typeface="Times New Roman" panose="02020603050405020304" pitchFamily="18" charset="0"/>
              </a:rPr>
              <a:t>: Accuracy, trustworthiness of data to deal with noise and errors.</a:t>
            </a:r>
          </a:p>
          <a:p>
            <a:pPr fontAlgn="base"/>
            <a:r>
              <a:rPr lang="en-US" sz="2000" b="1" dirty="0">
                <a:latin typeface="Times New Roman" panose="02020603050405020304" pitchFamily="18" charset="0"/>
                <a:cs typeface="Times New Roman" panose="02020603050405020304" pitchFamily="18" charset="0"/>
              </a:rPr>
              <a:t>Value</a:t>
            </a:r>
            <a:r>
              <a:rPr lang="en-US" sz="2000" dirty="0">
                <a:latin typeface="Times New Roman" panose="02020603050405020304" pitchFamily="18" charset="0"/>
                <a:cs typeface="Times New Roman" panose="02020603050405020304" pitchFamily="18" charset="0"/>
              </a:rPr>
              <a:t>: The usefulness of data </a:t>
            </a:r>
            <a:r>
              <a:rPr lang="en-US" sz="2000" dirty="0" err="1">
                <a:latin typeface="Times New Roman" panose="02020603050405020304" pitchFamily="18" charset="0"/>
                <a:cs typeface="Times New Roman" panose="02020603050405020304" pitchFamily="18" charset="0"/>
              </a:rPr>
              <a:t>i.e</a:t>
            </a:r>
            <a:r>
              <a:rPr lang="en-US" sz="2000" dirty="0">
                <a:latin typeface="Times New Roman" panose="02020603050405020304" pitchFamily="18" charset="0"/>
                <a:cs typeface="Times New Roman" panose="02020603050405020304" pitchFamily="18" charset="0"/>
              </a:rPr>
              <a:t> having data is not enough, we must extract value from data.</a:t>
            </a:r>
          </a:p>
        </p:txBody>
      </p:sp>
    </p:spTree>
    <p:extLst>
      <p:ext uri="{BB962C8B-B14F-4D97-AF65-F5344CB8AC3E}">
        <p14:creationId xmlns:p14="http://schemas.microsoft.com/office/powerpoint/2010/main" val="531056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Big Data Analytics</a:t>
            </a:r>
          </a:p>
        </p:txBody>
      </p:sp>
      <p:sp>
        <p:nvSpPr>
          <p:cNvPr id="3" name="Content Placeholder 2"/>
          <p:cNvSpPr>
            <a:spLocks noGrp="1"/>
          </p:cNvSpPr>
          <p:nvPr>
            <p:ph idx="1"/>
          </p:nvPr>
        </p:nvSpPr>
        <p:spPr>
          <a:xfrm>
            <a:off x="677334" y="1709829"/>
            <a:ext cx="8596668" cy="3880773"/>
          </a:xfrm>
        </p:spPr>
        <p:txBody>
          <a:bodyPr/>
          <a:lstStyle/>
          <a:p>
            <a:pPr marL="0" indent="0">
              <a:buNone/>
            </a:pPr>
            <a:r>
              <a:rPr lang="en-US" sz="2000" dirty="0">
                <a:latin typeface="Times New Roman" panose="02020603050405020304" pitchFamily="18" charset="0"/>
                <a:cs typeface="Times New Roman" panose="02020603050405020304" pitchFamily="18" charset="0"/>
              </a:rPr>
              <a:t>Big data analytics is the process of analyzing large and complex datasets to uncover meaningful patterns, trends and insights that support data driven decision making</a:t>
            </a:r>
            <a:r>
              <a:rPr lang="en-US" sz="2000" dirty="0" smtClean="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It analyzes massive volumes of</a:t>
            </a:r>
            <a:r>
              <a:rPr lang="en-US" sz="2000" u="sng" dirty="0">
                <a:solidFill>
                  <a:schemeClr val="tx1"/>
                </a:solidFill>
                <a:latin typeface="Times New Roman" panose="02020603050405020304" pitchFamily="18" charset="0"/>
                <a:cs typeface="Times New Roman" panose="02020603050405020304" pitchFamily="18" charset="0"/>
                <a:hlinkClick r:id="rId2"/>
              </a:rPr>
              <a:t> </a:t>
            </a:r>
            <a:r>
              <a:rPr lang="en-US" sz="2000" dirty="0">
                <a:solidFill>
                  <a:schemeClr val="tx1"/>
                </a:solidFill>
                <a:latin typeface="Times New Roman" panose="02020603050405020304" pitchFamily="18" charset="0"/>
                <a:cs typeface="Times New Roman" panose="02020603050405020304" pitchFamily="18" charset="0"/>
                <a:hlinkClick r:id="rId2"/>
              </a:rPr>
              <a:t>structured</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hlinkClick r:id="rId3"/>
              </a:rPr>
              <a:t>semi-structured</a:t>
            </a:r>
            <a:r>
              <a:rPr lang="en-US" sz="2000" dirty="0">
                <a:solidFill>
                  <a:schemeClr val="tx1"/>
                </a:solidFill>
                <a:latin typeface="Times New Roman" panose="02020603050405020304" pitchFamily="18" charset="0"/>
                <a:cs typeface="Times New Roman" panose="02020603050405020304" pitchFamily="18" charset="0"/>
              </a:rPr>
              <a:t> and </a:t>
            </a:r>
            <a:r>
              <a:rPr lang="en-US" sz="2000" dirty="0">
                <a:solidFill>
                  <a:schemeClr val="tx1"/>
                </a:solidFill>
                <a:latin typeface="Times New Roman" panose="02020603050405020304" pitchFamily="18" charset="0"/>
                <a:cs typeface="Times New Roman" panose="02020603050405020304" pitchFamily="18" charset="0"/>
                <a:hlinkClick r:id="rId4"/>
              </a:rPr>
              <a:t>unstructured</a:t>
            </a:r>
            <a:r>
              <a:rPr lang="en-US" sz="2000" dirty="0">
                <a:solidFill>
                  <a:schemeClr val="tx1"/>
                </a:solidFill>
                <a:latin typeface="Times New Roman" panose="02020603050405020304" pitchFamily="18" charset="0"/>
                <a:cs typeface="Times New Roman" panose="02020603050405020304" pitchFamily="18" charset="0"/>
              </a:rPr>
              <a:t> data </a:t>
            </a:r>
            <a:r>
              <a:rPr lang="en-US" sz="2000" dirty="0">
                <a:latin typeface="Times New Roman" panose="02020603050405020304" pitchFamily="18" charset="0"/>
                <a:cs typeface="Times New Roman" panose="02020603050405020304" pitchFamily="18" charset="0"/>
              </a:rPr>
              <a:t>generated from data sources.</a:t>
            </a:r>
          </a:p>
          <a:p>
            <a:pPr fontAlgn="base"/>
            <a:r>
              <a:rPr lang="en-US" sz="2000" dirty="0">
                <a:latin typeface="Times New Roman" panose="02020603050405020304" pitchFamily="18" charset="0"/>
                <a:cs typeface="Times New Roman" panose="02020603050405020304" pitchFamily="18" charset="0"/>
              </a:rPr>
              <a:t>Advanced tools and frameworks like </a:t>
            </a:r>
            <a:r>
              <a:rPr lang="en-US" sz="2000" dirty="0" err="1">
                <a:latin typeface="Times New Roman" panose="02020603050405020304" pitchFamily="18" charset="0"/>
                <a:cs typeface="Times New Roman" panose="02020603050405020304" pitchFamily="18" charset="0"/>
              </a:rPr>
              <a:t>Hadoop</a:t>
            </a:r>
            <a:r>
              <a:rPr lang="en-US" sz="2000" dirty="0">
                <a:latin typeface="Times New Roman" panose="02020603050405020304" pitchFamily="18" charset="0"/>
                <a:cs typeface="Times New Roman" panose="02020603050405020304" pitchFamily="18" charset="0"/>
              </a:rPr>
              <a:t>, Spark and </a:t>
            </a:r>
            <a:r>
              <a:rPr lang="en-US" sz="2000" dirty="0" err="1">
                <a:latin typeface="Times New Roman" panose="02020603050405020304" pitchFamily="18" charset="0"/>
                <a:cs typeface="Times New Roman" panose="02020603050405020304" pitchFamily="18" charset="0"/>
              </a:rPr>
              <a:t>NoSQL</a:t>
            </a:r>
            <a:r>
              <a:rPr lang="en-US" sz="2000" dirty="0">
                <a:latin typeface="Times New Roman" panose="02020603050405020304" pitchFamily="18" charset="0"/>
                <a:cs typeface="Times New Roman" panose="02020603050405020304" pitchFamily="18" charset="0"/>
              </a:rPr>
              <a:t> databases support distributed storage and large scale data processing.</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832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17" y="159063"/>
            <a:ext cx="10515600" cy="1325563"/>
          </a:xfrm>
        </p:spPr>
        <p:txBody>
          <a:bodyPr/>
          <a:lstStyle/>
          <a:p>
            <a:pPr fontAlgn="base"/>
            <a:r>
              <a:rPr lang="en-US" b="1" dirty="0">
                <a:latin typeface="Times New Roman" panose="02020603050405020304" pitchFamily="18" charset="0"/>
                <a:cs typeface="Times New Roman" panose="02020603050405020304" pitchFamily="18" charset="0"/>
              </a:rPr>
              <a:t>Types of Big Data Analytics</a:t>
            </a:r>
          </a:p>
        </p:txBody>
      </p:sp>
      <p:sp>
        <p:nvSpPr>
          <p:cNvPr id="3" name="Content Placeholder 2"/>
          <p:cNvSpPr>
            <a:spLocks noGrp="1"/>
          </p:cNvSpPr>
          <p:nvPr>
            <p:ph idx="1"/>
          </p:nvPr>
        </p:nvSpPr>
        <p:spPr>
          <a:xfrm>
            <a:off x="645017" y="1130166"/>
            <a:ext cx="9181563" cy="4819874"/>
          </a:xfrm>
        </p:spPr>
        <p:txBody>
          <a:bodyPr>
            <a:noAutofit/>
          </a:bodyPr>
          <a:lstStyle/>
          <a:p>
            <a:pPr marL="0" indent="0" fontAlgn="base">
              <a:lnSpc>
                <a:spcPct val="120000"/>
              </a:lnSpc>
              <a:buNone/>
            </a:pPr>
            <a:r>
              <a:rPr lang="en-US" sz="1900" b="1" dirty="0">
                <a:latin typeface="Times New Roman" panose="02020603050405020304" pitchFamily="18" charset="0"/>
                <a:cs typeface="Times New Roman" panose="02020603050405020304" pitchFamily="18" charset="0"/>
              </a:rPr>
              <a:t>1. Descriptive Analytics</a:t>
            </a:r>
          </a:p>
          <a:p>
            <a:pPr fontAlgn="base">
              <a:lnSpc>
                <a:spcPct val="120000"/>
              </a:lnSpc>
            </a:pPr>
            <a:r>
              <a:rPr lang="en-US" sz="1900" dirty="0">
                <a:latin typeface="Times New Roman" panose="02020603050405020304" pitchFamily="18" charset="0"/>
                <a:cs typeface="Times New Roman" panose="02020603050405020304" pitchFamily="18" charset="0"/>
              </a:rPr>
              <a:t>Summarizes historical data to understand what happened using metrics, dashboards and reports.</a:t>
            </a:r>
          </a:p>
          <a:p>
            <a:pPr fontAlgn="base">
              <a:lnSpc>
                <a:spcPct val="120000"/>
              </a:lnSpc>
            </a:pPr>
            <a:r>
              <a:rPr lang="en-US" sz="1900" dirty="0">
                <a:latin typeface="Times New Roman" panose="02020603050405020304" pitchFamily="18" charset="0"/>
                <a:cs typeface="Times New Roman" panose="02020603050405020304" pitchFamily="18" charset="0"/>
              </a:rPr>
              <a:t>Helps identify trends, patterns and performance in past events such as sales or website traffic.</a:t>
            </a:r>
          </a:p>
          <a:p>
            <a:pPr marL="0" indent="0" fontAlgn="base">
              <a:lnSpc>
                <a:spcPct val="120000"/>
              </a:lnSpc>
              <a:buNone/>
            </a:pPr>
            <a:r>
              <a:rPr lang="en-US" sz="1900" b="1" dirty="0">
                <a:latin typeface="Times New Roman" panose="02020603050405020304" pitchFamily="18" charset="0"/>
                <a:cs typeface="Times New Roman" panose="02020603050405020304" pitchFamily="18" charset="0"/>
              </a:rPr>
              <a:t>2. Diagnostic Analytics</a:t>
            </a:r>
          </a:p>
          <a:p>
            <a:pPr fontAlgn="base">
              <a:lnSpc>
                <a:spcPct val="120000"/>
              </a:lnSpc>
            </a:pPr>
            <a:r>
              <a:rPr lang="en-US" sz="1900" dirty="0">
                <a:latin typeface="Times New Roman" panose="02020603050405020304" pitchFamily="18" charset="0"/>
                <a:cs typeface="Times New Roman" panose="02020603050405020304" pitchFamily="18" charset="0"/>
              </a:rPr>
              <a:t>Analyzes data to uncover reasons behind past outcomes and events.</a:t>
            </a:r>
          </a:p>
          <a:p>
            <a:pPr fontAlgn="base">
              <a:lnSpc>
                <a:spcPct val="120000"/>
              </a:lnSpc>
            </a:pPr>
            <a:r>
              <a:rPr lang="en-US" sz="1900" dirty="0">
                <a:latin typeface="Times New Roman" panose="02020603050405020304" pitchFamily="18" charset="0"/>
                <a:cs typeface="Times New Roman" panose="02020603050405020304" pitchFamily="18" charset="0"/>
              </a:rPr>
              <a:t>Useful for identifying root causes, like reasons for customer churn or high patient readmissions.</a:t>
            </a:r>
          </a:p>
          <a:p>
            <a:pPr marL="0" indent="0" fontAlgn="base">
              <a:lnSpc>
                <a:spcPct val="120000"/>
              </a:lnSpc>
              <a:buNone/>
            </a:pPr>
            <a:r>
              <a:rPr lang="en-US" sz="1900" b="1" dirty="0">
                <a:latin typeface="Times New Roman" panose="02020603050405020304" pitchFamily="18" charset="0"/>
                <a:cs typeface="Times New Roman" panose="02020603050405020304" pitchFamily="18" charset="0"/>
              </a:rPr>
              <a:t>3. Predictive Analytics</a:t>
            </a:r>
          </a:p>
          <a:p>
            <a:pPr fontAlgn="base">
              <a:lnSpc>
                <a:spcPct val="120000"/>
              </a:lnSpc>
            </a:pPr>
            <a:r>
              <a:rPr lang="en-US" sz="1900" dirty="0">
                <a:latin typeface="Times New Roman" panose="02020603050405020304" pitchFamily="18" charset="0"/>
                <a:cs typeface="Times New Roman" panose="02020603050405020304" pitchFamily="18" charset="0"/>
              </a:rPr>
              <a:t>Uses historical data and statistical/machine learning models to forecast future events.</a:t>
            </a:r>
          </a:p>
          <a:p>
            <a:pPr fontAlgn="base">
              <a:lnSpc>
                <a:spcPct val="120000"/>
              </a:lnSpc>
            </a:pPr>
            <a:r>
              <a:rPr lang="en-US" sz="1900" dirty="0">
                <a:latin typeface="Times New Roman" panose="02020603050405020304" pitchFamily="18" charset="0"/>
                <a:cs typeface="Times New Roman" panose="02020603050405020304" pitchFamily="18" charset="0"/>
              </a:rPr>
              <a:t>Applied in scenarios like predicting customer behavior, stock prices or weather trends</a:t>
            </a:r>
          </a:p>
        </p:txBody>
      </p:sp>
    </p:spTree>
    <p:extLst>
      <p:ext uri="{BB962C8B-B14F-4D97-AF65-F5344CB8AC3E}">
        <p14:creationId xmlns:p14="http://schemas.microsoft.com/office/powerpoint/2010/main" val="2022200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3335" y="476518"/>
            <a:ext cx="11539471" cy="6078828"/>
          </a:xfrm>
        </p:spPr>
        <p:txBody>
          <a:bodyPr>
            <a:normAutofit/>
          </a:bodyPr>
          <a:lstStyle/>
          <a:p>
            <a:pPr marL="0" indent="0" fontAlgn="base">
              <a:buNone/>
            </a:pPr>
            <a:r>
              <a:rPr lang="en-US" sz="1900" b="1" dirty="0" smtClean="0">
                <a:latin typeface="Times New Roman" panose="02020603050405020304" pitchFamily="18" charset="0"/>
                <a:cs typeface="Times New Roman" panose="02020603050405020304" pitchFamily="18" charset="0"/>
              </a:rPr>
              <a:t>4. Prescriptive </a:t>
            </a:r>
            <a:r>
              <a:rPr lang="en-US" sz="1900" b="1" dirty="0">
                <a:latin typeface="Times New Roman" panose="02020603050405020304" pitchFamily="18" charset="0"/>
                <a:cs typeface="Times New Roman" panose="02020603050405020304" pitchFamily="18" charset="0"/>
              </a:rPr>
              <a:t>Analytics</a:t>
            </a:r>
          </a:p>
          <a:p>
            <a:pPr fontAlgn="base"/>
            <a:r>
              <a:rPr lang="en-US" sz="1900" dirty="0">
                <a:latin typeface="Times New Roman" panose="02020603050405020304" pitchFamily="18" charset="0"/>
                <a:cs typeface="Times New Roman" panose="02020603050405020304" pitchFamily="18" charset="0"/>
              </a:rPr>
              <a:t>Provides actionable recommendations to optimize future outcomes based on insights.</a:t>
            </a:r>
          </a:p>
          <a:p>
            <a:pPr fontAlgn="base"/>
            <a:r>
              <a:rPr lang="en-US" sz="1900" dirty="0">
                <a:latin typeface="Times New Roman" panose="02020603050405020304" pitchFamily="18" charset="0"/>
                <a:cs typeface="Times New Roman" panose="02020603050405020304" pitchFamily="18" charset="0"/>
              </a:rPr>
              <a:t>Used in pricing strategies, marketing campaigns and resource allocation decisions.</a:t>
            </a:r>
          </a:p>
          <a:p>
            <a:pPr marL="0" indent="0" fontAlgn="base">
              <a:buNone/>
            </a:pPr>
            <a:r>
              <a:rPr lang="en-US" sz="1900" b="1" dirty="0">
                <a:latin typeface="Times New Roman" panose="02020603050405020304" pitchFamily="18" charset="0"/>
                <a:cs typeface="Times New Roman" panose="02020603050405020304" pitchFamily="18" charset="0"/>
              </a:rPr>
              <a:t>5. Real-time Analytics</a:t>
            </a:r>
          </a:p>
          <a:p>
            <a:pPr fontAlgn="base"/>
            <a:r>
              <a:rPr lang="en-US" sz="1900" dirty="0">
                <a:latin typeface="Times New Roman" panose="02020603050405020304" pitchFamily="18" charset="0"/>
                <a:cs typeface="Times New Roman" panose="02020603050405020304" pitchFamily="18" charset="0"/>
              </a:rPr>
              <a:t>Processes and analyzes data instantly as it is generated for immediate insights.</a:t>
            </a:r>
          </a:p>
          <a:p>
            <a:pPr fontAlgn="base"/>
            <a:r>
              <a:rPr lang="en-US" sz="1900" dirty="0">
                <a:latin typeface="Times New Roman" panose="02020603050405020304" pitchFamily="18" charset="0"/>
                <a:cs typeface="Times New Roman" panose="02020603050405020304" pitchFamily="18" charset="0"/>
              </a:rPr>
              <a:t>Enables quick decision-making in areas like fraud detection, stock trading and live traffic management.</a:t>
            </a:r>
          </a:p>
          <a:p>
            <a:pPr marL="0" indent="0" fontAlgn="base">
              <a:buNone/>
            </a:pPr>
            <a:r>
              <a:rPr lang="en-US" sz="1900" b="1" dirty="0">
                <a:latin typeface="Times New Roman" panose="02020603050405020304" pitchFamily="18" charset="0"/>
                <a:cs typeface="Times New Roman" panose="02020603050405020304" pitchFamily="18" charset="0"/>
              </a:rPr>
              <a:t>6. Spatial Analytics</a:t>
            </a:r>
          </a:p>
          <a:p>
            <a:pPr fontAlgn="base"/>
            <a:r>
              <a:rPr lang="en-US" sz="1900" dirty="0">
                <a:latin typeface="Times New Roman" panose="02020603050405020304" pitchFamily="18" charset="0"/>
                <a:cs typeface="Times New Roman" panose="02020603050405020304" pitchFamily="18" charset="0"/>
              </a:rPr>
              <a:t>Examines location-based data to optimize operations and logistics.</a:t>
            </a:r>
          </a:p>
          <a:p>
            <a:pPr fontAlgn="base"/>
            <a:r>
              <a:rPr lang="en-US" sz="1900" dirty="0">
                <a:latin typeface="Times New Roman" panose="02020603050405020304" pitchFamily="18" charset="0"/>
                <a:cs typeface="Times New Roman" panose="02020603050405020304" pitchFamily="18" charset="0"/>
              </a:rPr>
              <a:t>Applied in urban planning, route optimization and analyzing customer movement patterns.</a:t>
            </a:r>
          </a:p>
          <a:p>
            <a:pPr marL="0" indent="0" fontAlgn="base">
              <a:buNone/>
            </a:pPr>
            <a:r>
              <a:rPr lang="en-US" sz="1900" b="1" dirty="0">
                <a:latin typeface="Times New Roman" panose="02020603050405020304" pitchFamily="18" charset="0"/>
                <a:cs typeface="Times New Roman" panose="02020603050405020304" pitchFamily="18" charset="0"/>
              </a:rPr>
              <a:t>7. Text Analytics</a:t>
            </a:r>
          </a:p>
          <a:p>
            <a:pPr fontAlgn="base"/>
            <a:r>
              <a:rPr lang="en-US" sz="1900" dirty="0">
                <a:latin typeface="Times New Roman" panose="02020603050405020304" pitchFamily="18" charset="0"/>
                <a:cs typeface="Times New Roman" panose="02020603050405020304" pitchFamily="18" charset="0"/>
              </a:rPr>
              <a:t>Extracts insights from unstructured text data using natural language processing (NLP).</a:t>
            </a:r>
          </a:p>
          <a:p>
            <a:pPr fontAlgn="base"/>
            <a:r>
              <a:rPr lang="en-US" sz="1900" dirty="0">
                <a:latin typeface="Times New Roman" panose="02020603050405020304" pitchFamily="18" charset="0"/>
                <a:cs typeface="Times New Roman" panose="02020603050405020304" pitchFamily="18" charset="0"/>
              </a:rPr>
              <a:t>Used for sentiment analysis, trend detection and improving customer experience from reviews or social media.</a:t>
            </a:r>
          </a:p>
        </p:txBody>
      </p:sp>
    </p:spTree>
    <p:extLst>
      <p:ext uri="{BB962C8B-B14F-4D97-AF65-F5344CB8AC3E}">
        <p14:creationId xmlns:p14="http://schemas.microsoft.com/office/powerpoint/2010/main" val="247647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9908" y="171718"/>
            <a:ext cx="8596668" cy="1320800"/>
          </a:xfrm>
        </p:spPr>
        <p:txBody>
          <a:bodyPr/>
          <a:lstStyle/>
          <a:p>
            <a:r>
              <a:rPr lang="en-US" b="1" dirty="0">
                <a:latin typeface="Times New Roman" panose="02020603050405020304" pitchFamily="18" charset="0"/>
                <a:cs typeface="Times New Roman" panose="02020603050405020304" pitchFamily="18" charset="0"/>
              </a:rPr>
              <a:t>Data Analytics Framework</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3" y="1081825"/>
            <a:ext cx="8801517" cy="5409127"/>
          </a:xfrm>
        </p:spPr>
        <p:txBody>
          <a:bodyPr>
            <a:noAutofit/>
          </a:bodyPr>
          <a:lstStyle/>
          <a:p>
            <a:pPr fontAlgn="base"/>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Gather data from sources such as cloud platforms,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devices, social media, mobile apps and transactional systems. Data is stored in data lakes or warehouses.</a:t>
            </a:r>
          </a:p>
          <a:p>
            <a:pPr fontAlgn="base"/>
            <a:r>
              <a:rPr lang="en-US" b="1" dirty="0">
                <a:latin typeface="Times New Roman" panose="02020603050405020304" pitchFamily="18" charset="0"/>
                <a:cs typeface="Times New Roman" panose="02020603050405020304" pitchFamily="18" charset="0"/>
              </a:rPr>
              <a:t>Data Storage and Management:</a:t>
            </a:r>
            <a:r>
              <a:rPr lang="en-US" dirty="0">
                <a:latin typeface="Times New Roman" panose="02020603050405020304" pitchFamily="18" charset="0"/>
                <a:cs typeface="Times New Roman" panose="02020603050405020304" pitchFamily="18" charset="0"/>
              </a:rPr>
              <a:t> Organize, index and manage large datasets to ensure easy accessibility and efficient querying.</a:t>
            </a:r>
          </a:p>
          <a:p>
            <a:pPr fontAlgn="base"/>
            <a:r>
              <a:rPr lang="en-US" b="1" dirty="0">
                <a:latin typeface="Times New Roman" panose="02020603050405020304" pitchFamily="18" charset="0"/>
                <a:cs typeface="Times New Roman" panose="02020603050405020304" pitchFamily="18" charset="0"/>
              </a:rPr>
              <a:t>Data Processing: </a:t>
            </a:r>
            <a:r>
              <a:rPr lang="en-US" dirty="0">
                <a:latin typeface="Times New Roman" panose="02020603050405020304" pitchFamily="18" charset="0"/>
                <a:cs typeface="Times New Roman" panose="02020603050405020304" pitchFamily="18" charset="0"/>
              </a:rPr>
              <a:t>Transform and structure data using batch or stream processing techniques (e.g., </a:t>
            </a:r>
            <a:r>
              <a:rPr lang="en-US" dirty="0" err="1">
                <a:latin typeface="Times New Roman" panose="02020603050405020304" pitchFamily="18" charset="0"/>
                <a:cs typeface="Times New Roman" panose="02020603050405020304" pitchFamily="18" charset="0"/>
              </a:rPr>
              <a:t>Hadoop</a:t>
            </a:r>
            <a:r>
              <a:rPr lang="en-US" dirty="0">
                <a:latin typeface="Times New Roman" panose="02020603050405020304" pitchFamily="18" charset="0"/>
                <a:cs typeface="Times New Roman" panose="02020603050405020304" pitchFamily="18" charset="0"/>
              </a:rPr>
              <a:t>, Spark, </a:t>
            </a:r>
            <a:r>
              <a:rPr lang="en-US" dirty="0" err="1">
                <a:latin typeface="Times New Roman" panose="02020603050405020304" pitchFamily="18" charset="0"/>
                <a:cs typeface="Times New Roman" panose="02020603050405020304" pitchFamily="18" charset="0"/>
              </a:rPr>
              <a:t>Flink</a:t>
            </a:r>
            <a:r>
              <a:rPr lang="en-US" dirty="0">
                <a:latin typeface="Times New Roman" panose="02020603050405020304" pitchFamily="18" charset="0"/>
                <a:cs typeface="Times New Roman" panose="02020603050405020304" pitchFamily="18" charset="0"/>
              </a:rPr>
              <a:t>) to prepare it for analysis.</a:t>
            </a:r>
          </a:p>
          <a:p>
            <a:pPr fontAlgn="base"/>
            <a:r>
              <a:rPr lang="en-US" b="1" dirty="0">
                <a:latin typeface="Times New Roman" panose="02020603050405020304" pitchFamily="18" charset="0"/>
                <a:cs typeface="Times New Roman" panose="02020603050405020304" pitchFamily="18" charset="0"/>
              </a:rPr>
              <a:t>Data Cleaning: </a:t>
            </a:r>
            <a:r>
              <a:rPr lang="en-US" dirty="0">
                <a:latin typeface="Times New Roman" panose="02020603050405020304" pitchFamily="18" charset="0"/>
                <a:cs typeface="Times New Roman" panose="02020603050405020304" pitchFamily="18" charset="0"/>
              </a:rPr>
              <a:t>Refine data by removing duplicates, handling missing or inconsistent values and ensuring overall quality and reliability.</a:t>
            </a:r>
          </a:p>
          <a:p>
            <a:pPr fontAlgn="base"/>
            <a:r>
              <a:rPr lang="en-US" b="1" dirty="0">
                <a:latin typeface="Times New Roman" panose="02020603050405020304" pitchFamily="18" charset="0"/>
                <a:cs typeface="Times New Roman" panose="02020603050405020304" pitchFamily="18" charset="0"/>
              </a:rPr>
              <a:t>Data Analysis:</a:t>
            </a:r>
            <a:r>
              <a:rPr lang="en-US" dirty="0">
                <a:latin typeface="Times New Roman" panose="02020603050405020304" pitchFamily="18" charset="0"/>
                <a:cs typeface="Times New Roman" panose="02020603050405020304" pitchFamily="18" charset="0"/>
              </a:rPr>
              <a:t> Apply techniques like data mining, predictive analytics, machine learning, deep learning and NLP to identify patterns, trends and relationships.</a:t>
            </a:r>
          </a:p>
          <a:p>
            <a:pPr fontAlgn="base"/>
            <a:r>
              <a:rPr lang="en-US" b="1" dirty="0">
                <a:latin typeface="Times New Roman" panose="02020603050405020304" pitchFamily="18" charset="0"/>
                <a:cs typeface="Times New Roman" panose="02020603050405020304" pitchFamily="18" charset="0"/>
              </a:rPr>
              <a:t>Visualization and Insights:</a:t>
            </a:r>
            <a:r>
              <a:rPr lang="en-US" dirty="0">
                <a:latin typeface="Times New Roman" panose="02020603050405020304" pitchFamily="18" charset="0"/>
                <a:cs typeface="Times New Roman" panose="02020603050405020304" pitchFamily="18" charset="0"/>
              </a:rPr>
              <a:t> Present results through interactive dashboards, charts and reports to support informed, data-driven decision-making.</a:t>
            </a:r>
          </a:p>
          <a:p>
            <a:pPr fontAlgn="base"/>
            <a:r>
              <a:rPr lang="en-US" b="1" dirty="0">
                <a:latin typeface="Times New Roman" panose="02020603050405020304" pitchFamily="18" charset="0"/>
                <a:cs typeface="Times New Roman" panose="02020603050405020304" pitchFamily="18" charset="0"/>
              </a:rPr>
              <a:t>Decision and Action:</a:t>
            </a:r>
            <a:r>
              <a:rPr lang="en-US" dirty="0">
                <a:latin typeface="Times New Roman" panose="02020603050405020304" pitchFamily="18" charset="0"/>
                <a:cs typeface="Times New Roman" panose="02020603050405020304" pitchFamily="18" charset="0"/>
              </a:rPr>
              <a:t> Implement insights in business processes, generating new data and completing the analytics feedback loop.</a:t>
            </a:r>
          </a:p>
          <a:p>
            <a:pPr fontAlgn="base"/>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667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err="1">
                <a:latin typeface="Times New Roman" panose="02020603050405020304" pitchFamily="18" charset="0"/>
                <a:cs typeface="Times New Roman" panose="02020603050405020304" pitchFamily="18" charset="0"/>
              </a:rPr>
              <a:t>Univariate</a:t>
            </a:r>
            <a:r>
              <a:rPr lang="en-US" b="1" dirty="0">
                <a:latin typeface="Times New Roman" panose="02020603050405020304" pitchFamily="18" charset="0"/>
                <a:cs typeface="Times New Roman" panose="02020603050405020304" pitchFamily="18" charset="0"/>
              </a:rPr>
              <a:t> Analysis</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930400"/>
            <a:ext cx="8596668" cy="3880773"/>
          </a:xfrm>
        </p:spPr>
        <p:txBody>
          <a:bodyPr/>
          <a:lstStyle/>
          <a:p>
            <a:pPr marL="0" indent="0">
              <a:buNone/>
            </a:pPr>
            <a:r>
              <a:rPr lang="en-US" dirty="0" err="1" smtClean="0"/>
              <a:t>Univariate</a:t>
            </a:r>
            <a:r>
              <a:rPr lang="en-US" dirty="0" smtClean="0"/>
              <a:t> </a:t>
            </a:r>
            <a:r>
              <a:rPr lang="en-US" dirty="0"/>
              <a:t>Analysis is a type of data visualization where we visualize only a single variable at a time. </a:t>
            </a:r>
            <a:r>
              <a:rPr lang="en-US" dirty="0" err="1"/>
              <a:t>Univariate</a:t>
            </a:r>
            <a:r>
              <a:rPr lang="en-US" dirty="0"/>
              <a:t> Analysis helps us to analyze the distribution of the variable present in the data so that we can perform further analysis.</a:t>
            </a:r>
            <a:br>
              <a:rPr lang="en-US" dirty="0"/>
            </a:br>
            <a:endParaRPr lang="en-US" dirty="0"/>
          </a:p>
        </p:txBody>
      </p:sp>
    </p:spTree>
    <p:extLst>
      <p:ext uri="{BB962C8B-B14F-4D97-AF65-F5344CB8AC3E}">
        <p14:creationId xmlns:p14="http://schemas.microsoft.com/office/powerpoint/2010/main" val="1578618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941" y="321972"/>
            <a:ext cx="9569003" cy="6233373"/>
          </a:xfrm>
        </p:spPr>
        <p:txBody>
          <a:bodyPr/>
          <a:lstStyle/>
          <a:p>
            <a:pPr marL="0" indent="0" fontAlgn="base">
              <a:buNone/>
            </a:pPr>
            <a:r>
              <a:rPr lang="en-US" b="1" dirty="0"/>
              <a:t>Histogram</a:t>
            </a:r>
          </a:p>
          <a:p>
            <a:pPr fontAlgn="base"/>
            <a:r>
              <a:rPr lang="en-US" dirty="0"/>
              <a:t>Here we’ll be performing </a:t>
            </a:r>
            <a:r>
              <a:rPr lang="en-US" dirty="0" err="1"/>
              <a:t>univariate</a:t>
            </a:r>
            <a:r>
              <a:rPr lang="en-US" dirty="0"/>
              <a:t> analysis on Numerical variables using the </a:t>
            </a:r>
            <a:r>
              <a:rPr lang="en-US" u="sng" dirty="0">
                <a:hlinkClick r:id="rId2"/>
              </a:rPr>
              <a:t>histogram</a:t>
            </a:r>
            <a:r>
              <a:rPr lang="en-US" dirty="0"/>
              <a:t> function</a:t>
            </a:r>
            <a:r>
              <a:rPr lang="en-US" dirty="0" smtClean="0"/>
              <a:t>.</a:t>
            </a:r>
          </a:p>
        </p:txBody>
      </p:sp>
      <p:pic>
        <p:nvPicPr>
          <p:cNvPr id="4" name="Picture 3"/>
          <p:cNvPicPr>
            <a:picLocks noChangeAspect="1"/>
          </p:cNvPicPr>
          <p:nvPr/>
        </p:nvPicPr>
        <p:blipFill>
          <a:blip r:embed="rId3"/>
          <a:stretch>
            <a:fillRect/>
          </a:stretch>
        </p:blipFill>
        <p:spPr>
          <a:xfrm>
            <a:off x="1474027" y="1846394"/>
            <a:ext cx="6691178" cy="4708951"/>
          </a:xfrm>
          <a:prstGeom prst="rect">
            <a:avLst/>
          </a:prstGeom>
        </p:spPr>
      </p:pic>
    </p:spTree>
    <p:extLst>
      <p:ext uri="{BB962C8B-B14F-4D97-AF65-F5344CB8AC3E}">
        <p14:creationId xmlns:p14="http://schemas.microsoft.com/office/powerpoint/2010/main" val="4216670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062" y="334851"/>
            <a:ext cx="10212946" cy="6259132"/>
          </a:xfrm>
        </p:spPr>
        <p:txBody>
          <a:bodyPr/>
          <a:lstStyle/>
          <a:p>
            <a:pPr marL="0" indent="0" fontAlgn="base">
              <a:buNone/>
            </a:pPr>
            <a:r>
              <a:rPr lang="en-US" b="1" dirty="0"/>
              <a:t>Bar Chart</a:t>
            </a:r>
          </a:p>
          <a:p>
            <a:pPr fontAlgn="base"/>
            <a:r>
              <a:rPr lang="en-US" dirty="0" err="1"/>
              <a:t>Univariate</a:t>
            </a:r>
            <a:r>
              <a:rPr lang="en-US" dirty="0"/>
              <a:t> analysis of categorical data. We’ll be using the </a:t>
            </a:r>
            <a:r>
              <a:rPr lang="en-US" i="1" u="sng" dirty="0">
                <a:hlinkClick r:id="rId2"/>
              </a:rPr>
              <a:t>count plot</a:t>
            </a:r>
            <a:r>
              <a:rPr lang="en-US" u="sng" dirty="0">
                <a:hlinkClick r:id="rId2"/>
              </a:rPr>
              <a:t> </a:t>
            </a:r>
            <a:r>
              <a:rPr lang="en-US" dirty="0"/>
              <a:t>function from the </a:t>
            </a:r>
            <a:r>
              <a:rPr lang="en-US" i="1" dirty="0" err="1"/>
              <a:t>seaborn</a:t>
            </a:r>
            <a:r>
              <a:rPr lang="en-US" dirty="0"/>
              <a:t> library</a:t>
            </a:r>
          </a:p>
        </p:txBody>
      </p:sp>
      <p:pic>
        <p:nvPicPr>
          <p:cNvPr id="4" name="Picture 3"/>
          <p:cNvPicPr>
            <a:picLocks noChangeAspect="1"/>
          </p:cNvPicPr>
          <p:nvPr/>
        </p:nvPicPr>
        <p:blipFill>
          <a:blip r:embed="rId3"/>
          <a:stretch>
            <a:fillRect/>
          </a:stretch>
        </p:blipFill>
        <p:spPr>
          <a:xfrm>
            <a:off x="1591212" y="1841008"/>
            <a:ext cx="7258050" cy="4752975"/>
          </a:xfrm>
          <a:prstGeom prst="rect">
            <a:avLst/>
          </a:prstGeom>
        </p:spPr>
      </p:pic>
    </p:spTree>
    <p:extLst>
      <p:ext uri="{BB962C8B-B14F-4D97-AF65-F5344CB8AC3E}">
        <p14:creationId xmlns:p14="http://schemas.microsoft.com/office/powerpoint/2010/main" val="3290869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062" y="334851"/>
            <a:ext cx="10212946" cy="6259132"/>
          </a:xfrm>
        </p:spPr>
        <p:txBody>
          <a:bodyPr/>
          <a:lstStyle/>
          <a:p>
            <a:pPr marL="0" indent="0" fontAlgn="base">
              <a:buNone/>
            </a:pPr>
            <a:r>
              <a:rPr lang="en-US" b="1" dirty="0"/>
              <a:t>Pie Chart</a:t>
            </a:r>
          </a:p>
          <a:p>
            <a:pPr fontAlgn="base"/>
            <a:r>
              <a:rPr lang="en-US" dirty="0"/>
              <a:t>A </a:t>
            </a:r>
            <a:r>
              <a:rPr lang="en-US" u="sng" dirty="0" err="1">
                <a:hlinkClick r:id="rId2"/>
              </a:rPr>
              <a:t>piechart</a:t>
            </a:r>
            <a:r>
              <a:rPr lang="en-US" dirty="0"/>
              <a:t> helps us to visualize the percentage of the data belonging to each category.</a:t>
            </a:r>
          </a:p>
        </p:txBody>
      </p:sp>
      <p:pic>
        <p:nvPicPr>
          <p:cNvPr id="2" name="Picture 1"/>
          <p:cNvPicPr>
            <a:picLocks noChangeAspect="1"/>
          </p:cNvPicPr>
          <p:nvPr/>
        </p:nvPicPr>
        <p:blipFill>
          <a:blip r:embed="rId3"/>
          <a:stretch>
            <a:fillRect/>
          </a:stretch>
        </p:blipFill>
        <p:spPr>
          <a:xfrm>
            <a:off x="2194641" y="2164254"/>
            <a:ext cx="5150222" cy="3824422"/>
          </a:xfrm>
          <a:prstGeom prst="rect">
            <a:avLst/>
          </a:prstGeom>
        </p:spPr>
      </p:pic>
    </p:spTree>
    <p:extLst>
      <p:ext uri="{BB962C8B-B14F-4D97-AF65-F5344CB8AC3E}">
        <p14:creationId xmlns:p14="http://schemas.microsoft.com/office/powerpoint/2010/main" val="1802790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545" y="147393"/>
            <a:ext cx="8596668" cy="1320800"/>
          </a:xfrm>
        </p:spPr>
        <p:txBody>
          <a:bodyPr/>
          <a:lstStyle/>
          <a:p>
            <a:pPr fontAlgn="base"/>
            <a:r>
              <a:rPr lang="en-US" b="1" dirty="0">
                <a:latin typeface="Times New Roman" panose="02020603050405020304" pitchFamily="18" charset="0"/>
                <a:cs typeface="Times New Roman" panose="02020603050405020304" pitchFamily="18" charset="0"/>
              </a:rPr>
              <a:t>Central Tendency</a:t>
            </a:r>
          </a:p>
        </p:txBody>
      </p:sp>
      <p:sp>
        <p:nvSpPr>
          <p:cNvPr id="3" name="Content Placeholder 2"/>
          <p:cNvSpPr>
            <a:spLocks noGrp="1"/>
          </p:cNvSpPr>
          <p:nvPr>
            <p:ph idx="1"/>
          </p:nvPr>
        </p:nvSpPr>
        <p:spPr>
          <a:xfrm>
            <a:off x="677334" y="1133341"/>
            <a:ext cx="8596668" cy="4908022"/>
          </a:xfrm>
        </p:spPr>
        <p:txBody>
          <a:bodyPr>
            <a:normAutofit/>
          </a:bodyPr>
          <a:lstStyle/>
          <a:p>
            <a:pPr marL="0" indent="0" fontAlgn="base">
              <a:buNone/>
            </a:pPr>
            <a:r>
              <a:rPr lang="en-US" sz="2000" dirty="0">
                <a:latin typeface="Times New Roman" panose="02020603050405020304" pitchFamily="18" charset="0"/>
                <a:cs typeface="Times New Roman" panose="02020603050405020304" pitchFamily="18" charset="0"/>
              </a:rPr>
              <a:t>Measures</a:t>
            </a:r>
            <a:r>
              <a:rPr lang="en-US" sz="2000" u="sng"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 central tendency include mean, median, and mode, while measures of dispersion include range, variance, standard deviation, and interquartile range.</a:t>
            </a:r>
          </a:p>
          <a:p>
            <a:pPr fontAlgn="base"/>
            <a:r>
              <a:rPr lang="en-US" sz="2000" b="1" dirty="0">
                <a:latin typeface="Times New Roman" panose="02020603050405020304" pitchFamily="18" charset="0"/>
                <a:cs typeface="Times New Roman" panose="02020603050405020304" pitchFamily="18" charset="0"/>
              </a:rPr>
              <a:t>Mean: </a:t>
            </a:r>
            <a:r>
              <a:rPr lang="en-US" sz="2000" dirty="0">
                <a:latin typeface="Times New Roman" panose="02020603050405020304" pitchFamily="18" charset="0"/>
                <a:cs typeface="Times New Roman" panose="02020603050405020304" pitchFamily="18" charset="0"/>
              </a:rPr>
              <a:t>The mean, also known as the average, is calculated by summing up all the values in a dataset and dividing the sum by the total number of values. It is sensitive to extreme values, which means it is likely to have outliers</a:t>
            </a:r>
            <a:r>
              <a:rPr lang="en-US" sz="2000" dirty="0" smtClean="0">
                <a:latin typeface="Times New Roman" panose="02020603050405020304" pitchFamily="18" charset="0"/>
                <a:cs typeface="Times New Roman" panose="02020603050405020304" pitchFamily="18" charset="0"/>
              </a:rPr>
              <a:t>.</a:t>
            </a:r>
          </a:p>
          <a:p>
            <a:pPr fontAlgn="base"/>
            <a:r>
              <a:rPr lang="en-US" sz="2000" b="1" dirty="0">
                <a:latin typeface="Times New Roman" panose="02020603050405020304" pitchFamily="18" charset="0"/>
                <a:cs typeface="Times New Roman" panose="02020603050405020304" pitchFamily="18" charset="0"/>
              </a:rPr>
              <a:t>Median: </a:t>
            </a:r>
            <a:r>
              <a:rPr lang="en-US" sz="2000" dirty="0">
                <a:latin typeface="Times New Roman" panose="02020603050405020304" pitchFamily="18" charset="0"/>
                <a:cs typeface="Times New Roman" panose="02020603050405020304" pitchFamily="18" charset="0"/>
              </a:rPr>
              <a:t>The </a:t>
            </a:r>
            <a:r>
              <a:rPr lang="en-US" sz="2000" dirty="0" smtClean="0">
                <a:latin typeface="Times New Roman" panose="02020603050405020304" pitchFamily="18" charset="0"/>
                <a:cs typeface="Times New Roman" panose="02020603050405020304" pitchFamily="18" charset="0"/>
              </a:rPr>
              <a:t>median</a:t>
            </a:r>
            <a:r>
              <a:rPr lang="en-US" sz="2000" dirty="0">
                <a:latin typeface="Times New Roman" panose="02020603050405020304" pitchFamily="18" charset="0"/>
                <a:cs typeface="Times New Roman" panose="02020603050405020304" pitchFamily="18" charset="0"/>
              </a:rPr>
              <a:t> is the middle value in a dataset when the values are arranged in ascending or descending order. If there is an even number of values, the median is the average of the two middle values. The median experiences less impact from outliers than the mean does.</a:t>
            </a:r>
          </a:p>
          <a:p>
            <a:pPr fontAlgn="base"/>
            <a:r>
              <a:rPr lang="en-US" sz="2000" b="1" dirty="0">
                <a:latin typeface="Times New Roman" panose="02020603050405020304" pitchFamily="18" charset="0"/>
                <a:cs typeface="Times New Roman" panose="02020603050405020304" pitchFamily="18" charset="0"/>
              </a:rPr>
              <a:t>Mode: </a:t>
            </a:r>
            <a:r>
              <a:rPr lang="en-US" sz="2000" dirty="0">
                <a:latin typeface="Times New Roman" panose="02020603050405020304" pitchFamily="18" charset="0"/>
                <a:cs typeface="Times New Roman" panose="02020603050405020304" pitchFamily="18" charset="0"/>
              </a:rPr>
              <a:t>The </a:t>
            </a:r>
            <a:r>
              <a:rPr lang="en-US" sz="2000" dirty="0" smtClean="0">
                <a:latin typeface="Times New Roman" panose="02020603050405020304" pitchFamily="18" charset="0"/>
                <a:cs typeface="Times New Roman" panose="02020603050405020304" pitchFamily="18" charset="0"/>
              </a:rPr>
              <a:t>mode</a:t>
            </a:r>
            <a:r>
              <a:rPr lang="en-US" sz="2000" dirty="0">
                <a:latin typeface="Times New Roman" panose="02020603050405020304" pitchFamily="18" charset="0"/>
                <a:cs typeface="Times New Roman" panose="02020603050405020304" pitchFamily="18" charset="0"/>
              </a:rPr>
              <a:t> is the value that occurs most frequently in a dataset. It is particularly useful for categorical data but can also be applied to numerical data. A dataset may have one mode (</a:t>
            </a:r>
            <a:r>
              <a:rPr lang="en-US" sz="2000" dirty="0" err="1">
                <a:latin typeface="Times New Roman" panose="02020603050405020304" pitchFamily="18" charset="0"/>
                <a:cs typeface="Times New Roman" panose="02020603050405020304" pitchFamily="18" charset="0"/>
              </a:rPr>
              <a:t>unimodal</a:t>
            </a:r>
            <a:r>
              <a:rPr lang="en-US" sz="2000" dirty="0">
                <a:latin typeface="Times New Roman" panose="02020603050405020304" pitchFamily="18" charset="0"/>
                <a:cs typeface="Times New Roman" panose="02020603050405020304" pitchFamily="18" charset="0"/>
              </a:rPr>
              <a:t>), two modes (bimodal), or more than two modes (multimodal).</a:t>
            </a:r>
          </a:p>
          <a:p>
            <a:pPr fontAlgn="base"/>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3032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00507"/>
            <a:ext cx="8596668" cy="1320800"/>
          </a:xfrm>
        </p:spPr>
        <p:txBody>
          <a:bodyPr/>
          <a:lstStyle/>
          <a:p>
            <a:pPr fontAlgn="base"/>
            <a:r>
              <a:rPr lang="en-US" b="1" dirty="0">
                <a:latin typeface="Times New Roman" panose="02020603050405020304" pitchFamily="18" charset="0"/>
                <a:cs typeface="Times New Roman" panose="02020603050405020304" pitchFamily="18" charset="0"/>
              </a:rPr>
              <a:t>Dispersion</a:t>
            </a:r>
          </a:p>
        </p:txBody>
      </p:sp>
      <p:sp>
        <p:nvSpPr>
          <p:cNvPr id="3" name="Content Placeholder 2"/>
          <p:cNvSpPr>
            <a:spLocks noGrp="1"/>
          </p:cNvSpPr>
          <p:nvPr>
            <p:ph idx="1"/>
          </p:nvPr>
        </p:nvSpPr>
        <p:spPr>
          <a:xfrm>
            <a:off x="262001" y="1428124"/>
            <a:ext cx="9427334" cy="5486400"/>
          </a:xfrm>
        </p:spPr>
        <p:txBody>
          <a:bodyPr>
            <a:normAutofit/>
          </a:bodyPr>
          <a:lstStyle/>
          <a:p>
            <a:pPr fontAlgn="base"/>
            <a:r>
              <a:rPr lang="en-US" sz="2000" dirty="0">
                <a:latin typeface="Times New Roman" panose="02020603050405020304" pitchFamily="18" charset="0"/>
                <a:cs typeface="Times New Roman" panose="02020603050405020304" pitchFamily="18" charset="0"/>
              </a:rPr>
              <a:t>Dispersion, also known as variability or spread, measures the extent to which individual data points deviate from the central value. It provides information about the spread or distribution of data points in a dataset.</a:t>
            </a:r>
          </a:p>
          <a:p>
            <a:pPr fontAlgn="base"/>
            <a:r>
              <a:rPr lang="en-US" sz="2000" b="1" dirty="0">
                <a:latin typeface="Times New Roman" panose="02020603050405020304" pitchFamily="18" charset="0"/>
                <a:cs typeface="Times New Roman" panose="02020603050405020304" pitchFamily="18" charset="0"/>
              </a:rPr>
              <a:t>Range: </a:t>
            </a:r>
            <a:r>
              <a:rPr lang="en-US" sz="2000" dirty="0">
                <a:latin typeface="Times New Roman" panose="02020603050405020304" pitchFamily="18" charset="0"/>
                <a:cs typeface="Times New Roman" panose="02020603050405020304" pitchFamily="18" charset="0"/>
              </a:rPr>
              <a:t>In statistics, the range refers to the difference between the highest and lowest values in a dataset. It provides a simple measure of variability, indicating the spread of data points. The range is calculated by subtracting the lowest value from the highest value.</a:t>
            </a:r>
          </a:p>
          <a:p>
            <a:pPr fontAlgn="base"/>
            <a:r>
              <a:rPr lang="en-US" sz="2000" dirty="0">
                <a:latin typeface="Times New Roman" panose="02020603050405020304" pitchFamily="18" charset="0"/>
                <a:cs typeface="Times New Roman" panose="02020603050405020304" pitchFamily="18" charset="0"/>
              </a:rPr>
              <a:t>For example, in a dataset {4, 6, 9, 3, 7}, the range is 9 - 3 = 6.</a:t>
            </a:r>
          </a:p>
          <a:p>
            <a:pPr fontAlgn="base"/>
            <a:r>
              <a:rPr lang="en-US" sz="2000" b="1" dirty="0">
                <a:latin typeface="Times New Roman" panose="02020603050405020304" pitchFamily="18" charset="0"/>
                <a:cs typeface="Times New Roman" panose="02020603050405020304" pitchFamily="18" charset="0"/>
              </a:rPr>
              <a:t>Variance: </a:t>
            </a:r>
            <a:r>
              <a:rPr lang="en-US" sz="2000" dirty="0">
                <a:latin typeface="Times New Roman" panose="02020603050405020304" pitchFamily="18" charset="0"/>
                <a:cs typeface="Times New Roman" panose="02020603050405020304" pitchFamily="18" charset="0"/>
              </a:rPr>
              <a:t>Variance is a statistical measure that quantifies the amount of variation or dispersion of a set of numbers from their mean value. Specifically, variance is defined as the expected value of the squared deviation from the mean.</a:t>
            </a:r>
          </a:p>
        </p:txBody>
      </p:sp>
    </p:spTree>
    <p:extLst>
      <p:ext uri="{BB962C8B-B14F-4D97-AF65-F5344CB8AC3E}">
        <p14:creationId xmlns:p14="http://schemas.microsoft.com/office/powerpoint/2010/main" val="2706307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86367"/>
            <a:ext cx="8596668" cy="5654996"/>
          </a:xfrm>
        </p:spPr>
        <p:txBody>
          <a:bodyPr>
            <a:normAutofit/>
          </a:bodyPr>
          <a:lstStyle/>
          <a:p>
            <a:pPr fontAlgn="base"/>
            <a:r>
              <a:rPr lang="en-US" sz="2000" b="1" dirty="0">
                <a:latin typeface="Times New Roman" panose="02020603050405020304" pitchFamily="18" charset="0"/>
                <a:cs typeface="Times New Roman" panose="02020603050405020304" pitchFamily="18" charset="0"/>
              </a:rPr>
              <a:t>Standard Deviation: </a:t>
            </a:r>
            <a:r>
              <a:rPr lang="en-US" sz="2000" dirty="0">
                <a:latin typeface="Times New Roman" panose="02020603050405020304" pitchFamily="18" charset="0"/>
                <a:cs typeface="Times New Roman" panose="02020603050405020304" pitchFamily="18" charset="0"/>
              </a:rPr>
              <a:t>Standard deviation is a measure of the amount of variation or dispersion of a set of values from the mean value. It is calculated as the square root of the variance, which is the average squared deviation from the mean.</a:t>
            </a:r>
          </a:p>
          <a:p>
            <a:pPr fontAlgn="base"/>
            <a:r>
              <a:rPr lang="en-US" sz="2000" b="1" dirty="0">
                <a:latin typeface="Times New Roman" panose="02020603050405020304" pitchFamily="18" charset="0"/>
                <a:cs typeface="Times New Roman" panose="02020603050405020304" pitchFamily="18" charset="0"/>
              </a:rPr>
              <a:t>Interquartile Range (IQR): </a:t>
            </a:r>
            <a:r>
              <a:rPr lang="en-US" sz="2000" dirty="0">
                <a:latin typeface="Times New Roman" panose="02020603050405020304" pitchFamily="18" charset="0"/>
                <a:cs typeface="Times New Roman" panose="02020603050405020304" pitchFamily="18" charset="0"/>
              </a:rPr>
              <a:t>Interquartile Range (</a:t>
            </a:r>
            <a:r>
              <a:rPr lang="en-US" sz="2000" dirty="0" smtClean="0">
                <a:latin typeface="Times New Roman" panose="02020603050405020304" pitchFamily="18" charset="0"/>
                <a:cs typeface="Times New Roman" panose="02020603050405020304" pitchFamily="18" charset="0"/>
              </a:rPr>
              <a:t>IQR)</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is </a:t>
            </a:r>
            <a:r>
              <a:rPr lang="en-US" sz="2000" dirty="0">
                <a:latin typeface="Times New Roman" panose="02020603050405020304" pitchFamily="18" charset="0"/>
                <a:cs typeface="Times New Roman" panose="02020603050405020304" pitchFamily="18" charset="0"/>
              </a:rPr>
              <a:t>a measure of statistical dispersion that represents the middle 50% of a data set. It is calculated as the difference between the 75</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percentile (Q</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and the 25</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percentile (Q</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of the data, i.e., IQR = Q</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Q</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15971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92716259"/>
              </p:ext>
            </p:extLst>
          </p:nvPr>
        </p:nvGraphicFramePr>
        <p:xfrm>
          <a:off x="677863" y="579549"/>
          <a:ext cx="8659320" cy="5553525"/>
        </p:xfrm>
        <a:graphic>
          <a:graphicData uri="http://schemas.openxmlformats.org/drawingml/2006/table">
            <a:tbl>
              <a:tblPr/>
              <a:tblGrid>
                <a:gridCol w="4329660"/>
                <a:gridCol w="4329660"/>
              </a:tblGrid>
              <a:tr h="564975">
                <a:tc>
                  <a:txBody>
                    <a:bodyPr/>
                    <a:lstStyle/>
                    <a:p>
                      <a:pPr algn="ctr" fontAlgn="base"/>
                      <a:r>
                        <a:rPr lang="en-US" sz="2000" b="1" dirty="0">
                          <a:effectLst/>
                          <a:latin typeface="Times New Roman" panose="02020603050405020304" pitchFamily="18" charset="0"/>
                          <a:cs typeface="Times New Roman" panose="02020603050405020304" pitchFamily="18" charset="0"/>
                        </a:rPr>
                        <a:t>Central Tendency</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2000" b="1">
                          <a:effectLst/>
                          <a:latin typeface="Times New Roman" panose="02020603050405020304" pitchFamily="18" charset="0"/>
                          <a:cs typeface="Times New Roman" panose="02020603050405020304" pitchFamily="18" charset="0"/>
                        </a:rPr>
                        <a:t>Dispersion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906092">
                <a:tc>
                  <a:txBody>
                    <a:bodyPr/>
                    <a:lstStyle/>
                    <a:p>
                      <a:pPr algn="ctr" fontAlgn="ctr"/>
                      <a:r>
                        <a:rPr lang="en-US" sz="1800" b="0">
                          <a:effectLst/>
                          <a:latin typeface="Times New Roman" panose="02020603050405020304" pitchFamily="18" charset="0"/>
                          <a:cs typeface="Times New Roman" panose="02020603050405020304" pitchFamily="18" charset="0"/>
                        </a:rPr>
                        <a:t>Indicates the typical or central value around which data tends to cluster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latin typeface="Times New Roman" panose="02020603050405020304" pitchFamily="18" charset="0"/>
                          <a:cs typeface="Times New Roman" panose="02020603050405020304" pitchFamily="18" charset="0"/>
                        </a:rPr>
                        <a:t>Indicates the spread or variability of data points in a dataset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906092">
                <a:tc>
                  <a:txBody>
                    <a:bodyPr/>
                    <a:lstStyle/>
                    <a:p>
                      <a:pPr algn="ctr" fontAlgn="ctr"/>
                      <a:r>
                        <a:rPr lang="en-US" sz="1800" b="0">
                          <a:effectLst/>
                          <a:latin typeface="Times New Roman" panose="02020603050405020304" pitchFamily="18" charset="0"/>
                          <a:cs typeface="Times New Roman" panose="02020603050405020304" pitchFamily="18" charset="0"/>
                        </a:rPr>
                        <a:t>Provides a single representative value summarizing the dataset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latin typeface="Times New Roman" panose="02020603050405020304" pitchFamily="18" charset="0"/>
                          <a:cs typeface="Times New Roman" panose="02020603050405020304" pitchFamily="18" charset="0"/>
                        </a:rPr>
                        <a:t>Describes how spread out the values are from each other and from the central value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88217">
                <a:tc>
                  <a:txBody>
                    <a:bodyPr/>
                    <a:lstStyle/>
                    <a:p>
                      <a:pPr algn="ctr" fontAlgn="ctr"/>
                      <a:r>
                        <a:rPr lang="en-US" sz="1800" b="0">
                          <a:effectLst/>
                          <a:latin typeface="Times New Roman" panose="02020603050405020304" pitchFamily="18" charset="0"/>
                          <a:cs typeface="Times New Roman" panose="02020603050405020304" pitchFamily="18" charset="0"/>
                        </a:rPr>
                        <a:t>Mean, median, mode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fr-FR" sz="1800" b="0">
                          <a:effectLst/>
                          <a:latin typeface="Times New Roman" panose="02020603050405020304" pitchFamily="18" charset="0"/>
                          <a:cs typeface="Times New Roman" panose="02020603050405020304" pitchFamily="18" charset="0"/>
                        </a:rPr>
                        <a:t>Range, variance, standard deviation, interquartile range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906092">
                <a:tc>
                  <a:txBody>
                    <a:bodyPr/>
                    <a:lstStyle/>
                    <a:p>
                      <a:pPr algn="ctr" fontAlgn="ctr"/>
                      <a:r>
                        <a:rPr lang="en-US" sz="1800" b="0">
                          <a:effectLst/>
                          <a:latin typeface="Times New Roman" panose="02020603050405020304" pitchFamily="18" charset="0"/>
                          <a:cs typeface="Times New Roman" panose="02020603050405020304" pitchFamily="18" charset="0"/>
                        </a:rPr>
                        <a:t>Calculated using the values of the dataset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latin typeface="Times New Roman" panose="02020603050405020304" pitchFamily="18" charset="0"/>
                          <a:cs typeface="Times New Roman" panose="02020603050405020304" pitchFamily="18" charset="0"/>
                        </a:rPr>
                        <a:t>Calculated using deviations from the central value (usually the mean)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88217">
                <a:tc>
                  <a:txBody>
                    <a:bodyPr/>
                    <a:lstStyle/>
                    <a:p>
                      <a:pPr algn="ctr" fontAlgn="ctr"/>
                      <a:r>
                        <a:rPr lang="en-US" sz="1800" b="0">
                          <a:effectLst/>
                          <a:latin typeface="Times New Roman" panose="02020603050405020304" pitchFamily="18" charset="0"/>
                          <a:cs typeface="Times New Roman" panose="02020603050405020304" pitchFamily="18" charset="0"/>
                        </a:rPr>
                        <a:t>Helps in understanding the center of the data distribution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latin typeface="Times New Roman" panose="02020603050405020304" pitchFamily="18" charset="0"/>
                          <a:cs typeface="Times New Roman" panose="02020603050405020304" pitchFamily="18" charset="0"/>
                        </a:rPr>
                        <a:t>Helps in understanding the spread of the data distribution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639594">
                <a:tc>
                  <a:txBody>
                    <a:bodyPr/>
                    <a:lstStyle/>
                    <a:p>
                      <a:pPr algn="ctr" fontAlgn="ctr"/>
                      <a:r>
                        <a:rPr lang="en-US" sz="1800" b="0">
                          <a:effectLst/>
                          <a:latin typeface="Times New Roman" panose="02020603050405020304" pitchFamily="18" charset="0"/>
                          <a:cs typeface="Times New Roman" panose="02020603050405020304" pitchFamily="18" charset="0"/>
                        </a:rPr>
                        <a:t>Indicates where the data is centered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Times New Roman" panose="02020603050405020304" pitchFamily="18" charset="0"/>
                          <a:cs typeface="Times New Roman" panose="02020603050405020304" pitchFamily="18" charset="0"/>
                        </a:rPr>
                        <a:t>Indicates how widely the data is spread out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63887590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77</TotalTime>
  <Words>660</Words>
  <Application>Microsoft Office PowerPoint</Application>
  <PresentationFormat>Widescreen</PresentationFormat>
  <Paragraphs>101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Times New Roman</vt:lpstr>
      <vt:lpstr>Trebuchet MS</vt:lpstr>
      <vt:lpstr>Wingdings 3</vt:lpstr>
      <vt:lpstr>Facet</vt:lpstr>
      <vt:lpstr>Module 3: Chapter 2 UNDERSTANDING DATA</vt:lpstr>
      <vt:lpstr>DATA</vt:lpstr>
      <vt:lpstr>Types of Data</vt:lpstr>
      <vt:lpstr>PowerPoint Presentation</vt:lpstr>
      <vt:lpstr>PowerPoint Presentation</vt:lpstr>
      <vt:lpstr>Big Data</vt:lpstr>
      <vt:lpstr>PowerPoint Presentation</vt:lpstr>
      <vt:lpstr>Big Data Analytics</vt:lpstr>
      <vt:lpstr>Types of Big Data Analytics</vt:lpstr>
      <vt:lpstr>PowerPoint Presentation</vt:lpstr>
      <vt:lpstr>Data Analytics Framework </vt:lpstr>
      <vt:lpstr>Univariate Analysis </vt:lpstr>
      <vt:lpstr>PowerPoint Presentation</vt:lpstr>
      <vt:lpstr>PowerPoint Presentation</vt:lpstr>
      <vt:lpstr>PowerPoint Presentation</vt:lpstr>
      <vt:lpstr>Central Tendency</vt:lpstr>
      <vt:lpstr>Dispersion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DATA</dc:title>
  <dc:creator>Windows User</dc:creator>
  <cp:lastModifiedBy>Microsoft account</cp:lastModifiedBy>
  <cp:revision>21</cp:revision>
  <dcterms:created xsi:type="dcterms:W3CDTF">2026-04-01T14:35:38Z</dcterms:created>
  <dcterms:modified xsi:type="dcterms:W3CDTF">2026-04-02T06:00:03Z</dcterms:modified>
</cp:coreProperties>
</file>