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92" r:id="rId4"/>
    <p:sldId id="293" r:id="rId5"/>
    <p:sldId id="294" r:id="rId6"/>
    <p:sldId id="295" r:id="rId7"/>
    <p:sldId id="296" r:id="rId8"/>
    <p:sldId id="258" r:id="rId9"/>
    <p:sldId id="260" r:id="rId10"/>
    <p:sldId id="261" r:id="rId11"/>
    <p:sldId id="262" r:id="rId12"/>
    <p:sldId id="263" r:id="rId13"/>
    <p:sldId id="297" r:id="rId14"/>
    <p:sldId id="298" r:id="rId15"/>
    <p:sldId id="299" r:id="rId16"/>
    <p:sldId id="300" r:id="rId17"/>
    <p:sldId id="301" r:id="rId18"/>
    <p:sldId id="302" r:id="rId19"/>
    <p:sldId id="303" r:id="rId20"/>
    <p:sldId id="304" r:id="rId21"/>
    <p:sldId id="305" r:id="rId22"/>
    <p:sldId id="265" r:id="rId23"/>
    <p:sldId id="278" r:id="rId24"/>
    <p:sldId id="306" r:id="rId25"/>
    <p:sldId id="307" r:id="rId26"/>
    <p:sldId id="308" r:id="rId27"/>
    <p:sldId id="309" r:id="rId28"/>
    <p:sldId id="266" r:id="rId29"/>
    <p:sldId id="267" r:id="rId30"/>
    <p:sldId id="268" r:id="rId31"/>
    <p:sldId id="269" r:id="rId32"/>
    <p:sldId id="270" r:id="rId33"/>
    <p:sldId id="271" r:id="rId34"/>
    <p:sldId id="272" r:id="rId35"/>
    <p:sldId id="273" r:id="rId36"/>
    <p:sldId id="274" r:id="rId37"/>
    <p:sldId id="275" r:id="rId38"/>
    <p:sldId id="276" r:id="rId39"/>
    <p:sldId id="277" r:id="rId40"/>
    <p:sldId id="279" r:id="rId41"/>
    <p:sldId id="280" r:id="rId42"/>
    <p:sldId id="281" r:id="rId43"/>
    <p:sldId id="310" r:id="rId44"/>
    <p:sldId id="311" r:id="rId45"/>
    <p:sldId id="312" r:id="rId46"/>
    <p:sldId id="313" r:id="rId47"/>
    <p:sldId id="282" r:id="rId48"/>
    <p:sldId id="284" r:id="rId49"/>
    <p:sldId id="285" r:id="rId50"/>
    <p:sldId id="314" r:id="rId51"/>
    <p:sldId id="286" r:id="rId52"/>
    <p:sldId id="287" r:id="rId53"/>
    <p:sldId id="288" r:id="rId54"/>
    <p:sldId id="289" r:id="rId55"/>
    <p:sldId id="290" r:id="rId56"/>
    <p:sldId id="29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E26B5F-45EF-49FA-9B45-0BA17A5F848F}" v="52" dt="2026-03-04T16:10:49.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AE83F5-4859-4A84-901E-DEEC90593A83}"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091798-8AC9-4E3B-A356-91765619E9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42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AE83F5-4859-4A84-901E-DEEC90593A83}"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2534071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AE83F5-4859-4A84-901E-DEEC90593A83}"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091798-8AC9-4E3B-A356-91765619E95E}"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878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AE83F5-4859-4A84-901E-DEEC90593A83}"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403624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AE83F5-4859-4A84-901E-DEEC90593A83}"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61954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AE83F5-4859-4A84-901E-DEEC90593A83}"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236809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AE83F5-4859-4A84-901E-DEEC90593A83}" type="datetimeFigureOut">
              <a:rPr lang="en-IN" smtClean="0"/>
              <a:t>23-03-2026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198091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AE83F5-4859-4A84-901E-DEEC90593A83}" type="datetimeFigureOut">
              <a:rPr lang="en-IN" smtClean="0"/>
              <a:t>23-03-2026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4091798-8AC9-4E3B-A356-91765619E95E}" type="slidenum">
              <a:rPr lang="en-IN" smtClean="0"/>
              <a:t>‹#›</a:t>
            </a:fld>
            <a:endParaRPr lang="en-IN"/>
          </a:p>
        </p:txBody>
      </p:sp>
    </p:spTree>
    <p:extLst>
      <p:ext uri="{BB962C8B-B14F-4D97-AF65-F5344CB8AC3E}">
        <p14:creationId xmlns:p14="http://schemas.microsoft.com/office/powerpoint/2010/main" val="4179608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AE83F5-4859-4A84-901E-DEEC90593A83}"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3328178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AE83F5-4859-4A84-901E-DEEC90593A83}"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1499376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AE83F5-4859-4A84-901E-DEEC90593A83}"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4091798-8AC9-4E3B-A356-91765619E95E}" type="slidenum">
              <a:rPr lang="en-IN" smtClean="0"/>
              <a:t>‹#›</a:t>
            </a:fld>
            <a:endParaRPr lang="en-IN"/>
          </a:p>
        </p:txBody>
      </p:sp>
    </p:spTree>
    <p:extLst>
      <p:ext uri="{BB962C8B-B14F-4D97-AF65-F5344CB8AC3E}">
        <p14:creationId xmlns:p14="http://schemas.microsoft.com/office/powerpoint/2010/main" val="1108038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AE83F5-4859-4A84-901E-DEEC90593A83}" type="datetimeFigureOut">
              <a:rPr lang="en-IN" smtClean="0"/>
              <a:t>23-03-2026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4091798-8AC9-4E3B-A356-91765619E95E}"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0012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oogle.com/search?q=Personal+Assistants+(Siri/Alexa)&amp;sca_esv=44d106614816f4f2&amp;biw=1517&amp;bih=712&amp;sxsrf=ANbL-n6lYDojaRA8zvbgd8rQ_sAkjKmHbQ:1773204932603&amp;ei=xPWwaY7HJLeRnesP46vY6Ag&amp;ved=2ahUKEwj64tmTh5eTAxW7cWwGHVnuHf8QgK4QegYIAQgCEAc&amp;uact=5&amp;oq=goal+based++agent+example&amp;gs_lp=Egxnd3Mtd2l6LXNlcnAiGWdvYWwgYmFzZWQgIGFnZW50IGV4YW1wbGUyChAAGIAEGBQYhwIyBhAAGAcYHjIGEAAYBxgeMgQQABgeMgYQABgIGB4yBhAAGAgYHjILEAAYgAQYhgMYigUyCxAAGIAEGIYDGIoFMggQABiABBiiBEjcEVCJBVigDXABeAGQAQCYAa4BoAGJB6oBAzAuNrgBA8gBAPgBAZgCB6AC2gfCAgoQABiwAxjWBBhHwgIOEAAYsAMY5AIY1gTYAQHCAhcQLhiwAxi4BhjYAhjIAxjaBhjcBtgBAcICBxAjGLACGCfCAgUQABjvBcICCBAAGAcYCBgemAMAiAYBkAYOugYGCAEQARgJkgcDMS42oAfQJ7IHAzAuNrgHzAfCBwUyLTMuNMgHPoAIAA&amp;sclient=gws-wiz-serp&amp;mstk=AUtExfCjc4mdtzZIHPxJfkWdeUncfu40PYJHOMAk4kvlDRrFEvSgbNnq1_PEalNXCnp6jGgxdtmGp7osDdf7ETpuzlH4iTIsrqkOC8p7vyVAdwhg44u37-hOkeMsF1xVlPQtIIA&amp;csui=3" TargetMode="External"/><Relationship Id="rId2" Type="http://schemas.openxmlformats.org/officeDocument/2006/relationships/hyperlink" Target="https://www.google.com/search?q=GPS+Navigation+Systems+(e.g.,+Google+Maps)&amp;sca_esv=44d106614816f4f2&amp;biw=1517&amp;bih=712&amp;sxsrf=ANbL-n6lYDojaRA8zvbgd8rQ_sAkjKmHbQ:1773204932603&amp;ei=xPWwaY7HJLeRnesP46vY6Ag&amp;ved=2ahUKEwj64tmTh5eTAxW7cWwGHVnuHf8QgK4QegYIAQgCEAM&amp;uact=5&amp;oq=goal+based++agent+example&amp;gs_lp=Egxnd3Mtd2l6LXNlcnAiGWdvYWwgYmFzZWQgIGFnZW50IGV4YW1wbGUyChAAGIAEGBQYhwIyBhAAGAcYHjIGEAAYBxgeMgQQABgeMgYQABgIGB4yBhAAGAgYHjILEAAYgAQYhgMYigUyCxAAGIAEGIYDGIoFMggQABiABBiiBEjcEVCJBVigDXABeAGQAQCYAa4BoAGJB6oBAzAuNrgBA8gBAPgBAZgCB6AC2gfCAgoQABiwAxjWBBhHwgIOEAAYsAMY5AIY1gTYAQHCAhcQLhiwAxi4BhjYAhjIAxjaBhjcBtgBAcICBxAjGLACGCfCAgUQABjvBcICCBAAGAcYCBgemAMAiAYBkAYOugYGCAEQARgJkgcDMS42oAfQJ7IHAzAuNrgHzAfCBwUyLTMuNMgHPoAIAA&amp;sclient=gws-wiz-serp&amp;mstk=AUtExfCjc4mdtzZIHPxJfkWdeUncfu40PYJHOMAk4kvlDRrFEvSgbNnq1_PEalNXCnp6jGgxdtmGp7osDdf7ETpuzlH4iTIsrqkOC8p7vyVAdwhg44u37-hOkeMsF1xVlPQtIIA&amp;csui=3" TargetMode="External"/><Relationship Id="rId1" Type="http://schemas.openxmlformats.org/officeDocument/2006/relationships/slideLayout" Target="../slideLayouts/slideLayout2.xml"/><Relationship Id="rId4" Type="http://schemas.openxmlformats.org/officeDocument/2006/relationships/hyperlink" Target="https://www.google.com/search?q=AI+in+Games+(NPCs)&amp;sca_esv=44d106614816f4f2&amp;biw=1517&amp;bih=712&amp;sxsrf=ANbL-n6lYDojaRA8zvbgd8rQ_sAkjKmHbQ:1773204932603&amp;ei=xPWwaY7HJLeRnesP46vY6Ag&amp;ved=2ahUKEwj64tmTh5eTAxW7cWwGHVnuHf8QgK4QegYIAQgCEAk&amp;uact=5&amp;oq=goal+based++agent+example&amp;gs_lp=Egxnd3Mtd2l6LXNlcnAiGWdvYWwgYmFzZWQgIGFnZW50IGV4YW1wbGUyChAAGIAEGBQYhwIyBhAAGAcYHjIGEAAYBxgeMgQQABgeMgYQABgIGB4yBhAAGAgYHjILEAAYgAQYhgMYigUyCxAAGIAEGIYDGIoFMggQABiABBiiBEjcEVCJBVigDXABeAGQAQCYAa4BoAGJB6oBAzAuNrgBA8gBAPgBAZgCB6AC2gfCAgoQABiwAxjWBBhHwgIOEAAYsAMY5AIY1gTYAQHCAhcQLhiwAxi4BhjYAhjIAxjaBhjcBtgBAcICBxAjGLACGCfCAgUQABjvBcICCBAAGAcYCBgemAMAiAYBkAYOugYGCAEQARgJkgcDMS42oAfQJ7IHAzAuNrgHzAfCBwUyLTMuNMgHPoAIAA&amp;sclient=gws-wiz-serp&amp;mstk=AUtExfCjc4mdtzZIHPxJfkWdeUncfu40PYJHOMAk4kvlDRrFEvSgbNnq1_PEalNXCnp6jGgxdtmGp7osDdf7ETpuzlH4iTIsrqkOC8p7vyVAdwhg44u37-hOkeMsF1xVlPQtIIA&amp;csui=3"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xmlns="" id="{5E8B84B6-2C4B-DAE9-AD83-07A8750E675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xmlns="" id="{D26DA495-6474-2564-8595-49352935B81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4">
            <a:extLst>
              <a:ext uri="{FF2B5EF4-FFF2-40B4-BE49-F238E27FC236}">
                <a16:creationId xmlns:a16="http://schemas.microsoft.com/office/drawing/2014/main" xmlns="" id="{F2EBDF8B-3275-18E6-9C65-5C5C447E9B3F}"/>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2" name="Picture 11">
            <a:extLst>
              <a:ext uri="{FF2B5EF4-FFF2-40B4-BE49-F238E27FC236}">
                <a16:creationId xmlns:a16="http://schemas.microsoft.com/office/drawing/2014/main" xmlns="" id="{5520F39A-7AE5-1657-67D6-300E43EEEB07}"/>
              </a:ext>
            </a:extLst>
          </p:cNvPr>
          <p:cNvPicPr>
            <a:picLocks noChangeAspect="1"/>
          </p:cNvPicPr>
          <p:nvPr/>
        </p:nvPicPr>
        <p:blipFill>
          <a:blip r:embed="rId2"/>
          <a:stretch>
            <a:fillRect/>
          </a:stretch>
        </p:blipFill>
        <p:spPr>
          <a:xfrm>
            <a:off x="8137322" y="1689465"/>
            <a:ext cx="3456038" cy="2437742"/>
          </a:xfrm>
          <a:prstGeom prst="rect">
            <a:avLst/>
          </a:prstGeom>
        </p:spPr>
      </p:pic>
      <p:pic>
        <p:nvPicPr>
          <p:cNvPr id="2" name="Picture 1">
            <a:extLst>
              <a:ext uri="{FF2B5EF4-FFF2-40B4-BE49-F238E27FC236}">
                <a16:creationId xmlns:a16="http://schemas.microsoft.com/office/drawing/2014/main" xmlns="" id="{A7802EAF-A4C7-962C-1AE7-4BA768956432}"/>
              </a:ext>
            </a:extLst>
          </p:cNvPr>
          <p:cNvPicPr>
            <a:picLocks noChangeAspect="1"/>
          </p:cNvPicPr>
          <p:nvPr/>
        </p:nvPicPr>
        <p:blipFill>
          <a:blip r:embed="rId3"/>
          <a:stretch>
            <a:fillRect/>
          </a:stretch>
        </p:blipFill>
        <p:spPr>
          <a:xfrm>
            <a:off x="9912043" y="8695"/>
            <a:ext cx="1681317" cy="1479756"/>
          </a:xfrm>
          <a:prstGeom prst="rect">
            <a:avLst/>
          </a:prstGeom>
        </p:spPr>
      </p:pic>
      <p:sp>
        <p:nvSpPr>
          <p:cNvPr id="3" name="Title 2"/>
          <p:cNvSpPr>
            <a:spLocks noGrp="1"/>
          </p:cNvSpPr>
          <p:nvPr>
            <p:ph type="ctrTitle"/>
          </p:nvPr>
        </p:nvSpPr>
        <p:spPr>
          <a:xfrm>
            <a:off x="350293" y="1689465"/>
            <a:ext cx="7506297" cy="1722476"/>
          </a:xfrm>
        </p:spPr>
        <p:txBody>
          <a:bodyPr>
            <a:normAutofit/>
          </a:bodyPr>
          <a:lstStyle/>
          <a:p>
            <a:r>
              <a:rPr lang="en-US" sz="6000" b="1" dirty="0" smtClean="0"/>
              <a:t>Module 1: </a:t>
            </a:r>
            <a:r>
              <a:rPr lang="en-US" sz="6000" b="1" dirty="0"/>
              <a:t>Introduction to Artificial </a:t>
            </a:r>
            <a:r>
              <a:rPr lang="en-US" sz="6000" b="1" dirty="0" smtClean="0"/>
              <a:t>intelligence </a:t>
            </a:r>
            <a:endParaRPr lang="en-US" sz="6000" b="1" dirty="0"/>
          </a:p>
        </p:txBody>
      </p:sp>
      <p:sp>
        <p:nvSpPr>
          <p:cNvPr id="8" name="TextBox 7"/>
          <p:cNvSpPr txBox="1"/>
          <p:nvPr/>
        </p:nvSpPr>
        <p:spPr>
          <a:xfrm>
            <a:off x="350293" y="4529236"/>
            <a:ext cx="11243067" cy="967957"/>
          </a:xfrm>
          <a:prstGeom prst="rect">
            <a:avLst/>
          </a:prstGeom>
          <a:noFill/>
        </p:spPr>
        <p:txBody>
          <a:bodyPr wrap="square" rtlCol="0">
            <a:spAutoFit/>
          </a:bodyPr>
          <a:lstStyle/>
          <a:p>
            <a:pPr algn="just">
              <a:lnSpc>
                <a:spcPct val="150000"/>
              </a:lnSpc>
            </a:pPr>
            <a:r>
              <a:rPr lang="en-US" sz="2000" b="1" dirty="0" smtClean="0"/>
              <a:t>What </a:t>
            </a:r>
            <a:r>
              <a:rPr lang="en-US" sz="2000" b="1" dirty="0"/>
              <a:t>is AI, History of AI, Types of AI, Components of Intelligence, Agent and Environment, Informed Search Algorithms: Pure Heuristic, Best first, A*, AO* Algorithms. </a:t>
            </a:r>
          </a:p>
        </p:txBody>
      </p:sp>
    </p:spTree>
    <p:extLst>
      <p:ext uri="{BB962C8B-B14F-4D97-AF65-F5344CB8AC3E}">
        <p14:creationId xmlns:p14="http://schemas.microsoft.com/office/powerpoint/2010/main" val="3080221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DC9D2-0AF4-A289-A2D6-1073552AE1FA}"/>
              </a:ext>
            </a:extLst>
          </p:cNvPr>
          <p:cNvSpPr>
            <a:spLocks noGrp="1"/>
          </p:cNvSpPr>
          <p:nvPr>
            <p:ph type="title"/>
          </p:nvPr>
        </p:nvSpPr>
        <p:spPr>
          <a:xfrm>
            <a:off x="145636" y="127050"/>
            <a:ext cx="10058400" cy="705464"/>
          </a:xfrm>
        </p:spPr>
        <p:txBody>
          <a:bodyPr>
            <a:normAutofit/>
          </a:bodyPr>
          <a:lstStyle/>
          <a:p>
            <a:r>
              <a:rPr lang="en-IN" sz="4000" dirty="0">
                <a:solidFill>
                  <a:schemeClr val="tx1"/>
                </a:solidFill>
                <a:latin typeface="Times New Roman" panose="02020603050405020304" pitchFamily="18" charset="0"/>
                <a:cs typeface="Times New Roman" panose="02020603050405020304" pitchFamily="18" charset="0"/>
              </a:rPr>
              <a:t>What is Artificial Intelligence</a:t>
            </a:r>
          </a:p>
        </p:txBody>
      </p:sp>
      <p:sp>
        <p:nvSpPr>
          <p:cNvPr id="3" name="Content Placeholder 2">
            <a:extLst>
              <a:ext uri="{FF2B5EF4-FFF2-40B4-BE49-F238E27FC236}">
                <a16:creationId xmlns:a16="http://schemas.microsoft.com/office/drawing/2014/main" xmlns="" id="{117AA2CD-F931-02D9-B612-08A0962AAD5C}"/>
              </a:ext>
            </a:extLst>
          </p:cNvPr>
          <p:cNvSpPr>
            <a:spLocks noGrp="1"/>
          </p:cNvSpPr>
          <p:nvPr>
            <p:ph idx="1"/>
          </p:nvPr>
        </p:nvSpPr>
        <p:spPr>
          <a:xfrm>
            <a:off x="327546" y="832514"/>
            <a:ext cx="11477767" cy="5036580"/>
          </a:xfrm>
        </p:spPr>
        <p:txBody>
          <a:bodyPr>
            <a:normAutofit/>
          </a:bodyPr>
          <a:lstStyle/>
          <a:p>
            <a:pPr marL="0" indent="0" algn="just">
              <a:lnSpc>
                <a:spcPct val="150000"/>
              </a:lnSpc>
              <a:buNone/>
            </a:pPr>
            <a:r>
              <a:rPr lang="en-US" sz="2400" b="1" dirty="0" smtClean="0">
                <a:cs typeface="Times New Roman" panose="02020603050405020304" pitchFamily="18" charset="0"/>
              </a:rPr>
              <a:t>  Definition</a:t>
            </a:r>
            <a:r>
              <a:rPr lang="en-US" sz="2400" dirty="0" smtClean="0">
                <a:cs typeface="Times New Roman" panose="02020603050405020304" pitchFamily="18" charset="0"/>
              </a:rPr>
              <a:t> : </a:t>
            </a:r>
            <a:r>
              <a:rPr lang="en-US" sz="2400" b="1" dirty="0"/>
              <a:t>From a layman’s view, artificial intelligence (AI), simply means </a:t>
            </a:r>
          </a:p>
          <a:p>
            <a:pPr marL="0" indent="0" algn="just">
              <a:lnSpc>
                <a:spcPct val="150000"/>
              </a:lnSpc>
              <a:buNone/>
            </a:pPr>
            <a:endParaRPr lang="en-US" sz="2400" dirty="0" smtClean="0">
              <a:cs typeface="Times New Roman" panose="02020603050405020304" pitchFamily="18" charset="0"/>
            </a:endParaRPr>
          </a:p>
          <a:p>
            <a:pPr algn="just">
              <a:lnSpc>
                <a:spcPct val="150000"/>
              </a:lnSpc>
              <a:buFont typeface="Arial" panose="020B0604020202020204" pitchFamily="34" charset="0"/>
              <a:buChar char="•"/>
            </a:pPr>
            <a:r>
              <a:rPr lang="en-US" sz="2400" dirty="0" smtClean="0"/>
              <a:t>The </a:t>
            </a:r>
            <a:r>
              <a:rPr lang="en-US" sz="2400" dirty="0"/>
              <a:t>intelligence demonstrated by machines that help them to mimic the actions of humans. AI simulates natural intelligence in machines that are programmed to learn from experiences, adjust to new inputs and perform human-like tasks</a:t>
            </a:r>
            <a:endParaRPr lang="en-US" sz="2400" dirty="0" smtClean="0">
              <a:cs typeface="Times New Roman" panose="02020603050405020304" pitchFamily="18" charset="0"/>
            </a:endParaRPr>
          </a:p>
          <a:p>
            <a:pPr algn="just">
              <a:lnSpc>
                <a:spcPct val="150000"/>
              </a:lnSpc>
              <a:buFont typeface="Wingdings" panose="05000000000000000000" pitchFamily="2" charset="2"/>
              <a:buChar char="§"/>
            </a:pPr>
            <a:r>
              <a:rPr lang="en-US" sz="2400" dirty="0" smtClean="0">
                <a:cs typeface="Times New Roman" panose="02020603050405020304" pitchFamily="18" charset="0"/>
              </a:rPr>
              <a:t>AI </a:t>
            </a:r>
            <a:r>
              <a:rPr lang="en-US" sz="2400" dirty="0">
                <a:cs typeface="Times New Roman" panose="02020603050405020304" pitchFamily="18" charset="0"/>
              </a:rPr>
              <a:t>simulates natural intelligence in machines that are programmed to learn from experiences, </a:t>
            </a:r>
            <a:r>
              <a:rPr lang="en-US" sz="2400" dirty="0" smtClean="0">
                <a:cs typeface="Times New Roman" panose="02020603050405020304" pitchFamily="18" charset="0"/>
              </a:rPr>
              <a:t>  adjust </a:t>
            </a:r>
            <a:r>
              <a:rPr lang="en-US" sz="2400" dirty="0">
                <a:cs typeface="Times New Roman" panose="02020603050405020304" pitchFamily="18" charset="0"/>
              </a:rPr>
              <a:t>to new inputs and perform </a:t>
            </a:r>
            <a:r>
              <a:rPr lang="en-IN" sz="2400" dirty="0">
                <a:cs typeface="Times New Roman" panose="02020603050405020304" pitchFamily="18" charset="0"/>
              </a:rPr>
              <a:t>human-like tasks.</a:t>
            </a:r>
          </a:p>
        </p:txBody>
      </p:sp>
    </p:spTree>
    <p:extLst>
      <p:ext uri="{BB962C8B-B14F-4D97-AF65-F5344CB8AC3E}">
        <p14:creationId xmlns:p14="http://schemas.microsoft.com/office/powerpoint/2010/main" val="38356671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728" y="395785"/>
            <a:ext cx="11573302" cy="5663821"/>
          </a:xfrm>
        </p:spPr>
        <p:txBody>
          <a:bodyPr/>
          <a:lstStyle/>
          <a:p>
            <a:r>
              <a:rPr lang="en-US" b="1" dirty="0"/>
              <a:t>From a researcher’s view, </a:t>
            </a:r>
            <a:endParaRPr lang="en-US" b="1" dirty="0" smtClean="0"/>
          </a:p>
          <a:p>
            <a:pPr algn="just">
              <a:lnSpc>
                <a:spcPct val="150000"/>
              </a:lnSpc>
              <a:buFont typeface="Wingdings" panose="05000000000000000000" pitchFamily="2" charset="2"/>
              <a:buChar char="§"/>
            </a:pPr>
            <a:r>
              <a:rPr lang="en-US" dirty="0" smtClean="0"/>
              <a:t>AI </a:t>
            </a:r>
            <a:r>
              <a:rPr lang="en-US" dirty="0"/>
              <a:t>is a set of algorithms that generates results without having to be explicitly instructed to do so, thereby </a:t>
            </a:r>
            <a:r>
              <a:rPr lang="en-US" dirty="0" smtClean="0"/>
              <a:t>making </a:t>
            </a:r>
            <a:r>
              <a:rPr lang="en-US" dirty="0"/>
              <a:t>machines capable of thinking and acting rationally and humanely</a:t>
            </a:r>
            <a:r>
              <a:rPr lang="en-US" dirty="0" smtClean="0"/>
              <a:t>.</a:t>
            </a:r>
          </a:p>
          <a:p>
            <a:pPr marL="0" indent="0" algn="just">
              <a:lnSpc>
                <a:spcPct val="150000"/>
              </a:lnSpc>
              <a:buNone/>
            </a:pPr>
            <a:r>
              <a:rPr lang="en-US" b="1" dirty="0" smtClean="0"/>
              <a:t>  How </a:t>
            </a:r>
            <a:r>
              <a:rPr lang="en-US" b="1" dirty="0"/>
              <a:t>Does AI Work</a:t>
            </a:r>
            <a:r>
              <a:rPr lang="en-US" b="1" dirty="0" smtClean="0"/>
              <a:t>?</a:t>
            </a:r>
          </a:p>
          <a:p>
            <a:pPr algn="just">
              <a:lnSpc>
                <a:spcPct val="150000"/>
              </a:lnSpc>
              <a:buFont typeface="Wingdings" panose="05000000000000000000" pitchFamily="2" charset="2"/>
              <a:buChar char="§"/>
            </a:pPr>
            <a:r>
              <a:rPr lang="en-US" dirty="0" smtClean="0"/>
              <a:t> AI </a:t>
            </a:r>
            <a:r>
              <a:rPr lang="en-US" dirty="0"/>
              <a:t>systems work effectively when fed with a large amount of labelled training data. This data is thoroughly </a:t>
            </a:r>
            <a:r>
              <a:rPr lang="en-US" dirty="0" smtClean="0"/>
              <a:t>analyzed </a:t>
            </a:r>
            <a:r>
              <a:rPr lang="en-US" dirty="0"/>
              <a:t>to discover correlations and patterns. </a:t>
            </a:r>
            <a:endParaRPr lang="en-US" dirty="0" smtClean="0"/>
          </a:p>
          <a:p>
            <a:pPr algn="just">
              <a:lnSpc>
                <a:spcPct val="150000"/>
              </a:lnSpc>
              <a:buFont typeface="Wingdings" panose="05000000000000000000" pitchFamily="2" charset="2"/>
              <a:buChar char="§"/>
            </a:pPr>
            <a:r>
              <a:rPr lang="en-US" dirty="0"/>
              <a:t>For example, a </a:t>
            </a:r>
            <a:r>
              <a:rPr lang="en-US" dirty="0" smtClean="0"/>
              <a:t>Chabot </a:t>
            </a:r>
            <a:r>
              <a:rPr lang="en-US" dirty="0"/>
              <a:t>fed with examples of text chats can learn to converse with humans in real-world applications.</a:t>
            </a:r>
            <a:endParaRPr lang="en-US" b="1" dirty="0"/>
          </a:p>
        </p:txBody>
      </p:sp>
    </p:spTree>
    <p:extLst>
      <p:ext uri="{BB962C8B-B14F-4D97-AF65-F5344CB8AC3E}">
        <p14:creationId xmlns:p14="http://schemas.microsoft.com/office/powerpoint/2010/main" val="3423060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747" y="818865"/>
            <a:ext cx="11595138" cy="627797"/>
          </a:xfrm>
        </p:spPr>
        <p:txBody>
          <a:bodyPr>
            <a:normAutofit/>
          </a:bodyPr>
          <a:lstStyle/>
          <a:p>
            <a:pPr algn="ctr"/>
            <a:r>
              <a:rPr lang="en-US" sz="4000" b="1" dirty="0">
                <a:latin typeface="+mn-lt"/>
              </a:rPr>
              <a:t>AI programming focuses on three cognitive </a:t>
            </a:r>
            <a:r>
              <a:rPr lang="en-US" sz="4000" b="1" dirty="0" smtClean="0">
                <a:latin typeface="+mn-lt"/>
              </a:rPr>
              <a:t>skills</a:t>
            </a:r>
            <a:endParaRPr lang="en-US" sz="4000" b="1" dirty="0">
              <a:latin typeface="+mn-lt"/>
            </a:endParaRPr>
          </a:p>
        </p:txBody>
      </p:sp>
      <p:sp>
        <p:nvSpPr>
          <p:cNvPr id="3" name="Content Placeholder 2"/>
          <p:cNvSpPr>
            <a:spLocks noGrp="1"/>
          </p:cNvSpPr>
          <p:nvPr>
            <p:ph idx="1"/>
          </p:nvPr>
        </p:nvSpPr>
        <p:spPr>
          <a:xfrm>
            <a:off x="286603" y="1828800"/>
            <a:ext cx="11723427" cy="4040294"/>
          </a:xfrm>
        </p:spPr>
        <p:txBody>
          <a:bodyPr/>
          <a:lstStyle/>
          <a:p>
            <a:pPr algn="just">
              <a:lnSpc>
                <a:spcPct val="150000"/>
              </a:lnSpc>
            </a:pPr>
            <a:r>
              <a:rPr lang="en-US" dirty="0" smtClean="0"/>
              <a:t>1. </a:t>
            </a:r>
            <a:r>
              <a:rPr lang="en-US" b="1" dirty="0"/>
              <a:t>Learning</a:t>
            </a:r>
            <a:r>
              <a:rPr lang="en-US" dirty="0"/>
              <a:t> : AI programs focus on acquiring data and creating rules for turning that data into actionable information. Rules, also known as algorithms, provide step by-step instructions to complete a specific task.</a:t>
            </a:r>
            <a:endParaRPr lang="en-US" dirty="0" smtClean="0"/>
          </a:p>
          <a:p>
            <a:pPr algn="just">
              <a:lnSpc>
                <a:spcPct val="150000"/>
              </a:lnSpc>
            </a:pPr>
            <a:r>
              <a:rPr lang="en-US" dirty="0" smtClean="0"/>
              <a:t>2. </a:t>
            </a:r>
            <a:r>
              <a:rPr lang="en-US" b="1" dirty="0"/>
              <a:t>Reasoning</a:t>
            </a:r>
            <a:r>
              <a:rPr lang="en-US" dirty="0"/>
              <a:t> : The success of an AI program depends on choosing the right algorithm to reach the desired outcome.</a:t>
            </a:r>
            <a:endParaRPr lang="en-US" dirty="0" smtClean="0"/>
          </a:p>
          <a:p>
            <a:pPr algn="just">
              <a:lnSpc>
                <a:spcPct val="150000"/>
              </a:lnSpc>
            </a:pPr>
            <a:r>
              <a:rPr lang="en-US" dirty="0" smtClean="0"/>
              <a:t>3. </a:t>
            </a:r>
            <a:r>
              <a:rPr lang="en-US" b="1" dirty="0"/>
              <a:t>Self-correction</a:t>
            </a:r>
            <a:r>
              <a:rPr lang="en-US" dirty="0"/>
              <a:t>: AI programs are designed to continually enhance their algorithms to provide the most accurate results.</a:t>
            </a:r>
          </a:p>
        </p:txBody>
      </p:sp>
    </p:spTree>
    <p:extLst>
      <p:ext uri="{BB962C8B-B14F-4D97-AF65-F5344CB8AC3E}">
        <p14:creationId xmlns:p14="http://schemas.microsoft.com/office/powerpoint/2010/main" val="2017717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433" y="286604"/>
            <a:ext cx="11450471" cy="818866"/>
          </a:xfrm>
        </p:spPr>
        <p:txBody>
          <a:bodyPr>
            <a:normAutofit/>
          </a:bodyPr>
          <a:lstStyle/>
          <a:p>
            <a:r>
              <a:rPr lang="en-US" sz="4400" b="1" dirty="0"/>
              <a:t>Case Study: Why is artificial intelligence important?</a:t>
            </a:r>
          </a:p>
        </p:txBody>
      </p:sp>
      <p:sp>
        <p:nvSpPr>
          <p:cNvPr id="3" name="Content Placeholder 2"/>
          <p:cNvSpPr>
            <a:spLocks noGrp="1"/>
          </p:cNvSpPr>
          <p:nvPr>
            <p:ph idx="1"/>
          </p:nvPr>
        </p:nvSpPr>
        <p:spPr>
          <a:xfrm>
            <a:off x="259307" y="1883390"/>
            <a:ext cx="11737075" cy="4230807"/>
          </a:xfrm>
        </p:spPr>
        <p:txBody>
          <a:bodyPr/>
          <a:lstStyle/>
          <a:p>
            <a:pPr algn="just">
              <a:lnSpc>
                <a:spcPct val="150000"/>
              </a:lnSpc>
              <a:buFont typeface="Wingdings" panose="05000000000000000000" pitchFamily="2" charset="2"/>
              <a:buChar char="§"/>
            </a:pPr>
            <a:r>
              <a:rPr lang="en-US" dirty="0"/>
              <a:t>AI allows business organizations to gain insights into their operations that they may not have been previously aware of. </a:t>
            </a:r>
            <a:endParaRPr lang="en-US" dirty="0" smtClean="0"/>
          </a:p>
          <a:p>
            <a:pPr algn="just">
              <a:lnSpc>
                <a:spcPct val="150000"/>
              </a:lnSpc>
              <a:buFont typeface="Wingdings" panose="05000000000000000000" pitchFamily="2" charset="2"/>
              <a:buChar char="§"/>
            </a:pPr>
            <a:r>
              <a:rPr lang="en-US" dirty="0" smtClean="0"/>
              <a:t>There </a:t>
            </a:r>
            <a:r>
              <a:rPr lang="en-US" dirty="0"/>
              <a:t>are numerous tasks that AI-enabled machines can perform better than humans. This has acted as the driving force for exploring new business opportunities</a:t>
            </a:r>
            <a:r>
              <a:rPr lang="en-US" dirty="0" smtClean="0"/>
              <a:t>.</a:t>
            </a:r>
          </a:p>
          <a:p>
            <a:pPr algn="just">
              <a:lnSpc>
                <a:spcPct val="150000"/>
              </a:lnSpc>
            </a:pPr>
            <a:r>
              <a:rPr lang="en-US" dirty="0" smtClean="0"/>
              <a:t>Example : </a:t>
            </a:r>
            <a:r>
              <a:rPr lang="en-US" dirty="0" err="1" smtClean="0"/>
              <a:t>Uber</a:t>
            </a:r>
            <a:r>
              <a:rPr lang="en-US" dirty="0"/>
              <a:t>, one of the largest companies in the world, is utilizing sophisticated machine learning algorithms to predict when people would need a greater number of rides in a particular area so that the company can get drivers on the road before they are </a:t>
            </a:r>
            <a:r>
              <a:rPr lang="en-US" dirty="0" smtClean="0"/>
              <a:t>needed.</a:t>
            </a:r>
            <a:endParaRPr lang="en-US" dirty="0"/>
          </a:p>
        </p:txBody>
      </p:sp>
    </p:spTree>
    <p:extLst>
      <p:ext uri="{BB962C8B-B14F-4D97-AF65-F5344CB8AC3E}">
        <p14:creationId xmlns:p14="http://schemas.microsoft.com/office/powerpoint/2010/main" val="3395755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64" y="368490"/>
            <a:ext cx="11546006" cy="791570"/>
          </a:xfrm>
        </p:spPr>
        <p:txBody>
          <a:bodyPr>
            <a:normAutofit fontScale="90000"/>
          </a:bodyPr>
          <a:lstStyle/>
          <a:p>
            <a:pPr algn="just"/>
            <a:r>
              <a:rPr lang="en-US" b="1" dirty="0"/>
              <a:t>Advantages and Disadvantages of Artificial Intelligence</a:t>
            </a:r>
          </a:p>
        </p:txBody>
      </p:sp>
      <p:sp>
        <p:nvSpPr>
          <p:cNvPr id="3" name="Content Placeholder 2"/>
          <p:cNvSpPr>
            <a:spLocks noGrp="1"/>
          </p:cNvSpPr>
          <p:nvPr>
            <p:ph idx="1"/>
          </p:nvPr>
        </p:nvSpPr>
        <p:spPr>
          <a:xfrm>
            <a:off x="218364" y="1255594"/>
            <a:ext cx="11586949" cy="4749421"/>
          </a:xfrm>
        </p:spPr>
        <p:txBody>
          <a:bodyPr>
            <a:noAutofit/>
          </a:bodyPr>
          <a:lstStyle/>
          <a:p>
            <a:r>
              <a:rPr lang="en-US" sz="2400" b="1" dirty="0"/>
              <a:t>Advantages</a:t>
            </a:r>
            <a:endParaRPr lang="en-US" sz="2400" dirty="0" smtClean="0"/>
          </a:p>
          <a:p>
            <a:r>
              <a:rPr lang="en-US" sz="2400" dirty="0" smtClean="0"/>
              <a:t>1. Performs </a:t>
            </a:r>
            <a:r>
              <a:rPr lang="en-US" sz="2400" dirty="0"/>
              <a:t>well on tasks that uses detailed data. </a:t>
            </a:r>
            <a:endParaRPr lang="en-US" sz="2400" dirty="0" smtClean="0"/>
          </a:p>
          <a:p>
            <a:r>
              <a:rPr lang="en-US" sz="2400" dirty="0" smtClean="0"/>
              <a:t>2</a:t>
            </a:r>
            <a:r>
              <a:rPr lang="en-US" sz="2400" dirty="0"/>
              <a:t>. Takes less time to perform tasks that needs to process huge volumes of data. </a:t>
            </a:r>
            <a:endParaRPr lang="en-US" sz="2400" dirty="0" smtClean="0"/>
          </a:p>
          <a:p>
            <a:r>
              <a:rPr lang="en-US" sz="2400" dirty="0" smtClean="0"/>
              <a:t>3</a:t>
            </a:r>
            <a:r>
              <a:rPr lang="en-US" sz="2400" dirty="0"/>
              <a:t>. Generates consistent and accurate results. </a:t>
            </a:r>
            <a:endParaRPr lang="en-US" sz="2400" dirty="0" smtClean="0"/>
          </a:p>
          <a:p>
            <a:r>
              <a:rPr lang="en-US" sz="2400" dirty="0" smtClean="0"/>
              <a:t>4</a:t>
            </a:r>
            <a:r>
              <a:rPr lang="en-US" sz="2400" dirty="0"/>
              <a:t>. Can be used 24 X 7. </a:t>
            </a:r>
            <a:endParaRPr lang="en-US" sz="2400" dirty="0" smtClean="0"/>
          </a:p>
          <a:p>
            <a:r>
              <a:rPr lang="en-US" sz="2400" dirty="0" smtClean="0"/>
              <a:t>5</a:t>
            </a:r>
            <a:r>
              <a:rPr lang="en-US" sz="2400" dirty="0"/>
              <a:t>. Optimizes tasks by better utilizing resources. </a:t>
            </a:r>
            <a:endParaRPr lang="en-US" sz="2400" dirty="0" smtClean="0"/>
          </a:p>
          <a:p>
            <a:r>
              <a:rPr lang="en-US" sz="2400" dirty="0" smtClean="0"/>
              <a:t>6</a:t>
            </a:r>
            <a:r>
              <a:rPr lang="en-US" sz="2400" dirty="0"/>
              <a:t>. Automates complex processes. </a:t>
            </a:r>
            <a:endParaRPr lang="en-US" sz="2400" dirty="0" smtClean="0"/>
          </a:p>
          <a:p>
            <a:r>
              <a:rPr lang="en-US" sz="2400" dirty="0" smtClean="0"/>
              <a:t>7</a:t>
            </a:r>
            <a:r>
              <a:rPr lang="en-US" sz="2400" dirty="0"/>
              <a:t>. Minimizes downtime by predicting maintenance needs. </a:t>
            </a:r>
            <a:endParaRPr lang="en-US" sz="2400" dirty="0" smtClean="0"/>
          </a:p>
          <a:p>
            <a:r>
              <a:rPr lang="en-US" sz="2400" dirty="0" smtClean="0"/>
              <a:t>8</a:t>
            </a:r>
            <a:r>
              <a:rPr lang="en-US" sz="2400" dirty="0"/>
              <a:t>. Enables companies to produce new products having better quality and speed.</a:t>
            </a:r>
          </a:p>
        </p:txBody>
      </p:sp>
    </p:spTree>
    <p:extLst>
      <p:ext uri="{BB962C8B-B14F-4D97-AF65-F5344CB8AC3E}">
        <p14:creationId xmlns:p14="http://schemas.microsoft.com/office/powerpoint/2010/main" val="28984172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947" y="2064097"/>
            <a:ext cx="11322183" cy="3053813"/>
          </a:xfrm>
        </p:spPr>
        <p:txBody>
          <a:bodyPr>
            <a:noAutofit/>
          </a:bodyPr>
          <a:lstStyle/>
          <a:p>
            <a:r>
              <a:rPr lang="en-US" sz="2400" b="1" dirty="0" smtClean="0"/>
              <a:t>Disadvantages</a:t>
            </a:r>
          </a:p>
          <a:p>
            <a:r>
              <a:rPr lang="en-US" sz="2400" dirty="0" smtClean="0"/>
              <a:t>1. Involves </a:t>
            </a:r>
            <a:r>
              <a:rPr lang="en-US" sz="2400" dirty="0"/>
              <a:t>more cost. </a:t>
            </a:r>
            <a:endParaRPr lang="en-US" sz="2400" dirty="0" smtClean="0"/>
          </a:p>
          <a:p>
            <a:r>
              <a:rPr lang="en-US" sz="2400" dirty="0" smtClean="0"/>
              <a:t>2</a:t>
            </a:r>
            <a:r>
              <a:rPr lang="en-US" sz="2400" dirty="0"/>
              <a:t>. Technical expertise required to develop and use AI applications. </a:t>
            </a:r>
            <a:endParaRPr lang="en-US" sz="2400" dirty="0" smtClean="0"/>
          </a:p>
          <a:p>
            <a:r>
              <a:rPr lang="en-US" sz="2400" dirty="0" smtClean="0"/>
              <a:t>3</a:t>
            </a:r>
            <a:r>
              <a:rPr lang="en-US" sz="2400" dirty="0"/>
              <a:t>. Lack of trained professionals. </a:t>
            </a:r>
            <a:endParaRPr lang="en-US" sz="2400" dirty="0" smtClean="0"/>
          </a:p>
          <a:p>
            <a:r>
              <a:rPr lang="en-US" sz="2400" dirty="0" smtClean="0"/>
              <a:t>4</a:t>
            </a:r>
            <a:r>
              <a:rPr lang="en-US" sz="2400" dirty="0"/>
              <a:t>. Incomplete or inaccurate data may result in disastrous results. </a:t>
            </a:r>
            <a:endParaRPr lang="en-US" sz="2400" dirty="0" smtClean="0"/>
          </a:p>
          <a:p>
            <a:r>
              <a:rPr lang="en-US" sz="2400" dirty="0" smtClean="0"/>
              <a:t>5</a:t>
            </a:r>
            <a:r>
              <a:rPr lang="en-US" sz="2400" dirty="0"/>
              <a:t>. Lacks the capability to generalize tasks.</a:t>
            </a:r>
            <a:endParaRPr lang="en-US" sz="2400" b="1" dirty="0"/>
          </a:p>
        </p:txBody>
      </p:sp>
      <p:sp>
        <p:nvSpPr>
          <p:cNvPr id="4" name="Title 1"/>
          <p:cNvSpPr>
            <a:spLocks noGrp="1"/>
          </p:cNvSpPr>
          <p:nvPr>
            <p:ph type="title"/>
          </p:nvPr>
        </p:nvSpPr>
        <p:spPr>
          <a:xfrm>
            <a:off x="218364" y="368490"/>
            <a:ext cx="11546006" cy="791570"/>
          </a:xfrm>
        </p:spPr>
        <p:txBody>
          <a:bodyPr>
            <a:normAutofit fontScale="90000"/>
          </a:bodyPr>
          <a:lstStyle/>
          <a:p>
            <a:pPr algn="just"/>
            <a:r>
              <a:rPr lang="en-US" b="1" dirty="0"/>
              <a:t>Advantages and Disadvantages of Artificial Intelligence</a:t>
            </a:r>
          </a:p>
        </p:txBody>
      </p:sp>
    </p:spTree>
    <p:extLst>
      <p:ext uri="{BB962C8B-B14F-4D97-AF65-F5344CB8AC3E}">
        <p14:creationId xmlns:p14="http://schemas.microsoft.com/office/powerpoint/2010/main" val="1751684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7FC751-35B9-B344-01DD-F7A0A4ACF9E8}"/>
              </a:ext>
            </a:extLst>
          </p:cNvPr>
          <p:cNvSpPr>
            <a:spLocks noGrp="1"/>
          </p:cNvSpPr>
          <p:nvPr>
            <p:ph type="title"/>
          </p:nvPr>
        </p:nvSpPr>
        <p:spPr>
          <a:xfrm>
            <a:off x="466297" y="174312"/>
            <a:ext cx="10058400" cy="685498"/>
          </a:xfrm>
        </p:spPr>
        <p:txBody>
          <a:bodyPr>
            <a:normAutofit fontScale="90000"/>
          </a:bodyPr>
          <a:lstStyle/>
          <a:p>
            <a:r>
              <a:rPr lang="en-IN" dirty="0">
                <a:latin typeface="Times New Roman" panose="02020603050405020304" pitchFamily="18" charset="0"/>
                <a:cs typeface="Times New Roman" panose="02020603050405020304" pitchFamily="18" charset="0"/>
              </a:rPr>
              <a:t>History of AI</a:t>
            </a:r>
          </a:p>
        </p:txBody>
      </p:sp>
      <p:pic>
        <p:nvPicPr>
          <p:cNvPr id="3" name="Picture 2"/>
          <p:cNvPicPr>
            <a:picLocks noChangeAspect="1"/>
          </p:cNvPicPr>
          <p:nvPr/>
        </p:nvPicPr>
        <p:blipFill rotWithShape="1">
          <a:blip r:embed="rId2"/>
          <a:srcRect r="9011"/>
          <a:stretch/>
        </p:blipFill>
        <p:spPr>
          <a:xfrm>
            <a:off x="351642" y="1083575"/>
            <a:ext cx="11412728" cy="4991100"/>
          </a:xfrm>
          <a:prstGeom prst="rect">
            <a:avLst/>
          </a:prstGeom>
        </p:spPr>
      </p:pic>
    </p:spTree>
    <p:extLst>
      <p:ext uri="{BB962C8B-B14F-4D97-AF65-F5344CB8AC3E}">
        <p14:creationId xmlns:p14="http://schemas.microsoft.com/office/powerpoint/2010/main" val="6965702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8DD8FC-BE32-C71E-A78A-C10763411286}"/>
              </a:ext>
            </a:extLst>
          </p:cNvPr>
          <p:cNvSpPr>
            <a:spLocks noGrp="1"/>
          </p:cNvSpPr>
          <p:nvPr>
            <p:ph type="title"/>
          </p:nvPr>
        </p:nvSpPr>
        <p:spPr>
          <a:xfrm>
            <a:off x="1097280" y="286603"/>
            <a:ext cx="10058400" cy="1316055"/>
          </a:xfrm>
        </p:spPr>
        <p:txBody>
          <a:bodyPr>
            <a:normAutofit/>
          </a:bodyPr>
          <a:lstStyle/>
          <a:p>
            <a:r>
              <a:rPr lang="en-IN" sz="4000" dirty="0">
                <a:latin typeface="Times New Roman" panose="02020603050405020304" pitchFamily="18" charset="0"/>
                <a:cs typeface="Times New Roman" panose="02020603050405020304" pitchFamily="18" charset="0"/>
              </a:rPr>
              <a:t>Types of AI</a:t>
            </a:r>
          </a:p>
        </p:txBody>
      </p:sp>
      <p:pic>
        <p:nvPicPr>
          <p:cNvPr id="4" name="Picture 3"/>
          <p:cNvPicPr>
            <a:picLocks noChangeAspect="1"/>
          </p:cNvPicPr>
          <p:nvPr/>
        </p:nvPicPr>
        <p:blipFill>
          <a:blip r:embed="rId2"/>
          <a:stretch>
            <a:fillRect/>
          </a:stretch>
        </p:blipFill>
        <p:spPr>
          <a:xfrm>
            <a:off x="504967" y="2139926"/>
            <a:ext cx="10241279" cy="3946976"/>
          </a:xfrm>
          <a:prstGeom prst="rect">
            <a:avLst/>
          </a:prstGeom>
        </p:spPr>
      </p:pic>
    </p:spTree>
    <p:extLst>
      <p:ext uri="{BB962C8B-B14F-4D97-AF65-F5344CB8AC3E}">
        <p14:creationId xmlns:p14="http://schemas.microsoft.com/office/powerpoint/2010/main" val="41132577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DF4C9EF-EAA8-5571-B5A9-2148526E86C4}"/>
              </a:ext>
            </a:extLst>
          </p:cNvPr>
          <p:cNvSpPr>
            <a:spLocks noGrp="1"/>
          </p:cNvSpPr>
          <p:nvPr>
            <p:ph idx="1"/>
          </p:nvPr>
        </p:nvSpPr>
        <p:spPr>
          <a:xfrm>
            <a:off x="354841" y="464024"/>
            <a:ext cx="10882725" cy="5527900"/>
          </a:xfrm>
        </p:spPr>
        <p:txBody>
          <a:bodyPr>
            <a:normAutofit/>
          </a:bodyPr>
          <a:lstStyle/>
          <a:p>
            <a:pPr marL="0" indent="0" algn="just">
              <a:lnSpc>
                <a:spcPct val="150000"/>
              </a:lnSpc>
              <a:buNone/>
            </a:pPr>
            <a:r>
              <a:rPr lang="en-US" sz="2800" dirty="0">
                <a:cs typeface="Times New Roman" panose="02020603050405020304" pitchFamily="18" charset="0"/>
              </a:rPr>
              <a:t>1</a:t>
            </a:r>
            <a:r>
              <a:rPr lang="en-US" sz="2800" b="1" dirty="0">
                <a:cs typeface="Times New Roman" panose="02020603050405020304" pitchFamily="18" charset="0"/>
              </a:rPr>
              <a:t>. Weak AI or Narrow AI</a:t>
            </a:r>
            <a:r>
              <a:rPr lang="en-US" sz="2800" b="1" dirty="0"/>
              <a:t>:</a:t>
            </a:r>
            <a:endParaRPr lang="en-US" sz="2800" b="1" dirty="0" smtClean="0">
              <a:cs typeface="Times New Roman" panose="02020603050405020304" pitchFamily="18" charset="0"/>
            </a:endParaRPr>
          </a:p>
          <a:p>
            <a:pPr algn="just">
              <a:lnSpc>
                <a:spcPct val="150000"/>
              </a:lnSpc>
              <a:buFont typeface="Calibri" panose="020F0502020204030204" pitchFamily="34" charset="0"/>
              <a:buChar char="*"/>
            </a:pPr>
            <a:r>
              <a:rPr lang="en-US" dirty="0" smtClean="0">
                <a:cs typeface="Times New Roman" panose="02020603050405020304" pitchFamily="18" charset="0"/>
              </a:rPr>
              <a:t> </a:t>
            </a:r>
            <a:r>
              <a:rPr lang="en-US" dirty="0">
                <a:cs typeface="Times New Roman" panose="02020603050405020304" pitchFamily="18" charset="0"/>
              </a:rPr>
              <a:t>Narrow AI is a type of AI which is able to perform a </a:t>
            </a:r>
            <a:r>
              <a:rPr lang="en-US" dirty="0" smtClean="0">
                <a:cs typeface="Times New Roman" panose="02020603050405020304" pitchFamily="18" charset="0"/>
              </a:rPr>
              <a:t>dedicated task </a:t>
            </a:r>
            <a:r>
              <a:rPr lang="en-US" dirty="0">
                <a:cs typeface="Times New Roman" panose="02020603050405020304" pitchFamily="18" charset="0"/>
              </a:rPr>
              <a:t>with intelligence. The most common and </a:t>
            </a:r>
            <a:r>
              <a:rPr lang="en-US" dirty="0" smtClean="0">
                <a:cs typeface="Times New Roman" panose="02020603050405020304" pitchFamily="18" charset="0"/>
              </a:rPr>
              <a:t>currently available </a:t>
            </a:r>
            <a:r>
              <a:rPr lang="en-US" dirty="0">
                <a:cs typeface="Times New Roman" panose="02020603050405020304" pitchFamily="18" charset="0"/>
              </a:rPr>
              <a:t>AI is Narrow AI in the world of Artificial Intelligence.</a:t>
            </a:r>
          </a:p>
          <a:p>
            <a:pPr algn="just">
              <a:lnSpc>
                <a:spcPct val="150000"/>
              </a:lnSpc>
              <a:buFont typeface="Calibri" panose="020F0502020204030204" pitchFamily="34" charset="0"/>
              <a:buChar char="*"/>
            </a:pPr>
            <a:r>
              <a:rPr lang="en-IN" dirty="0">
                <a:cs typeface="Times New Roman" panose="02020603050405020304" pitchFamily="18" charset="0"/>
              </a:rPr>
              <a:t> Example: </a:t>
            </a:r>
            <a:r>
              <a:rPr lang="en-US" dirty="0">
                <a:cs typeface="Times New Roman" panose="02020603050405020304" pitchFamily="18" charset="0"/>
              </a:rPr>
              <a:t>Apple Siris </a:t>
            </a:r>
          </a:p>
          <a:p>
            <a:pPr marL="0" indent="0" algn="just">
              <a:lnSpc>
                <a:spcPct val="150000"/>
              </a:lnSpc>
              <a:buNone/>
            </a:pPr>
            <a:r>
              <a:rPr lang="en-IN" sz="2800" b="1" dirty="0">
                <a:cs typeface="Times New Roman" panose="02020603050405020304" pitchFamily="18" charset="0"/>
              </a:rPr>
              <a:t>2. General AI:</a:t>
            </a:r>
          </a:p>
          <a:p>
            <a:pPr algn="just">
              <a:lnSpc>
                <a:spcPct val="150000"/>
              </a:lnSpc>
              <a:buFont typeface="Calibri" panose="020F0502020204030204" pitchFamily="34" charset="0"/>
              <a:buChar char="*"/>
            </a:pPr>
            <a:r>
              <a:rPr lang="en-US" dirty="0">
                <a:cs typeface="Times New Roman" panose="02020603050405020304" pitchFamily="18" charset="0"/>
              </a:rPr>
              <a:t> The idea behind the general AI to make such a system </a:t>
            </a:r>
            <a:r>
              <a:rPr lang="en-US" dirty="0" smtClean="0">
                <a:cs typeface="Times New Roman" panose="02020603050405020304" pitchFamily="18" charset="0"/>
              </a:rPr>
              <a:t>which could </a:t>
            </a:r>
            <a:r>
              <a:rPr lang="en-US" dirty="0">
                <a:cs typeface="Times New Roman" panose="02020603050405020304" pitchFamily="18" charset="0"/>
              </a:rPr>
              <a:t>be smarter and think like a human by its own.</a:t>
            </a:r>
          </a:p>
          <a:p>
            <a:pPr algn="just">
              <a:lnSpc>
                <a:spcPct val="150000"/>
              </a:lnSpc>
              <a:buFont typeface="Calibri" panose="020F0502020204030204" pitchFamily="34" charset="0"/>
              <a:buChar char="*"/>
            </a:pPr>
            <a:r>
              <a:rPr lang="en-US" dirty="0">
                <a:cs typeface="Times New Roman" panose="02020603050405020304" pitchFamily="18" charset="0"/>
              </a:rPr>
              <a:t> As systems with general AI are still under research, and it </a:t>
            </a:r>
            <a:r>
              <a:rPr lang="en-US" dirty="0" smtClean="0">
                <a:cs typeface="Times New Roman" panose="02020603050405020304" pitchFamily="18" charset="0"/>
              </a:rPr>
              <a:t>will take </a:t>
            </a:r>
            <a:r>
              <a:rPr lang="en-US" dirty="0">
                <a:cs typeface="Times New Roman" panose="02020603050405020304" pitchFamily="18" charset="0"/>
              </a:rPr>
              <a:t>lots of efforts and time to develop such systems.</a:t>
            </a:r>
            <a:endParaRPr lang="en-IN" dirty="0">
              <a:cs typeface="Times New Roman" panose="02020603050405020304" pitchFamily="18" charset="0"/>
            </a:endParaRPr>
          </a:p>
          <a:p>
            <a:pPr marL="0" indent="0" algn="just">
              <a:lnSpc>
                <a:spcPct val="150000"/>
              </a:lnSpc>
              <a:buNone/>
            </a:pPr>
            <a:endParaRPr lang="en-IN" dirty="0">
              <a:cs typeface="Times New Roman" panose="02020603050405020304" pitchFamily="18" charset="0"/>
            </a:endParaRPr>
          </a:p>
          <a:p>
            <a:pPr marL="0" indent="0" algn="just">
              <a:lnSpc>
                <a:spcPct val="150000"/>
              </a:lnSpc>
              <a:buNone/>
            </a:pPr>
            <a:endParaRPr lang="en-IN" sz="3200" dirty="0">
              <a:cs typeface="Times New Roman" panose="02020603050405020304" pitchFamily="18" charset="0"/>
            </a:endParaRPr>
          </a:p>
          <a:p>
            <a:pPr marL="0" indent="0" algn="just">
              <a:lnSpc>
                <a:spcPct val="150000"/>
              </a:lnSpc>
              <a:buNone/>
            </a:pPr>
            <a:endParaRPr lang="en-US" sz="3200" dirty="0">
              <a:cs typeface="Times New Roman" panose="02020603050405020304" pitchFamily="18" charset="0"/>
            </a:endParaRPr>
          </a:p>
        </p:txBody>
      </p:sp>
    </p:spTree>
    <p:extLst>
      <p:ext uri="{BB962C8B-B14F-4D97-AF65-F5344CB8AC3E}">
        <p14:creationId xmlns:p14="http://schemas.microsoft.com/office/powerpoint/2010/main" val="28814926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1A3B8F6-5C89-AD3D-9712-DC15B1DBEADE}"/>
              </a:ext>
            </a:extLst>
          </p:cNvPr>
          <p:cNvSpPr>
            <a:spLocks noGrp="1"/>
          </p:cNvSpPr>
          <p:nvPr>
            <p:ph idx="1"/>
          </p:nvPr>
        </p:nvSpPr>
        <p:spPr>
          <a:xfrm>
            <a:off x="395786" y="491318"/>
            <a:ext cx="11505062" cy="5090615"/>
          </a:xfrm>
        </p:spPr>
        <p:txBody>
          <a:bodyPr/>
          <a:lstStyle/>
          <a:p>
            <a:pPr marL="0" indent="0" algn="just">
              <a:lnSpc>
                <a:spcPct val="150000"/>
              </a:lnSpc>
              <a:buNone/>
            </a:pPr>
            <a:r>
              <a:rPr lang="en-IN" sz="2400" b="1" dirty="0" smtClean="0">
                <a:cs typeface="Times New Roman" panose="02020603050405020304" pitchFamily="18" charset="0"/>
              </a:rPr>
              <a:t>3. </a:t>
            </a:r>
            <a:r>
              <a:rPr lang="en-IN" sz="2800" b="1" dirty="0" smtClean="0">
                <a:cs typeface="Times New Roman" panose="02020603050405020304" pitchFamily="18" charset="0"/>
              </a:rPr>
              <a:t>Strong </a:t>
            </a:r>
            <a:r>
              <a:rPr lang="en-IN" sz="2800" b="1" dirty="0">
                <a:cs typeface="Times New Roman" panose="02020603050405020304" pitchFamily="18" charset="0"/>
              </a:rPr>
              <a:t>AI/ Super AI</a:t>
            </a:r>
            <a:r>
              <a:rPr lang="en-IN" dirty="0" smtClean="0">
                <a:cs typeface="Times New Roman" panose="02020603050405020304" pitchFamily="18" charset="0"/>
              </a:rPr>
              <a:t>:</a:t>
            </a:r>
          </a:p>
          <a:p>
            <a:pPr algn="just">
              <a:lnSpc>
                <a:spcPct val="150000"/>
              </a:lnSpc>
              <a:buFont typeface="Wingdings" panose="05000000000000000000" pitchFamily="2" charset="2"/>
              <a:buChar char="§"/>
            </a:pPr>
            <a:r>
              <a:rPr lang="en-US" dirty="0" smtClean="0">
                <a:cs typeface="Times New Roman" panose="02020603050405020304" pitchFamily="18" charset="0"/>
              </a:rPr>
              <a:t> Super </a:t>
            </a:r>
            <a:r>
              <a:rPr lang="en-US" dirty="0">
                <a:cs typeface="Times New Roman" panose="02020603050405020304" pitchFamily="18" charset="0"/>
              </a:rPr>
              <a:t>AI is a level of Intelligence of Systems at which </a:t>
            </a:r>
            <a:r>
              <a:rPr lang="en-US" dirty="0" smtClean="0">
                <a:cs typeface="Times New Roman" panose="02020603050405020304" pitchFamily="18" charset="0"/>
              </a:rPr>
              <a:t>machines could </a:t>
            </a:r>
            <a:r>
              <a:rPr lang="en-US" dirty="0">
                <a:cs typeface="Times New Roman" panose="02020603050405020304" pitchFamily="18" charset="0"/>
              </a:rPr>
              <a:t>surpass human intelligence, and can perform any </a:t>
            </a:r>
            <a:r>
              <a:rPr lang="en-US" dirty="0" smtClean="0">
                <a:cs typeface="Times New Roman" panose="02020603050405020304" pitchFamily="18" charset="0"/>
              </a:rPr>
              <a:t>task better </a:t>
            </a:r>
            <a:r>
              <a:rPr lang="en-US" dirty="0">
                <a:cs typeface="Times New Roman" panose="02020603050405020304" pitchFamily="18" charset="0"/>
              </a:rPr>
              <a:t>than human with cognitive properties. </a:t>
            </a:r>
            <a:r>
              <a:rPr lang="en-US" dirty="0" smtClean="0">
                <a:cs typeface="Times New Roman" panose="02020603050405020304" pitchFamily="18" charset="0"/>
              </a:rPr>
              <a:t>It </a:t>
            </a:r>
            <a:r>
              <a:rPr lang="en-US" dirty="0">
                <a:cs typeface="Times New Roman" panose="02020603050405020304" pitchFamily="18" charset="0"/>
              </a:rPr>
              <a:t>is an outcome </a:t>
            </a:r>
            <a:r>
              <a:rPr lang="en-US" dirty="0" smtClean="0">
                <a:cs typeface="Times New Roman" panose="02020603050405020304" pitchFamily="18" charset="0"/>
              </a:rPr>
              <a:t>of </a:t>
            </a:r>
            <a:r>
              <a:rPr lang="en-IN" dirty="0" smtClean="0">
                <a:cs typeface="Times New Roman" panose="02020603050405020304" pitchFamily="18" charset="0"/>
              </a:rPr>
              <a:t>general </a:t>
            </a:r>
            <a:r>
              <a:rPr lang="en-IN" dirty="0">
                <a:cs typeface="Times New Roman" panose="02020603050405020304" pitchFamily="18" charset="0"/>
              </a:rPr>
              <a:t>AI</a:t>
            </a:r>
            <a:r>
              <a:rPr lang="en-IN" dirty="0" smtClean="0"/>
              <a:t>.</a:t>
            </a:r>
          </a:p>
          <a:p>
            <a:pPr algn="just">
              <a:lnSpc>
                <a:spcPct val="150000"/>
              </a:lnSpc>
              <a:buFont typeface="Wingdings" panose="05000000000000000000" pitchFamily="2" charset="2"/>
              <a:buChar char="§"/>
            </a:pPr>
            <a:r>
              <a:rPr lang="en-US" dirty="0" smtClean="0"/>
              <a:t> Strong </a:t>
            </a:r>
            <a:r>
              <a:rPr lang="en-US" dirty="0"/>
              <a:t>AI, also known as artificial general intelligence or artificial super intelligence (ASI) or </a:t>
            </a:r>
            <a:r>
              <a:rPr lang="en-US" dirty="0" err="1"/>
              <a:t>superintelligence</a:t>
            </a:r>
            <a:r>
              <a:rPr lang="en-US" dirty="0"/>
              <a:t>, makes full attempt to resemble the human brain. </a:t>
            </a:r>
            <a:endParaRPr lang="en-US" dirty="0" smtClean="0"/>
          </a:p>
          <a:p>
            <a:pPr algn="just">
              <a:lnSpc>
                <a:spcPct val="150000"/>
              </a:lnSpc>
              <a:buFont typeface="Wingdings" panose="05000000000000000000" pitchFamily="2" charset="2"/>
              <a:buChar char="§"/>
            </a:pPr>
            <a:r>
              <a:rPr lang="en-US" dirty="0" smtClean="0"/>
              <a:t>It </a:t>
            </a:r>
            <a:r>
              <a:rPr lang="en-US" dirty="0"/>
              <a:t>utilizes cognitive skills and fuzzy logic to perform tasks for which it had not been trained earlier. Such a system needs capability for visual perception, speech recognition, decision-making and translations between languages.</a:t>
            </a:r>
            <a:endParaRPr lang="en-IN" dirty="0" smtClean="0"/>
          </a:p>
          <a:p>
            <a:pPr marL="0" indent="0" algn="just">
              <a:lnSpc>
                <a:spcPct val="150000"/>
              </a:lnSpc>
              <a:buNone/>
            </a:pPr>
            <a:endParaRPr lang="en-IN" dirty="0"/>
          </a:p>
        </p:txBody>
      </p:sp>
    </p:spTree>
    <p:extLst>
      <p:ext uri="{BB962C8B-B14F-4D97-AF65-F5344CB8AC3E}">
        <p14:creationId xmlns:p14="http://schemas.microsoft.com/office/powerpoint/2010/main" val="36865210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89128" y="482150"/>
            <a:ext cx="11366311" cy="5440978"/>
          </a:xfrm>
          <a:prstGeom prst="rect">
            <a:avLst/>
          </a:prstGeom>
        </p:spPr>
      </p:pic>
    </p:spTree>
    <p:extLst>
      <p:ext uri="{BB962C8B-B14F-4D97-AF65-F5344CB8AC3E}">
        <p14:creationId xmlns:p14="http://schemas.microsoft.com/office/powerpoint/2010/main" val="24592953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derstanding the Possibility of Strong AI Develop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06" y="297406"/>
            <a:ext cx="11567851" cy="576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8992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69" y="191069"/>
            <a:ext cx="11873552" cy="6005014"/>
          </a:xfrm>
        </p:spPr>
        <p:txBody>
          <a:bodyPr>
            <a:noAutofit/>
          </a:bodyPr>
          <a:lstStyle/>
          <a:p>
            <a:pPr algn="just">
              <a:lnSpc>
                <a:spcPct val="160000"/>
              </a:lnSpc>
            </a:pPr>
            <a:r>
              <a:rPr lang="en-US" sz="1800" b="1" dirty="0" smtClean="0"/>
              <a:t>1. Reactive Machines: </a:t>
            </a:r>
          </a:p>
          <a:p>
            <a:pPr algn="just">
              <a:lnSpc>
                <a:spcPct val="160000"/>
              </a:lnSpc>
              <a:buFont typeface="Arial" panose="020B0604020202020204" pitchFamily="34" charset="0"/>
              <a:buChar char="•"/>
            </a:pPr>
            <a:r>
              <a:rPr lang="en-US" sz="1800" dirty="0"/>
              <a:t>Reactive machines are very basic machines with no memory to store and thus use past experiences to determine future actions</a:t>
            </a:r>
            <a:r>
              <a:rPr lang="en-US" sz="1800" dirty="0" smtClean="0"/>
              <a:t>.</a:t>
            </a:r>
          </a:p>
          <a:p>
            <a:pPr algn="just">
              <a:lnSpc>
                <a:spcPct val="160000"/>
              </a:lnSpc>
              <a:buFont typeface="Arial" panose="020B0604020202020204" pitchFamily="34" charset="0"/>
              <a:buChar char="•"/>
            </a:pPr>
            <a:r>
              <a:rPr lang="en-US" sz="1800" dirty="0"/>
              <a:t>The AI system sees the pieces on a chess board and responds without referring to any of its prior experiences. </a:t>
            </a:r>
            <a:endParaRPr lang="en-US" sz="1800" dirty="0" smtClean="0"/>
          </a:p>
          <a:p>
            <a:pPr algn="just">
              <a:lnSpc>
                <a:spcPct val="160000"/>
              </a:lnSpc>
              <a:buFont typeface="Arial" panose="020B0604020202020204" pitchFamily="34" charset="0"/>
              <a:buChar char="•"/>
            </a:pPr>
            <a:r>
              <a:rPr lang="en-US" sz="1800" dirty="0" smtClean="0"/>
              <a:t>Since </a:t>
            </a:r>
            <a:r>
              <a:rPr lang="en-US" sz="1800" dirty="0"/>
              <a:t>it lacks capabilities to store past experiences, a reactive machine cannot improve with </a:t>
            </a:r>
            <a:r>
              <a:rPr lang="en-US" sz="1800" dirty="0" smtClean="0"/>
              <a:t>practice</a:t>
            </a:r>
          </a:p>
          <a:p>
            <a:pPr algn="just">
              <a:lnSpc>
                <a:spcPct val="160000"/>
              </a:lnSpc>
              <a:buFont typeface="Arial" panose="020B0604020202020204" pitchFamily="34" charset="0"/>
              <a:buChar char="•"/>
            </a:pPr>
            <a:r>
              <a:rPr lang="en-US" sz="1800" dirty="0"/>
              <a:t>Reactive machines can perform only a limited number of specialized tasks. Such machines are more trustworthy and reliable as they react the same way to the same stimuli every time</a:t>
            </a:r>
            <a:r>
              <a:rPr lang="en-US" sz="1800" dirty="0" smtClean="0"/>
              <a:t>.</a:t>
            </a:r>
          </a:p>
          <a:p>
            <a:pPr algn="just">
              <a:lnSpc>
                <a:spcPct val="160000"/>
              </a:lnSpc>
              <a:buFont typeface="Arial" panose="020B0604020202020204" pitchFamily="34" charset="0"/>
              <a:buChar char="•"/>
            </a:pPr>
            <a:r>
              <a:rPr lang="en-US" sz="1800" dirty="0"/>
              <a:t>Examples : </a:t>
            </a:r>
            <a:endParaRPr lang="en-US" sz="1800" dirty="0" smtClean="0"/>
          </a:p>
          <a:p>
            <a:pPr lvl="1" algn="just">
              <a:lnSpc>
                <a:spcPct val="160000"/>
              </a:lnSpc>
              <a:buFont typeface="Arial" panose="020B0604020202020204" pitchFamily="34" charset="0"/>
              <a:buChar char="•"/>
            </a:pPr>
            <a:r>
              <a:rPr lang="en-US" sz="1600" dirty="0" smtClean="0"/>
              <a:t>Deep </a:t>
            </a:r>
            <a:r>
              <a:rPr lang="en-US" sz="1600" dirty="0"/>
              <a:t>Blue could only identify the pieces on a chess board and compute its next move based on the rules of chess and the present positions</a:t>
            </a:r>
            <a:r>
              <a:rPr lang="en-US" sz="1600" dirty="0" smtClean="0"/>
              <a:t>.</a:t>
            </a:r>
          </a:p>
          <a:p>
            <a:pPr lvl="1" algn="just">
              <a:lnSpc>
                <a:spcPct val="160000"/>
              </a:lnSpc>
              <a:buFont typeface="Arial" panose="020B0604020202020204" pitchFamily="34" charset="0"/>
              <a:buChar char="•"/>
            </a:pPr>
            <a:r>
              <a:rPr lang="en-US" dirty="0"/>
              <a:t>Google’s </a:t>
            </a:r>
            <a:r>
              <a:rPr lang="en-US" dirty="0" err="1"/>
              <a:t>AlphaGo</a:t>
            </a:r>
            <a:r>
              <a:rPr lang="en-US" dirty="0"/>
              <a:t> is another example of a game-playing reactive machine.</a:t>
            </a:r>
            <a:endParaRPr lang="en-US" sz="1600" dirty="0"/>
          </a:p>
        </p:txBody>
      </p:sp>
    </p:spTree>
    <p:extLst>
      <p:ext uri="{BB962C8B-B14F-4D97-AF65-F5344CB8AC3E}">
        <p14:creationId xmlns:p14="http://schemas.microsoft.com/office/powerpoint/2010/main" val="40544208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16" y="177421"/>
            <a:ext cx="11818962" cy="6100549"/>
          </a:xfrm>
        </p:spPr>
        <p:txBody>
          <a:bodyPr>
            <a:normAutofit fontScale="92500" lnSpcReduction="20000"/>
          </a:bodyPr>
          <a:lstStyle/>
          <a:p>
            <a:pPr>
              <a:lnSpc>
                <a:spcPct val="150000"/>
              </a:lnSpc>
            </a:pPr>
            <a:r>
              <a:rPr lang="en-US" sz="2400" b="1" dirty="0" smtClean="0"/>
              <a:t>2. Limited Memory :</a:t>
            </a:r>
          </a:p>
          <a:p>
            <a:pPr>
              <a:lnSpc>
                <a:spcPct val="150000"/>
              </a:lnSpc>
              <a:buFont typeface="Wingdings" panose="05000000000000000000" pitchFamily="2" charset="2"/>
              <a:buChar char="§"/>
            </a:pPr>
            <a:r>
              <a:rPr lang="en-US" sz="2400" dirty="0"/>
              <a:t>Limited memory machines retain data but only for a short period of time and can use it only for a limited time. </a:t>
            </a:r>
            <a:endParaRPr lang="en-US" sz="2400" dirty="0" smtClean="0"/>
          </a:p>
          <a:p>
            <a:pPr>
              <a:lnSpc>
                <a:spcPct val="150000"/>
              </a:lnSpc>
              <a:buFont typeface="Wingdings" panose="05000000000000000000" pitchFamily="2" charset="2"/>
              <a:buChar char="§"/>
            </a:pPr>
            <a:endParaRPr lang="en-US" sz="2400" dirty="0"/>
          </a:p>
          <a:p>
            <a:pPr>
              <a:lnSpc>
                <a:spcPct val="150000"/>
              </a:lnSpc>
              <a:buFont typeface="Wingdings" panose="05000000000000000000" pitchFamily="2" charset="2"/>
              <a:buChar char="§"/>
            </a:pPr>
            <a:r>
              <a:rPr lang="en-US" sz="2400" dirty="0" smtClean="0"/>
              <a:t>They </a:t>
            </a:r>
            <a:r>
              <a:rPr lang="en-US" sz="2400" dirty="0"/>
              <a:t>cannot keep adding data permanently to a library of their experiences. </a:t>
            </a:r>
            <a:endParaRPr lang="en-US" sz="2400" dirty="0" smtClean="0"/>
          </a:p>
          <a:p>
            <a:pPr>
              <a:lnSpc>
                <a:spcPct val="150000"/>
              </a:lnSpc>
              <a:buFont typeface="Wingdings" panose="05000000000000000000" pitchFamily="2" charset="2"/>
              <a:buChar char="§"/>
            </a:pPr>
            <a:r>
              <a:rPr lang="en-US" sz="2400" dirty="0" smtClean="0"/>
              <a:t>Such </a:t>
            </a:r>
            <a:r>
              <a:rPr lang="en-US" sz="2400" dirty="0"/>
              <a:t>systems are usually used in autonomous vehicles since they need not store data </a:t>
            </a:r>
            <a:r>
              <a:rPr lang="en-US" sz="2400" dirty="0" smtClean="0"/>
              <a:t>that </a:t>
            </a:r>
            <a:r>
              <a:rPr lang="en-US" sz="2400" dirty="0"/>
              <a:t>can help them navigate </a:t>
            </a:r>
            <a:r>
              <a:rPr lang="en-US" sz="2400" dirty="0" smtClean="0"/>
              <a:t>roads.</a:t>
            </a:r>
          </a:p>
          <a:p>
            <a:pPr>
              <a:lnSpc>
                <a:spcPct val="150000"/>
              </a:lnSpc>
              <a:buFont typeface="Wingdings" panose="05000000000000000000" pitchFamily="2" charset="2"/>
              <a:buChar char="§"/>
            </a:pPr>
            <a:r>
              <a:rPr lang="en-US" sz="2400" dirty="0"/>
              <a:t>There are three major machine learning models that applies limited memory artificial </a:t>
            </a:r>
            <a:r>
              <a:rPr lang="en-US" sz="2400" dirty="0" smtClean="0"/>
              <a:t>intelligence</a:t>
            </a:r>
          </a:p>
          <a:p>
            <a:pPr lvl="1">
              <a:lnSpc>
                <a:spcPct val="150000"/>
              </a:lnSpc>
              <a:buFont typeface="Wingdings" panose="05000000000000000000" pitchFamily="2" charset="2"/>
              <a:buChar char="§"/>
            </a:pPr>
            <a:r>
              <a:rPr lang="en-US" sz="2400" dirty="0"/>
              <a:t>Reinforcement </a:t>
            </a:r>
            <a:r>
              <a:rPr lang="en-US" sz="2400" dirty="0" smtClean="0"/>
              <a:t>learning</a:t>
            </a:r>
          </a:p>
          <a:p>
            <a:pPr lvl="1">
              <a:lnSpc>
                <a:spcPct val="150000"/>
              </a:lnSpc>
              <a:buFont typeface="Wingdings" panose="05000000000000000000" pitchFamily="2" charset="2"/>
              <a:buChar char="§"/>
            </a:pPr>
            <a:r>
              <a:rPr lang="en-US" sz="2400" dirty="0"/>
              <a:t>Long Short-term Memory (LSTM</a:t>
            </a:r>
            <a:r>
              <a:rPr lang="en-US" sz="2400" dirty="0" smtClean="0"/>
              <a:t>)</a:t>
            </a:r>
          </a:p>
          <a:p>
            <a:pPr lvl="1">
              <a:lnSpc>
                <a:spcPct val="150000"/>
              </a:lnSpc>
              <a:buFont typeface="Wingdings" panose="05000000000000000000" pitchFamily="2" charset="2"/>
              <a:buChar char="§"/>
            </a:pPr>
            <a:r>
              <a:rPr lang="en-US" sz="2400" dirty="0"/>
              <a:t>Evolutionary Generative Adversarial Networks (E-GAN)</a:t>
            </a:r>
            <a:endParaRPr lang="en-US" sz="2200" b="1" dirty="0"/>
          </a:p>
        </p:txBody>
      </p:sp>
    </p:spTree>
    <p:extLst>
      <p:ext uri="{BB962C8B-B14F-4D97-AF65-F5344CB8AC3E}">
        <p14:creationId xmlns:p14="http://schemas.microsoft.com/office/powerpoint/2010/main" val="37189436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11" y="382137"/>
            <a:ext cx="11723427" cy="5786651"/>
          </a:xfrm>
        </p:spPr>
        <p:txBody>
          <a:bodyPr>
            <a:normAutofit lnSpcReduction="10000"/>
          </a:bodyPr>
          <a:lstStyle/>
          <a:p>
            <a:pPr algn="just">
              <a:lnSpc>
                <a:spcPct val="150000"/>
              </a:lnSpc>
            </a:pPr>
            <a:r>
              <a:rPr lang="en-US" sz="2400" b="1" dirty="0" smtClean="0"/>
              <a:t>3. Theory </a:t>
            </a:r>
            <a:r>
              <a:rPr lang="en-US" sz="2400" b="1" dirty="0"/>
              <a:t>of </a:t>
            </a:r>
            <a:r>
              <a:rPr lang="en-US" sz="2400" b="1" dirty="0" smtClean="0"/>
              <a:t>Mind :</a:t>
            </a:r>
          </a:p>
          <a:p>
            <a:pPr algn="just">
              <a:lnSpc>
                <a:spcPct val="150000"/>
              </a:lnSpc>
              <a:buFont typeface="Wingdings" panose="05000000000000000000" pitchFamily="2" charset="2"/>
              <a:buChar char="§"/>
            </a:pPr>
            <a:r>
              <a:rPr lang="en-US" sz="2400" dirty="0"/>
              <a:t>The theory of mind focuses on imitating the human brain. </a:t>
            </a:r>
            <a:endParaRPr lang="en-US" sz="2400" dirty="0" smtClean="0"/>
          </a:p>
          <a:p>
            <a:pPr algn="just">
              <a:lnSpc>
                <a:spcPct val="150000"/>
              </a:lnSpc>
              <a:buFont typeface="Wingdings" panose="05000000000000000000" pitchFamily="2" charset="2"/>
              <a:buChar char="§"/>
            </a:pPr>
            <a:r>
              <a:rPr lang="en-US" sz="2400" dirty="0" smtClean="0"/>
              <a:t>For </a:t>
            </a:r>
            <a:r>
              <a:rPr lang="en-US" sz="2400" dirty="0"/>
              <a:t>this, it forms representations about the world, starting from thoughts, emotions and memories. </a:t>
            </a:r>
            <a:endParaRPr lang="en-US" sz="2400" dirty="0" smtClean="0"/>
          </a:p>
          <a:p>
            <a:pPr algn="just">
              <a:lnSpc>
                <a:spcPct val="150000"/>
              </a:lnSpc>
              <a:buFont typeface="Wingdings" panose="05000000000000000000" pitchFamily="2" charset="2"/>
              <a:buChar char="§"/>
            </a:pPr>
            <a:r>
              <a:rPr lang="en-US" sz="2400" dirty="0" smtClean="0"/>
              <a:t>However</a:t>
            </a:r>
            <a:r>
              <a:rPr lang="en-US" sz="2400" dirty="0"/>
              <a:t>, such systems are only theoretical as of now but they may become reality very soon. </a:t>
            </a:r>
            <a:endParaRPr lang="en-US" sz="2400" dirty="0" smtClean="0"/>
          </a:p>
          <a:p>
            <a:pPr algn="just">
              <a:lnSpc>
                <a:spcPct val="150000"/>
              </a:lnSpc>
              <a:buFont typeface="Wingdings" panose="05000000000000000000" pitchFamily="2" charset="2"/>
              <a:buChar char="§"/>
            </a:pPr>
            <a:r>
              <a:rPr lang="en-US" sz="2400" dirty="0" smtClean="0"/>
              <a:t>These </a:t>
            </a:r>
            <a:r>
              <a:rPr lang="en-US" sz="2400" dirty="0"/>
              <a:t>machines must understand thoughts and emotions that affect the </a:t>
            </a:r>
            <a:r>
              <a:rPr lang="en-US" sz="2400" dirty="0" err="1"/>
              <a:t>behaviour</a:t>
            </a:r>
            <a:r>
              <a:rPr lang="en-US" sz="2400" dirty="0"/>
              <a:t> of one’s self. </a:t>
            </a:r>
            <a:endParaRPr lang="en-US" sz="2400" dirty="0" smtClean="0"/>
          </a:p>
          <a:p>
            <a:pPr algn="just">
              <a:lnSpc>
                <a:spcPct val="150000"/>
              </a:lnSpc>
              <a:buFont typeface="Wingdings" panose="05000000000000000000" pitchFamily="2" charset="2"/>
              <a:buChar char="§"/>
            </a:pPr>
            <a:r>
              <a:rPr lang="en-US" sz="2400" dirty="0" smtClean="0"/>
              <a:t>Theory </a:t>
            </a:r>
            <a:r>
              <a:rPr lang="en-US" sz="2400" dirty="0"/>
              <a:t>of Mind machines make decisions keeping in view the feelings experienced through self-reflection and determination.</a:t>
            </a:r>
            <a:endParaRPr lang="en-US" sz="2400" b="1" dirty="0"/>
          </a:p>
        </p:txBody>
      </p:sp>
    </p:spTree>
    <p:extLst>
      <p:ext uri="{BB962C8B-B14F-4D97-AF65-F5344CB8AC3E}">
        <p14:creationId xmlns:p14="http://schemas.microsoft.com/office/powerpoint/2010/main" val="10419738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414" y="191069"/>
            <a:ext cx="10058400" cy="696036"/>
          </a:xfrm>
        </p:spPr>
        <p:txBody>
          <a:bodyPr>
            <a:normAutofit/>
          </a:bodyPr>
          <a:lstStyle/>
          <a:p>
            <a:r>
              <a:rPr lang="en-US" sz="3600" b="1" dirty="0" smtClean="0"/>
              <a:t>4. Self-Awareness</a:t>
            </a:r>
            <a:endParaRPr lang="en-US" sz="3600" b="1" dirty="0"/>
          </a:p>
        </p:txBody>
      </p:sp>
      <p:sp>
        <p:nvSpPr>
          <p:cNvPr id="3" name="Content Placeholder 2"/>
          <p:cNvSpPr>
            <a:spLocks noGrp="1"/>
          </p:cNvSpPr>
          <p:nvPr>
            <p:ph idx="1"/>
          </p:nvPr>
        </p:nvSpPr>
        <p:spPr>
          <a:xfrm>
            <a:off x="278414" y="1078173"/>
            <a:ext cx="11813502" cy="5131558"/>
          </a:xfrm>
        </p:spPr>
        <p:txBody>
          <a:bodyPr>
            <a:normAutofit/>
          </a:bodyPr>
          <a:lstStyle/>
          <a:p>
            <a:pPr algn="just">
              <a:lnSpc>
                <a:spcPct val="150000"/>
              </a:lnSpc>
              <a:buFont typeface="Wingdings" panose="05000000000000000000" pitchFamily="2" charset="2"/>
              <a:buChar char="§"/>
            </a:pPr>
            <a:r>
              <a:rPr lang="en-US" sz="2400" dirty="0" smtClean="0"/>
              <a:t> Self-awareness </a:t>
            </a:r>
            <a:r>
              <a:rPr lang="en-US" sz="2400" dirty="0"/>
              <a:t>in machines enable them to possess human-level consciousness, understand the current state—its own existence in the world and use that information to deduce others feelings. </a:t>
            </a:r>
            <a:endParaRPr lang="en-US" sz="2400" dirty="0" smtClean="0"/>
          </a:p>
          <a:p>
            <a:pPr algn="just">
              <a:lnSpc>
                <a:spcPct val="150000"/>
              </a:lnSpc>
              <a:buFont typeface="Wingdings" panose="05000000000000000000" pitchFamily="2" charset="2"/>
              <a:buChar char="§"/>
            </a:pPr>
            <a:r>
              <a:rPr lang="en-US" sz="2400" dirty="0" smtClean="0"/>
              <a:t>Self-AI </a:t>
            </a:r>
            <a:r>
              <a:rPr lang="en-US" sz="2400" dirty="0"/>
              <a:t>systems will be able to understand what others may need. </a:t>
            </a:r>
            <a:endParaRPr lang="en-US" sz="2400" dirty="0" smtClean="0"/>
          </a:p>
          <a:p>
            <a:pPr algn="just">
              <a:lnSpc>
                <a:spcPct val="150000"/>
              </a:lnSpc>
              <a:buFont typeface="Wingdings" panose="05000000000000000000" pitchFamily="2" charset="2"/>
              <a:buChar char="§"/>
            </a:pPr>
            <a:r>
              <a:rPr lang="en-US" sz="2400" dirty="0" smtClean="0"/>
              <a:t>They </a:t>
            </a:r>
            <a:r>
              <a:rPr lang="en-US" sz="2400" dirty="0"/>
              <a:t>could interpret user’s feelings by learning not only what they communicate to them but also how they communicate it. </a:t>
            </a:r>
            <a:endParaRPr lang="en-US" sz="2400" dirty="0" smtClean="0"/>
          </a:p>
          <a:p>
            <a:pPr algn="just">
              <a:lnSpc>
                <a:spcPct val="150000"/>
              </a:lnSpc>
              <a:buFont typeface="Wingdings" panose="05000000000000000000" pitchFamily="2" charset="2"/>
              <a:buChar char="§"/>
            </a:pPr>
            <a:r>
              <a:rPr lang="en-US" sz="2400" dirty="0" smtClean="0"/>
              <a:t>Knowledge </a:t>
            </a:r>
            <a:r>
              <a:rPr lang="en-US" sz="2400" dirty="0"/>
              <a:t>imbibed by researchers and its learning of the conscious context will help them to respond to an event.</a:t>
            </a:r>
          </a:p>
        </p:txBody>
      </p:sp>
    </p:spTree>
    <p:extLst>
      <p:ext uri="{BB962C8B-B14F-4D97-AF65-F5344CB8AC3E}">
        <p14:creationId xmlns:p14="http://schemas.microsoft.com/office/powerpoint/2010/main" val="39704237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435CDC-F87F-B445-3C41-FBA3C07978C0}"/>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Components of Intelligence</a:t>
            </a:r>
          </a:p>
        </p:txBody>
      </p:sp>
      <p:pic>
        <p:nvPicPr>
          <p:cNvPr id="7" name="Content Placeholder 6">
            <a:extLst>
              <a:ext uri="{FF2B5EF4-FFF2-40B4-BE49-F238E27FC236}">
                <a16:creationId xmlns="" xmlns:a16="http://schemas.microsoft.com/office/drawing/2014/main" id="{D9F22A98-CEE4-9DDA-7E57-31D41DAB3624}"/>
              </a:ext>
            </a:extLst>
          </p:cNvPr>
          <p:cNvPicPr>
            <a:picLocks noGrp="1" noChangeAspect="1"/>
          </p:cNvPicPr>
          <p:nvPr>
            <p:ph idx="1"/>
          </p:nvPr>
        </p:nvPicPr>
        <p:blipFill>
          <a:blip r:embed="rId2"/>
          <a:stretch>
            <a:fillRect/>
          </a:stretch>
        </p:blipFill>
        <p:spPr>
          <a:xfrm>
            <a:off x="1392072" y="1927122"/>
            <a:ext cx="8080966" cy="4132483"/>
          </a:xfrm>
          <a:prstGeom prst="rect">
            <a:avLst/>
          </a:prstGeom>
        </p:spPr>
      </p:pic>
      <p:pic>
        <p:nvPicPr>
          <p:cNvPr id="3" name="Picture 2">
            <a:extLst>
              <a:ext uri="{FF2B5EF4-FFF2-40B4-BE49-F238E27FC236}">
                <a16:creationId xmlns="" xmlns:a16="http://schemas.microsoft.com/office/drawing/2014/main" id="{CC0838B3-9483-7C1F-6001-2A5A4774E1E6}"/>
              </a:ext>
            </a:extLst>
          </p:cNvPr>
          <p:cNvPicPr>
            <a:picLocks noChangeAspect="1"/>
          </p:cNvPicPr>
          <p:nvPr/>
        </p:nvPicPr>
        <p:blipFill>
          <a:blip r:embed="rId3"/>
          <a:stretch>
            <a:fillRect/>
          </a:stretch>
        </p:blipFill>
        <p:spPr>
          <a:xfrm>
            <a:off x="9473038" y="255904"/>
            <a:ext cx="1682642" cy="1481456"/>
          </a:xfrm>
          <a:prstGeom prst="rect">
            <a:avLst/>
          </a:prstGeom>
        </p:spPr>
      </p:pic>
    </p:spTree>
    <p:extLst>
      <p:ext uri="{BB962C8B-B14F-4D97-AF65-F5344CB8AC3E}">
        <p14:creationId xmlns:p14="http://schemas.microsoft.com/office/powerpoint/2010/main" val="5456210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A5C91FCC-7232-B7EE-5821-7E1AF3B3AA61}"/>
              </a:ext>
            </a:extLst>
          </p:cNvPr>
          <p:cNvSpPr>
            <a:spLocks noGrp="1"/>
          </p:cNvSpPr>
          <p:nvPr>
            <p:ph idx="1"/>
          </p:nvPr>
        </p:nvSpPr>
        <p:spPr>
          <a:xfrm>
            <a:off x="1096963" y="1760538"/>
            <a:ext cx="10058400" cy="4108450"/>
          </a:xfrm>
        </p:spPr>
        <p:txBody>
          <a:bodyPr/>
          <a:lstStyle/>
          <a:p>
            <a:r>
              <a:rPr lang="en-IN" b="1" dirty="0">
                <a:latin typeface="Times New Roman" panose="02020603050405020304" pitchFamily="18" charset="0"/>
                <a:cs typeface="Times New Roman" panose="02020603050405020304" pitchFamily="18" charset="0"/>
              </a:rPr>
              <a:t>1. Reasoning: </a:t>
            </a:r>
            <a:r>
              <a:rPr lang="en-US" dirty="0">
                <a:latin typeface="Times New Roman" panose="02020603050405020304" pitchFamily="18" charset="0"/>
                <a:cs typeface="Times New Roman" panose="02020603050405020304" pitchFamily="18" charset="0"/>
              </a:rPr>
              <a:t>It is the set of processes that is used in making decisions and prediction.</a:t>
            </a:r>
          </a:p>
          <a:p>
            <a:r>
              <a:rPr lang="en-US" dirty="0">
                <a:latin typeface="Times New Roman" panose="02020603050405020304" pitchFamily="18" charset="0"/>
                <a:cs typeface="Times New Roman" panose="02020603050405020304" pitchFamily="18" charset="0"/>
              </a:rPr>
              <a:t>There are two types of reasoning—inductive and deductive.</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C65B8500-ED31-585D-D152-1A9DAE4F2F6F}"/>
              </a:ext>
            </a:extLst>
          </p:cNvPr>
          <p:cNvPicPr>
            <a:picLocks noChangeAspect="1"/>
          </p:cNvPicPr>
          <p:nvPr/>
        </p:nvPicPr>
        <p:blipFill>
          <a:blip r:embed="rId2"/>
          <a:stretch>
            <a:fillRect/>
          </a:stretch>
        </p:blipFill>
        <p:spPr>
          <a:xfrm>
            <a:off x="2428568" y="2761033"/>
            <a:ext cx="6558116" cy="3541443"/>
          </a:xfrm>
          <a:prstGeom prst="rect">
            <a:avLst/>
          </a:prstGeom>
        </p:spPr>
      </p:pic>
      <p:pic>
        <p:nvPicPr>
          <p:cNvPr id="2" name="Picture 1">
            <a:extLst>
              <a:ext uri="{FF2B5EF4-FFF2-40B4-BE49-F238E27FC236}">
                <a16:creationId xmlns="" xmlns:a16="http://schemas.microsoft.com/office/drawing/2014/main" id="{0FD1EC1B-3E48-C069-48AD-A8DB0208DD2E}"/>
              </a:ext>
            </a:extLst>
          </p:cNvPr>
          <p:cNvPicPr>
            <a:picLocks noChangeAspect="1"/>
          </p:cNvPicPr>
          <p:nvPr/>
        </p:nvPicPr>
        <p:blipFill>
          <a:blip r:embed="rId3"/>
          <a:stretch>
            <a:fillRect/>
          </a:stretch>
        </p:blipFill>
        <p:spPr>
          <a:xfrm>
            <a:off x="9728357" y="248284"/>
            <a:ext cx="1682642" cy="1481456"/>
          </a:xfrm>
          <a:prstGeom prst="rect">
            <a:avLst/>
          </a:prstGeom>
        </p:spPr>
      </p:pic>
    </p:spTree>
    <p:extLst>
      <p:ext uri="{BB962C8B-B14F-4D97-AF65-F5344CB8AC3E}">
        <p14:creationId xmlns:p14="http://schemas.microsoft.com/office/powerpoint/2010/main" val="16667833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B2F54503-0075-034E-1A0B-007EF80A5CD8}"/>
              </a:ext>
            </a:extLst>
          </p:cNvPr>
          <p:cNvSpPr>
            <a:spLocks noGrp="1"/>
          </p:cNvSpPr>
          <p:nvPr>
            <p:ph idx="1"/>
          </p:nvPr>
        </p:nvSpPr>
        <p:spPr>
          <a:xfrm>
            <a:off x="373948" y="327546"/>
            <a:ext cx="10729915" cy="5786651"/>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Learning: </a:t>
            </a:r>
            <a:r>
              <a:rPr lang="en-US" dirty="0">
                <a:latin typeface="Times New Roman" panose="02020603050405020304" pitchFamily="18" charset="0"/>
                <a:cs typeface="Times New Roman" panose="02020603050405020304" pitchFamily="18" charset="0"/>
              </a:rPr>
              <a:t>It is a process of gaining knowledge or skill by studying, practicing, </a:t>
            </a:r>
            <a:r>
              <a:rPr lang="en-US" dirty="0" smtClean="0">
                <a:latin typeface="Times New Roman" panose="02020603050405020304" pitchFamily="18" charset="0"/>
                <a:cs typeface="Times New Roman" panose="02020603050405020304" pitchFamily="18" charset="0"/>
              </a:rPr>
              <a:t>being taught </a:t>
            </a:r>
            <a:r>
              <a:rPr lang="en-US" dirty="0">
                <a:latin typeface="Times New Roman" panose="02020603050405020304" pitchFamily="18" charset="0"/>
                <a:cs typeface="Times New Roman" panose="02020603050405020304" pitchFamily="18" charset="0"/>
              </a:rPr>
              <a:t>or experiencing something. Learning is an ability that is </a:t>
            </a:r>
            <a:r>
              <a:rPr lang="en-US" dirty="0" smtClean="0">
                <a:latin typeface="Times New Roman" panose="02020603050405020304" pitchFamily="18" charset="0"/>
                <a:cs typeface="Times New Roman" panose="02020603050405020304" pitchFamily="18" charset="0"/>
              </a:rPr>
              <a:t>possessed by </a:t>
            </a:r>
            <a:r>
              <a:rPr lang="en-US" dirty="0">
                <a:latin typeface="Times New Roman" panose="02020603050405020304" pitchFamily="18" charset="0"/>
                <a:cs typeface="Times New Roman" panose="02020603050405020304" pitchFamily="18" charset="0"/>
              </a:rPr>
              <a:t>humans, animals and AI-enabled systems to improve the awareness </a:t>
            </a:r>
            <a:r>
              <a:rPr lang="en-US" dirty="0" smtClean="0">
                <a:latin typeface="Times New Roman" panose="02020603050405020304" pitchFamily="18" charset="0"/>
                <a:cs typeface="Times New Roman" panose="02020603050405020304" pitchFamily="18" charset="0"/>
              </a:rPr>
              <a:t>of the </a:t>
            </a:r>
            <a:r>
              <a:rPr lang="en-US" dirty="0">
                <a:latin typeface="Times New Roman" panose="02020603050405020304" pitchFamily="18" charset="0"/>
                <a:cs typeface="Times New Roman" panose="02020603050405020304" pitchFamily="18" charset="0"/>
              </a:rPr>
              <a:t>subjects of the study.</a:t>
            </a:r>
          </a:p>
          <a:p>
            <a:pPr algn="just">
              <a:lnSpc>
                <a:spcPct val="150000"/>
              </a:lnSpc>
            </a:pPr>
            <a:r>
              <a:rPr lang="en-US" b="1" dirty="0">
                <a:latin typeface="Times New Roman" panose="02020603050405020304" pitchFamily="18" charset="0"/>
                <a:cs typeface="Times New Roman" panose="02020603050405020304" pitchFamily="18" charset="0"/>
              </a:rPr>
              <a:t>Learning can be categorized as follows:</a:t>
            </a:r>
          </a:p>
          <a:p>
            <a:pPr algn="just">
              <a:lnSpc>
                <a:spcPct val="150000"/>
              </a:lnSpc>
            </a:pPr>
            <a:r>
              <a:rPr lang="en-IN" sz="2200" dirty="0">
                <a:latin typeface="Times New Roman" panose="02020603050405020304" pitchFamily="18" charset="0"/>
                <a:cs typeface="Times New Roman" panose="02020603050405020304" pitchFamily="18" charset="0"/>
              </a:rPr>
              <a:t>1. Auditory learning                                                              6. Relational learning</a:t>
            </a:r>
          </a:p>
          <a:p>
            <a:pPr algn="just">
              <a:lnSpc>
                <a:spcPct val="150000"/>
              </a:lnSpc>
            </a:pPr>
            <a:r>
              <a:rPr lang="en-IN" sz="2200" dirty="0">
                <a:latin typeface="Times New Roman" panose="02020603050405020304" pitchFamily="18" charset="0"/>
                <a:cs typeface="Times New Roman" panose="02020603050405020304" pitchFamily="18" charset="0"/>
              </a:rPr>
              <a:t>2. Episodic learning                                                              7. Spatial learning</a:t>
            </a:r>
          </a:p>
          <a:p>
            <a:pPr algn="just">
              <a:lnSpc>
                <a:spcPct val="150000"/>
              </a:lnSpc>
            </a:pPr>
            <a:r>
              <a:rPr lang="en-IN" sz="2200" dirty="0">
                <a:latin typeface="Times New Roman" panose="02020603050405020304" pitchFamily="18" charset="0"/>
                <a:cs typeface="Times New Roman" panose="02020603050405020304" pitchFamily="18" charset="0"/>
              </a:rPr>
              <a:t>3. Motor learning                                                                  8. Stimulus-response learning</a:t>
            </a:r>
          </a:p>
          <a:p>
            <a:pPr algn="just">
              <a:lnSpc>
                <a:spcPct val="150000"/>
              </a:lnSpc>
            </a:pPr>
            <a:r>
              <a:rPr lang="en-IN" sz="2200" dirty="0">
                <a:latin typeface="Times New Roman" panose="02020603050405020304" pitchFamily="18" charset="0"/>
                <a:cs typeface="Times New Roman" panose="02020603050405020304" pitchFamily="18" charset="0"/>
              </a:rPr>
              <a:t>4. Observational learning</a:t>
            </a:r>
          </a:p>
          <a:p>
            <a:pPr algn="just">
              <a:lnSpc>
                <a:spcPct val="150000"/>
              </a:lnSpc>
            </a:pPr>
            <a:r>
              <a:rPr lang="en-IN" sz="2200" dirty="0">
                <a:latin typeface="Times New Roman" panose="02020603050405020304" pitchFamily="18" charset="0"/>
                <a:cs typeface="Times New Roman" panose="02020603050405020304" pitchFamily="18" charset="0"/>
              </a:rPr>
              <a:t>5. Perceptual learning</a:t>
            </a:r>
          </a:p>
        </p:txBody>
      </p:sp>
      <p:pic>
        <p:nvPicPr>
          <p:cNvPr id="2" name="Picture 1">
            <a:extLst>
              <a:ext uri="{FF2B5EF4-FFF2-40B4-BE49-F238E27FC236}">
                <a16:creationId xmlns="" xmlns:a16="http://schemas.microsoft.com/office/drawing/2014/main" id="{C9808556-4843-8038-677C-0C53A96C8C69}"/>
              </a:ext>
            </a:extLst>
          </p:cNvPr>
          <p:cNvPicPr>
            <a:picLocks noChangeAspect="1"/>
          </p:cNvPicPr>
          <p:nvPr/>
        </p:nvPicPr>
        <p:blipFill>
          <a:blip r:embed="rId2"/>
          <a:stretch>
            <a:fillRect/>
          </a:stretch>
        </p:blipFill>
        <p:spPr>
          <a:xfrm>
            <a:off x="11103864" y="216287"/>
            <a:ext cx="942121" cy="829476"/>
          </a:xfrm>
          <a:prstGeom prst="rect">
            <a:avLst/>
          </a:prstGeom>
        </p:spPr>
      </p:pic>
    </p:spTree>
    <p:extLst>
      <p:ext uri="{BB962C8B-B14F-4D97-AF65-F5344CB8AC3E}">
        <p14:creationId xmlns:p14="http://schemas.microsoft.com/office/powerpoint/2010/main" val="28118689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4A354B5-80E0-B082-FC8B-C7551A6AF779}"/>
              </a:ext>
            </a:extLst>
          </p:cNvPr>
          <p:cNvSpPr>
            <a:spLocks noGrp="1"/>
          </p:cNvSpPr>
          <p:nvPr>
            <p:ph idx="1"/>
          </p:nvPr>
        </p:nvSpPr>
        <p:spPr>
          <a:xfrm>
            <a:off x="245659" y="302768"/>
            <a:ext cx="10522425" cy="5566326"/>
          </a:xfrm>
        </p:spPr>
        <p:txBody>
          <a:bodyPr/>
          <a:lstStyle/>
          <a:p>
            <a:pPr algn="just">
              <a:lnSpc>
                <a:spcPct val="150000"/>
              </a:lnSpc>
            </a:pPr>
            <a:r>
              <a:rPr lang="en-IN" b="1" dirty="0">
                <a:latin typeface="Times New Roman" panose="02020603050405020304" pitchFamily="18" charset="0"/>
                <a:cs typeface="Times New Roman" panose="02020603050405020304" pitchFamily="18" charset="0"/>
              </a:rPr>
              <a:t>3. Problem Solving: </a:t>
            </a: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the process in which one tries to find the desired solution in the present situation by following the path which is blocked by known or unknown hurdles. Problem solving uses </a:t>
            </a:r>
            <a:r>
              <a:rPr lang="en-US" b="1" dirty="0">
                <a:latin typeface="Times New Roman" panose="02020603050405020304" pitchFamily="18" charset="0"/>
                <a:cs typeface="Times New Roman" panose="02020603050405020304" pitchFamily="18" charset="0"/>
              </a:rPr>
              <a:t>decision-making to </a:t>
            </a:r>
            <a:r>
              <a:rPr lang="en-US" dirty="0">
                <a:latin typeface="Times New Roman" panose="02020603050405020304" pitchFamily="18" charset="0"/>
                <a:cs typeface="Times New Roman" panose="02020603050405020304" pitchFamily="18" charset="0"/>
              </a:rPr>
              <a:t>select the best suitable alternative to reach the desired goal</a:t>
            </a:r>
            <a:r>
              <a:rPr lang="en-US" dirty="0" smtClean="0">
                <a:latin typeface="Times New Roman" panose="02020603050405020304" pitchFamily="18" charset="0"/>
                <a:cs typeface="Times New Roman" panose="02020603050405020304" pitchFamily="18" charset="0"/>
              </a:rPr>
              <a: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4. Perception: </a:t>
            </a:r>
            <a:r>
              <a:rPr lang="en-US" dirty="0">
                <a:latin typeface="Times New Roman" panose="02020603050405020304" pitchFamily="18" charset="0"/>
                <a:cs typeface="Times New Roman" panose="02020603050405020304" pitchFamily="18" charset="0"/>
              </a:rPr>
              <a:t>It is the process of acquiring, interpreting, selecting and organizing </a:t>
            </a:r>
            <a:r>
              <a:rPr lang="en-US" dirty="0" smtClean="0">
                <a:latin typeface="Times New Roman" panose="02020603050405020304" pitchFamily="18" charset="0"/>
                <a:cs typeface="Times New Roman" panose="02020603050405020304" pitchFamily="18" charset="0"/>
              </a:rPr>
              <a:t>sensory information</a:t>
            </a:r>
            <a:r>
              <a:rPr lang="en-US" dirty="0">
                <a:latin typeface="Times New Roman" panose="02020603050405020304" pitchFamily="18" charset="0"/>
                <a:cs typeface="Times New Roman" panose="02020603050405020304" pitchFamily="18" charset="0"/>
              </a:rPr>
              <a:t>. While humans use sensory organs to perceive </a:t>
            </a:r>
            <a:r>
              <a:rPr lang="en-US" dirty="0" smtClean="0">
                <a:latin typeface="Times New Roman" panose="02020603050405020304" pitchFamily="18" charset="0"/>
                <a:cs typeface="Times New Roman" panose="02020603050405020304" pitchFamily="18" charset="0"/>
              </a:rPr>
              <a:t>their environment</a:t>
            </a:r>
            <a:r>
              <a:rPr lang="en-US" dirty="0">
                <a:latin typeface="Times New Roman" panose="02020603050405020304" pitchFamily="18" charset="0"/>
                <a:cs typeface="Times New Roman" panose="02020603050405020304" pitchFamily="18" charset="0"/>
              </a:rPr>
              <a:t>, AI systems use data acquired by the sensors to do the same.</a:t>
            </a:r>
          </a:p>
          <a:p>
            <a:pPr algn="just">
              <a:lnSpc>
                <a:spcPct val="150000"/>
              </a:lnSpc>
            </a:pPr>
            <a:r>
              <a:rPr lang="en-IN" b="1" dirty="0">
                <a:latin typeface="Times New Roman" panose="02020603050405020304" pitchFamily="18" charset="0"/>
                <a:cs typeface="Times New Roman" panose="02020603050405020304" pitchFamily="18" charset="0"/>
              </a:rPr>
              <a:t>5. Linguistic Intelligence: </a:t>
            </a:r>
            <a:r>
              <a:rPr lang="en-US" dirty="0">
                <a:latin typeface="Times New Roman" panose="02020603050405020304" pitchFamily="18" charset="0"/>
                <a:cs typeface="Times New Roman" panose="02020603050405020304" pitchFamily="18" charset="0"/>
              </a:rPr>
              <a:t>It is used in in interpersonal communication and defines one’s ability to use, comprehend, speak and write the verbal and written language.</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 xmlns:a16="http://schemas.microsoft.com/office/drawing/2014/main" id="{DF1E96B2-BC92-5A58-50D7-6589DC281F92}"/>
              </a:ext>
            </a:extLst>
          </p:cNvPr>
          <p:cNvPicPr>
            <a:picLocks noChangeAspect="1"/>
          </p:cNvPicPr>
          <p:nvPr/>
        </p:nvPicPr>
        <p:blipFill>
          <a:blip r:embed="rId2"/>
          <a:stretch>
            <a:fillRect/>
          </a:stretch>
        </p:blipFill>
        <p:spPr>
          <a:xfrm>
            <a:off x="11060146" y="302768"/>
            <a:ext cx="1004715" cy="884586"/>
          </a:xfrm>
          <a:prstGeom prst="rect">
            <a:avLst/>
          </a:prstGeom>
        </p:spPr>
      </p:pic>
    </p:spTree>
    <p:extLst>
      <p:ext uri="{BB962C8B-B14F-4D97-AF65-F5344CB8AC3E}">
        <p14:creationId xmlns:p14="http://schemas.microsoft.com/office/powerpoint/2010/main" val="38864233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921EA0-1C99-E804-0BFC-1900E070FB98}"/>
              </a:ext>
            </a:extLst>
          </p:cNvPr>
          <p:cNvSpPr>
            <a:spLocks noGrp="1"/>
          </p:cNvSpPr>
          <p:nvPr>
            <p:ph type="title"/>
          </p:nvPr>
        </p:nvSpPr>
        <p:spPr>
          <a:xfrm>
            <a:off x="360301" y="709685"/>
            <a:ext cx="10058400" cy="682388"/>
          </a:xfrm>
        </p:spPr>
        <p:txBody>
          <a:bodyPr>
            <a:normAutofit/>
          </a:bodyPr>
          <a:lstStyle/>
          <a:p>
            <a:r>
              <a:rPr lang="en-IN" sz="4000" b="1" dirty="0">
                <a:latin typeface="Times New Roman" panose="02020603050405020304" pitchFamily="18" charset="0"/>
                <a:cs typeface="Times New Roman" panose="02020603050405020304" pitchFamily="18" charset="0"/>
              </a:rPr>
              <a:t>Agent and Environment</a:t>
            </a:r>
          </a:p>
        </p:txBody>
      </p:sp>
      <p:sp>
        <p:nvSpPr>
          <p:cNvPr id="3" name="Content Placeholder 2">
            <a:extLst>
              <a:ext uri="{FF2B5EF4-FFF2-40B4-BE49-F238E27FC236}">
                <a16:creationId xmlns:a16="http://schemas.microsoft.com/office/drawing/2014/main" xmlns="" id="{CC9CC07E-4DA3-8776-3868-72CC741E3D80}"/>
              </a:ext>
            </a:extLst>
          </p:cNvPr>
          <p:cNvSpPr>
            <a:spLocks noGrp="1"/>
          </p:cNvSpPr>
          <p:nvPr>
            <p:ph idx="1"/>
          </p:nvPr>
        </p:nvSpPr>
        <p:spPr>
          <a:xfrm>
            <a:off x="360301" y="1941269"/>
            <a:ext cx="11554194" cy="4023360"/>
          </a:xfrm>
        </p:spPr>
        <p:txBody>
          <a:bodyPr/>
          <a:lstStyle/>
          <a:p>
            <a:pPr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Artificial intelligence is all about studying rational agents, which </a:t>
            </a:r>
            <a:r>
              <a:rPr lang="en-US" dirty="0" smtClean="0">
                <a:latin typeface="Times New Roman" panose="02020603050405020304" pitchFamily="18" charset="0"/>
                <a:cs typeface="Times New Roman" panose="02020603050405020304" pitchFamily="18" charset="0"/>
              </a:rPr>
              <a:t>may include </a:t>
            </a:r>
            <a:r>
              <a:rPr lang="en-US" dirty="0">
                <a:latin typeface="Times New Roman" panose="02020603050405020304" pitchFamily="18" charset="0"/>
                <a:cs typeface="Times New Roman" panose="02020603050405020304" pitchFamily="18" charset="0"/>
              </a:rPr>
              <a:t>anything that makes decisions. For example, a person, </a:t>
            </a:r>
            <a:r>
              <a:rPr lang="en-US" dirty="0" smtClean="0">
                <a:latin typeface="Times New Roman" panose="02020603050405020304" pitchFamily="18" charset="0"/>
                <a:cs typeface="Times New Roman" panose="02020603050405020304" pitchFamily="18" charset="0"/>
              </a:rPr>
              <a:t>firm, machine </a:t>
            </a:r>
            <a:r>
              <a:rPr lang="en-US" dirty="0">
                <a:latin typeface="Times New Roman" panose="02020603050405020304" pitchFamily="18" charset="0"/>
                <a:cs typeface="Times New Roman" panose="02020603050405020304" pitchFamily="18" charset="0"/>
              </a:rPr>
              <a:t>or software that performs action(s) with the best outcome </a:t>
            </a:r>
            <a:r>
              <a:rPr lang="en-US" dirty="0" smtClean="0">
                <a:latin typeface="Times New Roman" panose="02020603050405020304" pitchFamily="18" charset="0"/>
                <a:cs typeface="Times New Roman" panose="02020603050405020304" pitchFamily="18" charset="0"/>
              </a:rPr>
              <a:t>after considering </a:t>
            </a:r>
            <a:r>
              <a:rPr lang="en-US" dirty="0">
                <a:latin typeface="Times New Roman" panose="02020603050405020304" pitchFamily="18" charset="0"/>
                <a:cs typeface="Times New Roman" panose="02020603050405020304" pitchFamily="18" charset="0"/>
              </a:rPr>
              <a:t>past and current percepts at a given instance are examples </a:t>
            </a:r>
            <a:r>
              <a:rPr lang="en-US" dirty="0" smtClean="0">
                <a:latin typeface="Times New Roman" panose="02020603050405020304" pitchFamily="18" charset="0"/>
                <a:cs typeface="Times New Roman" panose="02020603050405020304" pitchFamily="18" charset="0"/>
              </a:rPr>
              <a:t>of agents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These </a:t>
            </a:r>
            <a:r>
              <a:rPr lang="en-US" dirty="0">
                <a:latin typeface="Times New Roman" panose="02020603050405020304" pitchFamily="18" charset="0"/>
                <a:cs typeface="Times New Roman" panose="02020603050405020304" pitchFamily="18" charset="0"/>
              </a:rPr>
              <a:t>agents work in their environment and may interact with </a:t>
            </a:r>
            <a:r>
              <a:rPr lang="en-US" dirty="0" smtClean="0">
                <a:latin typeface="Times New Roman" panose="02020603050405020304" pitchFamily="18" charset="0"/>
                <a:cs typeface="Times New Roman" panose="02020603050405020304" pitchFamily="18" charset="0"/>
              </a:rPr>
              <a:t>other agents </a:t>
            </a:r>
            <a:r>
              <a:rPr lang="en-US" dirty="0">
                <a:latin typeface="Times New Roman" panose="02020603050405020304" pitchFamily="18" charset="0"/>
                <a:cs typeface="Times New Roman" panose="02020603050405020304" pitchFamily="18" charset="0"/>
              </a:rPr>
              <a:t>in that environment. Thus, we can say that an AI system </a:t>
            </a:r>
            <a:r>
              <a:rPr lang="en-US" dirty="0" smtClean="0">
                <a:latin typeface="Times New Roman" panose="02020603050405020304" pitchFamily="18" charset="0"/>
                <a:cs typeface="Times New Roman" panose="02020603050405020304" pitchFamily="18" charset="0"/>
              </a:rPr>
              <a:t>comprises an </a:t>
            </a:r>
            <a:r>
              <a:rPr lang="en-US" b="1" dirty="0">
                <a:latin typeface="Times New Roman" panose="02020603050405020304" pitchFamily="18" charset="0"/>
                <a:cs typeface="Times New Roman" panose="02020603050405020304" pitchFamily="18" charset="0"/>
              </a:rPr>
              <a:t>agent and its </a:t>
            </a:r>
            <a:r>
              <a:rPr lang="en-US" b="1" dirty="0" smtClean="0">
                <a:latin typeface="Times New Roman" panose="02020603050405020304" pitchFamily="18" charset="0"/>
                <a:cs typeface="Times New Roman" panose="02020603050405020304" pitchFamily="18" charset="0"/>
              </a:rPr>
              <a:t>environment</a:t>
            </a:r>
            <a:r>
              <a:rPr lang="en-US"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9230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7A30308-9B3D-610F-E5FC-AE94954B3238}"/>
              </a:ext>
            </a:extLst>
          </p:cNvPr>
          <p:cNvSpPr>
            <a:spLocks noGrp="1"/>
          </p:cNvSpPr>
          <p:nvPr>
            <p:ph idx="1"/>
          </p:nvPr>
        </p:nvSpPr>
        <p:spPr>
          <a:xfrm>
            <a:off x="223823" y="153412"/>
            <a:ext cx="11103818" cy="2762807"/>
          </a:xfrm>
        </p:spPr>
        <p:txBody>
          <a:bodyPr>
            <a:normAutofit fontScale="92500" lnSpcReduction="20000"/>
          </a:bodyPr>
          <a:lstStyle/>
          <a:p>
            <a:pPr algn="just">
              <a:lnSpc>
                <a:spcPct val="150000"/>
              </a:lnSpc>
            </a:pPr>
            <a:r>
              <a:rPr lang="en-IN" sz="4000" dirty="0">
                <a:latin typeface="Times New Roman" panose="02020603050405020304" pitchFamily="18" charset="0"/>
                <a:cs typeface="Times New Roman" panose="02020603050405020304" pitchFamily="18" charset="0"/>
              </a:rPr>
              <a:t>What is an </a:t>
            </a:r>
            <a:r>
              <a:rPr lang="en-IN" sz="4000" dirty="0" smtClean="0">
                <a:latin typeface="Times New Roman" panose="02020603050405020304" pitchFamily="18" charset="0"/>
                <a:cs typeface="Times New Roman" panose="02020603050405020304" pitchFamily="18" charset="0"/>
              </a:rPr>
              <a:t>Agent </a:t>
            </a:r>
            <a:r>
              <a:rPr lang="en-IN" sz="4000" dirty="0">
                <a:latin typeface="Times New Roman" panose="02020603050405020304" pitchFamily="18" charset="0"/>
                <a:cs typeface="Times New Roman" panose="02020603050405020304" pitchFamily="18" charset="0"/>
              </a:rPr>
              <a:t>and Environment</a:t>
            </a:r>
            <a:endParaRPr lang="en-IN" sz="40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 An </a:t>
            </a:r>
            <a:r>
              <a:rPr lang="en-US" b="1" dirty="0" smtClean="0">
                <a:latin typeface="Times New Roman" panose="02020603050405020304" pitchFamily="18" charset="0"/>
                <a:cs typeface="Times New Roman" panose="02020603050405020304" pitchFamily="18" charset="0"/>
              </a:rPr>
              <a:t>agent </a:t>
            </a:r>
            <a:r>
              <a:rPr lang="en-US" dirty="0" smtClean="0">
                <a:latin typeface="Times New Roman" panose="02020603050405020304" pitchFamily="18" charset="0"/>
                <a:cs typeface="Times New Roman" panose="02020603050405020304" pitchFamily="18" charset="0"/>
              </a:rPr>
              <a:t>can be anything that perceive its environment through sensors and act upon that environment through actuators.</a:t>
            </a:r>
          </a:p>
          <a:p>
            <a:pPr algn="just">
              <a:lnSpc>
                <a:spcPct val="150000"/>
              </a:lnSpc>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a:t>
            </a:r>
            <a:r>
              <a:rPr lang="en-US" b="1" dirty="0" smtClean="0">
                <a:latin typeface="Times New Roman" panose="02020603050405020304" pitchFamily="18" charset="0"/>
                <a:cs typeface="Times New Roman" panose="02020603050405020304" pitchFamily="18" charset="0"/>
              </a:rPr>
              <a:t>environment</a:t>
            </a:r>
            <a:r>
              <a:rPr lang="en-US" dirty="0" smtClean="0">
                <a:latin typeface="Times New Roman" panose="02020603050405020304" pitchFamily="18" charset="0"/>
                <a:cs typeface="Times New Roman" panose="02020603050405020304" pitchFamily="18" charset="0"/>
              </a:rPr>
              <a:t> is the surrounding, external context – physical or digital with which the agent interacts, providing feedbacks through data or state changes.</a:t>
            </a:r>
          </a:p>
          <a:p>
            <a:pPr algn="just">
              <a:lnSpc>
                <a:spcPct val="150000"/>
              </a:lnSpc>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98EAAD7C-3FF9-937B-688D-83BC7CED5AA0}"/>
              </a:ext>
            </a:extLst>
          </p:cNvPr>
          <p:cNvPicPr>
            <a:picLocks noChangeAspect="1"/>
          </p:cNvPicPr>
          <p:nvPr/>
        </p:nvPicPr>
        <p:blipFill>
          <a:blip r:embed="rId2"/>
          <a:stretch>
            <a:fillRect/>
          </a:stretch>
        </p:blipFill>
        <p:spPr>
          <a:xfrm>
            <a:off x="2930013" y="3598607"/>
            <a:ext cx="5265243" cy="2270488"/>
          </a:xfrm>
          <a:prstGeom prst="rect">
            <a:avLst/>
          </a:prstGeom>
        </p:spPr>
      </p:pic>
    </p:spTree>
    <p:extLst>
      <p:ext uri="{BB962C8B-B14F-4D97-AF65-F5344CB8AC3E}">
        <p14:creationId xmlns:p14="http://schemas.microsoft.com/office/powerpoint/2010/main" val="4231817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5" y="1040515"/>
            <a:ext cx="11627893" cy="4486828"/>
          </a:xfrm>
        </p:spPr>
        <p:txBody>
          <a:bodyPr>
            <a:normAutofit/>
          </a:bodyPr>
          <a:lstStyle/>
          <a:p>
            <a:pPr algn="just">
              <a:lnSpc>
                <a:spcPct val="150000"/>
              </a:lnSpc>
            </a:pPr>
            <a:r>
              <a:rPr lang="en-US" sz="2400" dirty="0"/>
              <a:t>The different types of agents in an AI system include the following: </a:t>
            </a:r>
            <a:endParaRPr lang="en-US" sz="2400" dirty="0" smtClean="0"/>
          </a:p>
          <a:p>
            <a:pPr algn="just">
              <a:lnSpc>
                <a:spcPct val="150000"/>
              </a:lnSpc>
            </a:pPr>
            <a:r>
              <a:rPr lang="en-US" sz="2400" dirty="0" smtClean="0"/>
              <a:t>1</a:t>
            </a:r>
            <a:r>
              <a:rPr lang="en-US" sz="2400" dirty="0"/>
              <a:t>. </a:t>
            </a:r>
            <a:r>
              <a:rPr lang="en-US" sz="2400" b="1" dirty="0"/>
              <a:t>Human agent</a:t>
            </a:r>
            <a:r>
              <a:rPr lang="en-US" sz="2400" dirty="0"/>
              <a:t>: A human agent has sensory organs (like eyes, ears, nose, tongue and skin) that acts as sensors, and other organs such as hands, legs, mouth as effectors for taking actions. </a:t>
            </a:r>
            <a:endParaRPr lang="en-US" sz="2400" dirty="0" smtClean="0"/>
          </a:p>
          <a:p>
            <a:pPr algn="just">
              <a:lnSpc>
                <a:spcPct val="150000"/>
              </a:lnSpc>
            </a:pPr>
            <a:r>
              <a:rPr lang="en-US" sz="2400" dirty="0" smtClean="0"/>
              <a:t>2</a:t>
            </a:r>
            <a:r>
              <a:rPr lang="en-US" sz="2400" dirty="0"/>
              <a:t>. </a:t>
            </a:r>
            <a:r>
              <a:rPr lang="en-US" sz="2400" b="1" dirty="0"/>
              <a:t>Robotic agent</a:t>
            </a:r>
            <a:r>
              <a:rPr lang="en-US" sz="2400" dirty="0"/>
              <a:t>: A robotic agent uses cameras and infrared range finders as sensors, and various motors and actuators as effectors. </a:t>
            </a:r>
            <a:endParaRPr lang="en-US" sz="2400" dirty="0" smtClean="0"/>
          </a:p>
          <a:p>
            <a:pPr algn="just">
              <a:lnSpc>
                <a:spcPct val="150000"/>
              </a:lnSpc>
            </a:pPr>
            <a:r>
              <a:rPr lang="en-US" sz="2400" dirty="0" smtClean="0"/>
              <a:t>3</a:t>
            </a:r>
            <a:r>
              <a:rPr lang="en-US" sz="2400" dirty="0"/>
              <a:t>. </a:t>
            </a:r>
            <a:r>
              <a:rPr lang="en-US" sz="2400" b="1" dirty="0"/>
              <a:t>Software agent</a:t>
            </a:r>
            <a:r>
              <a:rPr lang="en-US" sz="2400" dirty="0"/>
              <a:t>: Such an agent uses bit strings as its programs and actions</a:t>
            </a:r>
          </a:p>
        </p:txBody>
      </p:sp>
    </p:spTree>
    <p:extLst>
      <p:ext uri="{BB962C8B-B14F-4D97-AF65-F5344CB8AC3E}">
        <p14:creationId xmlns:p14="http://schemas.microsoft.com/office/powerpoint/2010/main" val="22302656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784" y="627797"/>
            <a:ext cx="10058400" cy="736979"/>
          </a:xfrm>
        </p:spPr>
        <p:txBody>
          <a:bodyPr/>
          <a:lstStyle/>
          <a:p>
            <a:r>
              <a:rPr lang="en-US" b="1" dirty="0"/>
              <a:t>Key Terminology</a:t>
            </a:r>
          </a:p>
        </p:txBody>
      </p:sp>
      <p:sp>
        <p:nvSpPr>
          <p:cNvPr id="3" name="Content Placeholder 2"/>
          <p:cNvSpPr>
            <a:spLocks noGrp="1"/>
          </p:cNvSpPr>
          <p:nvPr>
            <p:ph idx="1"/>
          </p:nvPr>
        </p:nvSpPr>
        <p:spPr>
          <a:xfrm>
            <a:off x="395784" y="1951630"/>
            <a:ext cx="11600597" cy="4244454"/>
          </a:xfrm>
        </p:spPr>
        <p:txBody>
          <a:bodyPr>
            <a:noAutofit/>
          </a:bodyPr>
          <a:lstStyle/>
          <a:p>
            <a:pPr algn="just">
              <a:lnSpc>
                <a:spcPct val="150000"/>
              </a:lnSpc>
            </a:pPr>
            <a:r>
              <a:rPr lang="en-US" sz="2400" b="1" dirty="0"/>
              <a:t>Performance Measure of </a:t>
            </a:r>
            <a:r>
              <a:rPr lang="en-US" sz="2400" b="1" dirty="0" smtClean="0"/>
              <a:t>Agent</a:t>
            </a:r>
            <a:r>
              <a:rPr lang="en-US" sz="2400" dirty="0" smtClean="0"/>
              <a:t>: This </a:t>
            </a:r>
            <a:r>
              <a:rPr lang="en-US" sz="2400" dirty="0"/>
              <a:t>criteria helps to determine how successful an agent is. </a:t>
            </a:r>
            <a:endParaRPr lang="en-US" sz="2400" dirty="0" smtClean="0"/>
          </a:p>
          <a:p>
            <a:pPr algn="just">
              <a:lnSpc>
                <a:spcPct val="150000"/>
              </a:lnSpc>
            </a:pPr>
            <a:r>
              <a:rPr lang="en-US" sz="2400" b="1" dirty="0" smtClean="0"/>
              <a:t>Behavior </a:t>
            </a:r>
            <a:r>
              <a:rPr lang="en-US" sz="2400" b="1" dirty="0"/>
              <a:t>of </a:t>
            </a:r>
            <a:r>
              <a:rPr lang="en-US" sz="2400" b="1" dirty="0" smtClean="0"/>
              <a:t>Agent</a:t>
            </a:r>
            <a:r>
              <a:rPr lang="en-US" sz="2400" dirty="0" smtClean="0"/>
              <a:t>: It </a:t>
            </a:r>
            <a:r>
              <a:rPr lang="en-US" sz="2400" dirty="0"/>
              <a:t>is an action performed by an agent after any receiving a certain percept. </a:t>
            </a:r>
            <a:endParaRPr lang="en-US" sz="2400" dirty="0" smtClean="0"/>
          </a:p>
          <a:p>
            <a:pPr algn="just">
              <a:lnSpc>
                <a:spcPct val="150000"/>
              </a:lnSpc>
            </a:pPr>
            <a:r>
              <a:rPr lang="en-US" sz="2400" b="1" dirty="0" smtClean="0"/>
              <a:t>Percept</a:t>
            </a:r>
            <a:r>
              <a:rPr lang="en-US" sz="2400" dirty="0" smtClean="0"/>
              <a:t>: </a:t>
            </a:r>
            <a:r>
              <a:rPr lang="en-US" sz="2400" dirty="0"/>
              <a:t>These are perceptual inputs given to an agent at a specific instance. </a:t>
            </a:r>
            <a:endParaRPr lang="en-US" sz="2400" dirty="0" smtClean="0"/>
          </a:p>
          <a:p>
            <a:pPr algn="just">
              <a:lnSpc>
                <a:spcPct val="150000"/>
              </a:lnSpc>
            </a:pPr>
            <a:r>
              <a:rPr lang="en-US" sz="2400" b="1" dirty="0" smtClean="0"/>
              <a:t>Percept Sequence</a:t>
            </a:r>
            <a:r>
              <a:rPr lang="en-US" sz="2400" dirty="0" smtClean="0"/>
              <a:t>: </a:t>
            </a:r>
            <a:r>
              <a:rPr lang="en-US" sz="2400" dirty="0"/>
              <a:t>This is a list of all percepts received by an agent till date. </a:t>
            </a:r>
            <a:endParaRPr lang="en-US" sz="2400" dirty="0" smtClean="0"/>
          </a:p>
          <a:p>
            <a:pPr algn="just">
              <a:lnSpc>
                <a:spcPct val="150000"/>
              </a:lnSpc>
            </a:pPr>
            <a:r>
              <a:rPr lang="en-US" sz="2400" b="1" dirty="0" smtClean="0"/>
              <a:t>Agent Function: </a:t>
            </a:r>
            <a:r>
              <a:rPr lang="en-US" sz="2400" dirty="0" smtClean="0"/>
              <a:t>This </a:t>
            </a:r>
            <a:r>
              <a:rPr lang="en-US" sz="2400" dirty="0"/>
              <a:t>is a map from the precept sequence to an action</a:t>
            </a:r>
          </a:p>
        </p:txBody>
      </p:sp>
    </p:spTree>
    <p:extLst>
      <p:ext uri="{BB962C8B-B14F-4D97-AF65-F5344CB8AC3E}">
        <p14:creationId xmlns:p14="http://schemas.microsoft.com/office/powerpoint/2010/main" val="11712641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773" y="122830"/>
            <a:ext cx="10091155" cy="586855"/>
          </a:xfrm>
        </p:spPr>
        <p:txBody>
          <a:bodyPr>
            <a:normAutofit fontScale="90000"/>
          </a:bodyPr>
          <a:lstStyle/>
          <a:p>
            <a:r>
              <a:rPr lang="en-US" b="1" dirty="0"/>
              <a:t>Rationality</a:t>
            </a:r>
          </a:p>
        </p:txBody>
      </p:sp>
      <p:sp>
        <p:nvSpPr>
          <p:cNvPr id="3" name="Content Placeholder 2"/>
          <p:cNvSpPr>
            <a:spLocks noGrp="1"/>
          </p:cNvSpPr>
          <p:nvPr>
            <p:ph idx="1"/>
          </p:nvPr>
        </p:nvSpPr>
        <p:spPr>
          <a:xfrm>
            <a:off x="272955" y="709685"/>
            <a:ext cx="11655188" cy="5159409"/>
          </a:xfrm>
        </p:spPr>
        <p:txBody>
          <a:bodyPr>
            <a:normAutofit fontScale="92500" lnSpcReduction="10000"/>
          </a:bodyPr>
          <a:lstStyle/>
          <a:p>
            <a:pPr algn="just">
              <a:lnSpc>
                <a:spcPct val="150000"/>
              </a:lnSpc>
              <a:buFont typeface="Wingdings" panose="05000000000000000000" pitchFamily="2" charset="2"/>
              <a:buChar char="§"/>
            </a:pPr>
            <a:r>
              <a:rPr lang="en-US" dirty="0" smtClean="0"/>
              <a:t>Rationality </a:t>
            </a:r>
            <a:r>
              <a:rPr lang="en-US" dirty="0"/>
              <a:t>is a feature that inculcates a sense of responsibility, sensibility and judgment. </a:t>
            </a:r>
            <a:endParaRPr lang="en-US" dirty="0" smtClean="0"/>
          </a:p>
          <a:p>
            <a:pPr algn="just">
              <a:lnSpc>
                <a:spcPct val="150000"/>
              </a:lnSpc>
              <a:buFont typeface="Wingdings" panose="05000000000000000000" pitchFamily="2" charset="2"/>
              <a:buChar char="§"/>
            </a:pPr>
            <a:r>
              <a:rPr lang="en-US" dirty="0" smtClean="0"/>
              <a:t>It </a:t>
            </a:r>
            <a:r>
              <a:rPr lang="en-US" dirty="0"/>
              <a:t>empowers the agent to perform expected actions after perceiving. </a:t>
            </a:r>
            <a:endParaRPr lang="en-US" dirty="0" smtClean="0"/>
          </a:p>
          <a:p>
            <a:pPr algn="just">
              <a:lnSpc>
                <a:spcPct val="150000"/>
              </a:lnSpc>
              <a:buFont typeface="Wingdings" panose="05000000000000000000" pitchFamily="2" charset="2"/>
              <a:buChar char="§"/>
            </a:pPr>
            <a:r>
              <a:rPr lang="en-US" dirty="0" smtClean="0"/>
              <a:t>The </a:t>
            </a:r>
            <a:r>
              <a:rPr lang="en-US" dirty="0"/>
              <a:t>agent must perform all the actions to maximize its performance measure with respect to the percept sequence and the knowledge base that it has</a:t>
            </a:r>
            <a:r>
              <a:rPr lang="en-US" dirty="0" smtClean="0"/>
              <a:t>.</a:t>
            </a:r>
          </a:p>
          <a:p>
            <a:pPr algn="just">
              <a:lnSpc>
                <a:spcPct val="150000"/>
              </a:lnSpc>
              <a:buFont typeface="Wingdings" panose="05000000000000000000" pitchFamily="2" charset="2"/>
              <a:buChar char="§"/>
            </a:pPr>
            <a:r>
              <a:rPr lang="en-US" dirty="0" smtClean="0"/>
              <a:t>Rationality </a:t>
            </a:r>
            <a:r>
              <a:rPr lang="en-US" dirty="0"/>
              <a:t>of an agent depends on the following:</a:t>
            </a:r>
            <a:endParaRPr lang="en-US" dirty="0" smtClean="0"/>
          </a:p>
          <a:p>
            <a:pPr marL="457200" indent="-457200" algn="just">
              <a:lnSpc>
                <a:spcPct val="150000"/>
              </a:lnSpc>
              <a:buAutoNum type="arabicPeriod"/>
            </a:pPr>
            <a:r>
              <a:rPr lang="en-US" dirty="0" smtClean="0"/>
              <a:t>Agent’s </a:t>
            </a:r>
            <a:r>
              <a:rPr lang="en-US" dirty="0"/>
              <a:t>performance measure that gives the degree of success. </a:t>
            </a:r>
            <a:endParaRPr lang="en-US" dirty="0" smtClean="0"/>
          </a:p>
          <a:p>
            <a:pPr marL="457200" indent="-457200" algn="just">
              <a:lnSpc>
                <a:spcPct val="150000"/>
              </a:lnSpc>
              <a:buAutoNum type="arabicPeriod"/>
            </a:pPr>
            <a:r>
              <a:rPr lang="en-US" dirty="0" smtClean="0"/>
              <a:t>Agent’s </a:t>
            </a:r>
            <a:r>
              <a:rPr lang="en-US" dirty="0"/>
              <a:t>percept sequence received so </a:t>
            </a:r>
            <a:r>
              <a:rPr lang="en-US" dirty="0" smtClean="0"/>
              <a:t>far.</a:t>
            </a:r>
          </a:p>
          <a:p>
            <a:pPr marL="457200" indent="-457200" algn="just">
              <a:lnSpc>
                <a:spcPct val="150000"/>
              </a:lnSpc>
              <a:buAutoNum type="arabicPeriod"/>
            </a:pPr>
            <a:r>
              <a:rPr lang="en-US" dirty="0" smtClean="0"/>
              <a:t>Agent’s </a:t>
            </a:r>
            <a:r>
              <a:rPr lang="en-US" dirty="0"/>
              <a:t>prior knowledge about the </a:t>
            </a:r>
            <a:r>
              <a:rPr lang="en-US" dirty="0" smtClean="0"/>
              <a:t>environment.</a:t>
            </a:r>
          </a:p>
          <a:p>
            <a:pPr marL="457200" indent="-457200" algn="just">
              <a:lnSpc>
                <a:spcPct val="150000"/>
              </a:lnSpc>
              <a:buAutoNum type="arabicPeriod"/>
            </a:pPr>
            <a:r>
              <a:rPr lang="en-US" dirty="0" smtClean="0"/>
              <a:t>Agent’s </a:t>
            </a:r>
            <a:r>
              <a:rPr lang="en-US" dirty="0"/>
              <a:t>actions that can be performed</a:t>
            </a:r>
          </a:p>
        </p:txBody>
      </p:sp>
    </p:spTree>
    <p:extLst>
      <p:ext uri="{BB962C8B-B14F-4D97-AF65-F5344CB8AC3E}">
        <p14:creationId xmlns:p14="http://schemas.microsoft.com/office/powerpoint/2010/main" val="10408867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54511" y="273098"/>
            <a:ext cx="10609358" cy="3097899"/>
          </a:xfrm>
          <a:prstGeom prst="rect">
            <a:avLst/>
          </a:prstGeom>
        </p:spPr>
      </p:pic>
      <p:sp>
        <p:nvSpPr>
          <p:cNvPr id="5" name="TextBox 4"/>
          <p:cNvSpPr txBox="1"/>
          <p:nvPr/>
        </p:nvSpPr>
        <p:spPr>
          <a:xfrm>
            <a:off x="313899" y="3589361"/>
            <a:ext cx="11554606" cy="2554545"/>
          </a:xfrm>
          <a:prstGeom prst="rect">
            <a:avLst/>
          </a:prstGeom>
          <a:noFill/>
        </p:spPr>
        <p:txBody>
          <a:bodyPr wrap="square" rtlCol="0">
            <a:spAutoFit/>
          </a:bodyPr>
          <a:lstStyle/>
          <a:p>
            <a:r>
              <a:rPr lang="en-US" sz="2000" b="1" dirty="0"/>
              <a:t>Structure of Intelligent Agents </a:t>
            </a:r>
            <a:endParaRPr lang="en-US" sz="2000" b="1" dirty="0" smtClean="0"/>
          </a:p>
          <a:p>
            <a:endParaRPr lang="en-US" sz="2000" b="1" dirty="0"/>
          </a:p>
          <a:p>
            <a:r>
              <a:rPr lang="en-US" sz="2000" dirty="0" smtClean="0"/>
              <a:t>The </a:t>
            </a:r>
            <a:r>
              <a:rPr lang="en-US" sz="2000" dirty="0"/>
              <a:t>structure of an intelligent agent can be given as, </a:t>
            </a:r>
            <a:endParaRPr lang="en-US" sz="2000" dirty="0" smtClean="0"/>
          </a:p>
          <a:p>
            <a:r>
              <a:rPr lang="en-US" sz="2000" dirty="0"/>
              <a:t>	</a:t>
            </a:r>
            <a:endParaRPr lang="en-US" sz="2000" dirty="0" smtClean="0"/>
          </a:p>
          <a:p>
            <a:r>
              <a:rPr lang="en-US" sz="2000" dirty="0"/>
              <a:t>	</a:t>
            </a:r>
            <a:r>
              <a:rPr lang="en-US" sz="2000" b="1" dirty="0" smtClean="0">
                <a:solidFill>
                  <a:srgbClr val="FF0000"/>
                </a:solidFill>
              </a:rPr>
              <a:t>Agent </a:t>
            </a:r>
            <a:r>
              <a:rPr lang="en-US" sz="2000" b="1" dirty="0">
                <a:solidFill>
                  <a:srgbClr val="FF0000"/>
                </a:solidFill>
              </a:rPr>
              <a:t>= Architecture + Agent Program</a:t>
            </a:r>
            <a:endParaRPr lang="en-US" sz="2000" b="1" dirty="0" smtClean="0">
              <a:solidFill>
                <a:srgbClr val="FF0000"/>
              </a:solidFill>
            </a:endParaRPr>
          </a:p>
          <a:p>
            <a:endParaRPr lang="en-US" sz="2000" dirty="0"/>
          </a:p>
          <a:p>
            <a:r>
              <a:rPr lang="en-US" sz="2000" dirty="0" smtClean="0"/>
              <a:t>where </a:t>
            </a:r>
            <a:r>
              <a:rPr lang="en-US" sz="2000" dirty="0"/>
              <a:t>architecture is the machinery on which an agent works, and agent program is an implementation of an agent function.</a:t>
            </a:r>
          </a:p>
        </p:txBody>
      </p:sp>
    </p:spTree>
    <p:extLst>
      <p:ext uri="{BB962C8B-B14F-4D97-AF65-F5344CB8AC3E}">
        <p14:creationId xmlns:p14="http://schemas.microsoft.com/office/powerpoint/2010/main" val="41013243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FEFA52-96DA-3E0F-8B3A-E4F9AA73E4C9}"/>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Types of AI Agents</a:t>
            </a:r>
          </a:p>
        </p:txBody>
      </p:sp>
      <p:sp>
        <p:nvSpPr>
          <p:cNvPr id="3" name="Content Placeholder 2">
            <a:extLst>
              <a:ext uri="{FF2B5EF4-FFF2-40B4-BE49-F238E27FC236}">
                <a16:creationId xmlns:a16="http://schemas.microsoft.com/office/drawing/2014/main" xmlns="" id="{3066D92F-C632-4684-EC8E-77420A0C5C98}"/>
              </a:ext>
            </a:extLst>
          </p:cNvPr>
          <p:cNvSpPr>
            <a:spLocks noGrp="1"/>
          </p:cNvSpPr>
          <p:nvPr>
            <p:ph idx="1"/>
          </p:nvPr>
        </p:nvSpPr>
        <p:spPr/>
        <p:txBody>
          <a:bodyPr>
            <a:normAutofit/>
          </a:bodyPr>
          <a:lstStyle/>
          <a:p>
            <a:pPr>
              <a:lnSpc>
                <a:spcPct val="150000"/>
              </a:lnSpc>
              <a:buFont typeface="Wingdings" panose="05000000000000000000" pitchFamily="2" charset="2"/>
              <a:buChar char="§"/>
            </a:pPr>
            <a:r>
              <a:rPr lang="en-IN" sz="2400" dirty="0"/>
              <a:t> </a:t>
            </a:r>
            <a:r>
              <a:rPr lang="en-IN" sz="2400" dirty="0">
                <a:latin typeface="Times New Roman" panose="02020603050405020304" pitchFamily="18" charset="0"/>
                <a:cs typeface="Times New Roman" panose="02020603050405020304" pitchFamily="18" charset="0"/>
              </a:rPr>
              <a:t>Simple Reflex Agent</a:t>
            </a:r>
          </a:p>
          <a:p>
            <a:pPr>
              <a:lnSpc>
                <a:spcPct val="150000"/>
              </a:lnSpc>
              <a:buFont typeface="Wingdings" panose="05000000000000000000" pitchFamily="2" charset="2"/>
              <a:buChar char="§"/>
            </a:pPr>
            <a:r>
              <a:rPr lang="en-IN" sz="2400" dirty="0" smtClean="0">
                <a:latin typeface="Times New Roman" panose="02020603050405020304" pitchFamily="18" charset="0"/>
                <a:cs typeface="Times New Roman" panose="02020603050405020304" pitchFamily="18" charset="0"/>
              </a:rPr>
              <a:t>Model-based </a:t>
            </a:r>
            <a:r>
              <a:rPr lang="en-IN" sz="2400" dirty="0">
                <a:latin typeface="Times New Roman" panose="02020603050405020304" pitchFamily="18" charset="0"/>
                <a:cs typeface="Times New Roman" panose="02020603050405020304" pitchFamily="18" charset="0"/>
              </a:rPr>
              <a:t>reflex agent</a:t>
            </a:r>
          </a:p>
          <a:p>
            <a:pPr>
              <a:lnSpc>
                <a:spcPct val="150000"/>
              </a:lnSpc>
              <a:buFont typeface="Wingdings" panose="05000000000000000000" pitchFamily="2" charset="2"/>
              <a:buChar char="§"/>
            </a:pPr>
            <a:r>
              <a:rPr lang="en-IN" sz="2400" dirty="0" smtClean="0">
                <a:latin typeface="Times New Roman" panose="02020603050405020304" pitchFamily="18" charset="0"/>
                <a:cs typeface="Times New Roman" panose="02020603050405020304" pitchFamily="18" charset="0"/>
              </a:rPr>
              <a:t>Goal-based </a:t>
            </a:r>
            <a:r>
              <a:rPr lang="en-IN" sz="2400" dirty="0">
                <a:latin typeface="Times New Roman" panose="02020603050405020304" pitchFamily="18" charset="0"/>
                <a:cs typeface="Times New Roman" panose="02020603050405020304" pitchFamily="18" charset="0"/>
              </a:rPr>
              <a:t>agents</a:t>
            </a:r>
          </a:p>
          <a:p>
            <a:pPr>
              <a:lnSpc>
                <a:spcPct val="150000"/>
              </a:lnSpc>
              <a:buFont typeface="Wingdings" panose="05000000000000000000" pitchFamily="2" charset="2"/>
              <a:buChar char="§"/>
            </a:pPr>
            <a:r>
              <a:rPr lang="en-IN" sz="2400" dirty="0" smtClean="0">
                <a:latin typeface="Times New Roman" panose="02020603050405020304" pitchFamily="18" charset="0"/>
                <a:cs typeface="Times New Roman" panose="02020603050405020304" pitchFamily="18" charset="0"/>
              </a:rPr>
              <a:t>Utility-based </a:t>
            </a:r>
            <a:r>
              <a:rPr lang="en-IN" sz="2400" dirty="0">
                <a:latin typeface="Times New Roman" panose="02020603050405020304" pitchFamily="18" charset="0"/>
                <a:cs typeface="Times New Roman" panose="02020603050405020304" pitchFamily="18" charset="0"/>
              </a:rPr>
              <a:t>agent</a:t>
            </a:r>
          </a:p>
          <a:p>
            <a:pPr>
              <a:lnSpc>
                <a:spcPct val="150000"/>
              </a:lnSpc>
              <a:buFont typeface="Wingdings" panose="05000000000000000000" pitchFamily="2" charset="2"/>
              <a:buChar char="§"/>
            </a:pPr>
            <a:r>
              <a:rPr lang="en-IN" sz="2400" dirty="0" smtClean="0">
                <a:latin typeface="Times New Roman" panose="02020603050405020304" pitchFamily="18" charset="0"/>
                <a:cs typeface="Times New Roman" panose="02020603050405020304" pitchFamily="18" charset="0"/>
              </a:rPr>
              <a:t>Learning </a:t>
            </a:r>
            <a:r>
              <a:rPr lang="en-IN" sz="2400" dirty="0">
                <a:latin typeface="Times New Roman" panose="02020603050405020304" pitchFamily="18" charset="0"/>
                <a:cs typeface="Times New Roman" panose="02020603050405020304" pitchFamily="18" charset="0"/>
              </a:rPr>
              <a:t>agent</a:t>
            </a:r>
          </a:p>
        </p:txBody>
      </p:sp>
    </p:spTree>
    <p:extLst>
      <p:ext uri="{BB962C8B-B14F-4D97-AF65-F5344CB8AC3E}">
        <p14:creationId xmlns:p14="http://schemas.microsoft.com/office/powerpoint/2010/main" val="33619732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80038E-5FF1-5632-2EFF-0806CF5499B8}"/>
              </a:ext>
            </a:extLst>
          </p:cNvPr>
          <p:cNvSpPr>
            <a:spLocks noGrp="1"/>
          </p:cNvSpPr>
          <p:nvPr>
            <p:ph type="title"/>
          </p:nvPr>
        </p:nvSpPr>
        <p:spPr>
          <a:xfrm>
            <a:off x="292062" y="191070"/>
            <a:ext cx="10058400" cy="668740"/>
          </a:xfrm>
        </p:spPr>
        <p:txBody>
          <a:bodyPr>
            <a:normAutofit/>
          </a:bodyPr>
          <a:lstStyle/>
          <a:p>
            <a:r>
              <a:rPr lang="en-IN" sz="4000" dirty="0">
                <a:latin typeface="Times New Roman" panose="02020603050405020304" pitchFamily="18" charset="0"/>
                <a:cs typeface="Times New Roman" panose="02020603050405020304" pitchFamily="18" charset="0"/>
              </a:rPr>
              <a:t>1. Simple Reflex Agent</a:t>
            </a:r>
          </a:p>
        </p:txBody>
      </p:sp>
      <p:pic>
        <p:nvPicPr>
          <p:cNvPr id="5" name="Content Placeholder 4">
            <a:extLst>
              <a:ext uri="{FF2B5EF4-FFF2-40B4-BE49-F238E27FC236}">
                <a16:creationId xmlns:a16="http://schemas.microsoft.com/office/drawing/2014/main" xmlns="" id="{79780BC7-66F3-8A6D-CF9C-1BD589A2F082}"/>
              </a:ext>
            </a:extLst>
          </p:cNvPr>
          <p:cNvPicPr>
            <a:picLocks noGrp="1" noChangeAspect="1"/>
          </p:cNvPicPr>
          <p:nvPr>
            <p:ph idx="1"/>
          </p:nvPr>
        </p:nvPicPr>
        <p:blipFill>
          <a:blip r:embed="rId2"/>
          <a:stretch>
            <a:fillRect/>
          </a:stretch>
        </p:blipFill>
        <p:spPr>
          <a:xfrm>
            <a:off x="292062" y="1186504"/>
            <a:ext cx="5767543" cy="4914926"/>
          </a:xfrm>
          <a:prstGeom prst="rect">
            <a:avLst/>
          </a:prstGeom>
        </p:spPr>
      </p:pic>
      <p:sp>
        <p:nvSpPr>
          <p:cNvPr id="4" name="Content Placeholder 2">
            <a:extLst>
              <a:ext uri="{FF2B5EF4-FFF2-40B4-BE49-F238E27FC236}">
                <a16:creationId xmlns:a16="http://schemas.microsoft.com/office/drawing/2014/main" xmlns="" id="{143AD601-593D-E28F-8269-D7E305AAED8E}"/>
              </a:ext>
            </a:extLst>
          </p:cNvPr>
          <p:cNvSpPr txBox="1">
            <a:spLocks/>
          </p:cNvSpPr>
          <p:nvPr/>
        </p:nvSpPr>
        <p:spPr>
          <a:xfrm>
            <a:off x="6196084" y="382138"/>
            <a:ext cx="5718412" cy="5295888"/>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50000"/>
              </a:lnSpc>
              <a:buFont typeface="Wingdings" panose="05000000000000000000" pitchFamily="2" charset="2"/>
              <a:buChar char="§"/>
            </a:pPr>
            <a:r>
              <a:rPr lang="en-US" sz="2400" dirty="0" smtClean="0"/>
              <a:t> </a:t>
            </a:r>
            <a:r>
              <a:rPr lang="en-US" sz="2400" dirty="0" smtClean="0">
                <a:cs typeface="Times New Roman" panose="02020603050405020304" pitchFamily="18" charset="0"/>
              </a:rPr>
              <a:t>The Simple reflex agents are the simplest agents.</a:t>
            </a:r>
          </a:p>
          <a:p>
            <a:pPr algn="just">
              <a:lnSpc>
                <a:spcPct val="150000"/>
              </a:lnSpc>
              <a:buFont typeface="Wingdings" panose="05000000000000000000" pitchFamily="2" charset="2"/>
              <a:buChar char="§"/>
            </a:pPr>
            <a:r>
              <a:rPr lang="en-US" sz="2400" dirty="0" smtClean="0">
                <a:cs typeface="Times New Roman" panose="02020603050405020304" pitchFamily="18" charset="0"/>
              </a:rPr>
              <a:t>These agents take decisions on the basis of the current percepts and ignore the rest of the percept history.</a:t>
            </a:r>
          </a:p>
          <a:p>
            <a:pPr algn="just">
              <a:lnSpc>
                <a:spcPct val="150000"/>
              </a:lnSpc>
              <a:buFont typeface="Wingdings" panose="05000000000000000000" pitchFamily="2" charset="2"/>
              <a:buChar char="§"/>
            </a:pPr>
            <a:r>
              <a:rPr lang="en-US" sz="2400" dirty="0" smtClean="0">
                <a:cs typeface="Times New Roman" panose="02020603050405020304" pitchFamily="18" charset="0"/>
              </a:rPr>
              <a:t> These agents only succeed in the fully observable environment.</a:t>
            </a:r>
          </a:p>
          <a:p>
            <a:pPr algn="just">
              <a:lnSpc>
                <a:spcPct val="150000"/>
              </a:lnSpc>
              <a:buFont typeface="Wingdings" panose="05000000000000000000" pitchFamily="2" charset="2"/>
              <a:buChar char="§"/>
            </a:pPr>
            <a:r>
              <a:rPr lang="en-US" sz="2400" dirty="0" smtClean="0">
                <a:cs typeface="Times New Roman" panose="02020603050405020304" pitchFamily="18" charset="0"/>
              </a:rPr>
              <a:t> The Simple reflex agent does not consider any part of percepts history during their decision and action process.</a:t>
            </a:r>
            <a:endParaRPr lang="en-IN" sz="2400" dirty="0">
              <a:cs typeface="Times New Roman" panose="02020603050405020304" pitchFamily="18" charset="0"/>
            </a:endParaRPr>
          </a:p>
        </p:txBody>
      </p:sp>
    </p:spTree>
    <p:extLst>
      <p:ext uri="{BB962C8B-B14F-4D97-AF65-F5344CB8AC3E}">
        <p14:creationId xmlns:p14="http://schemas.microsoft.com/office/powerpoint/2010/main" val="11100038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43AD601-593D-E28F-8269-D7E305AAED8E}"/>
              </a:ext>
            </a:extLst>
          </p:cNvPr>
          <p:cNvSpPr>
            <a:spLocks noGrp="1"/>
          </p:cNvSpPr>
          <p:nvPr>
            <p:ph idx="1"/>
          </p:nvPr>
        </p:nvSpPr>
        <p:spPr>
          <a:xfrm>
            <a:off x="360301" y="453662"/>
            <a:ext cx="11595138" cy="5715126"/>
          </a:xfrm>
        </p:spPr>
        <p:txBody>
          <a:bodyPr>
            <a:normAutofit/>
          </a:bodyPr>
          <a:lstStyle/>
          <a:p>
            <a:pPr algn="just">
              <a:lnSpc>
                <a:spcPct val="150000"/>
              </a:lnSpc>
              <a:buFont typeface="Calibri" panose="020F0502020204030204" pitchFamily="34" charset="0"/>
              <a:buChar char="*"/>
            </a:pPr>
            <a:r>
              <a:rPr lang="en-US" sz="2400" dirty="0"/>
              <a:t>They work using condition-action rule that maps a state (condition) to an action. If the condition is true, then the action is taken, else not. </a:t>
            </a:r>
            <a:endParaRPr lang="en-US" sz="2400" dirty="0" smtClean="0"/>
          </a:p>
          <a:p>
            <a:pPr algn="just">
              <a:lnSpc>
                <a:spcPct val="150000"/>
              </a:lnSpc>
              <a:buFont typeface="Calibri" panose="020F0502020204030204" pitchFamily="34" charset="0"/>
              <a:buChar char="*"/>
            </a:pPr>
            <a:r>
              <a:rPr lang="en-US" sz="2400" dirty="0" smtClean="0"/>
              <a:t>The </a:t>
            </a:r>
            <a:r>
              <a:rPr lang="en-US" sz="2400" dirty="0"/>
              <a:t>problem with a simple reflex agent is that they succeed only when the environment is fully observable. If the environment is partially observable, then the agent may get stuck in infinite </a:t>
            </a:r>
            <a:r>
              <a:rPr lang="en-US" sz="2400" dirty="0" smtClean="0"/>
              <a:t>loops.</a:t>
            </a:r>
          </a:p>
          <a:p>
            <a:pPr algn="just">
              <a:lnSpc>
                <a:spcPct val="150000"/>
              </a:lnSpc>
              <a:buFont typeface="Calibri" panose="020F0502020204030204" pitchFamily="34" charset="0"/>
              <a:buChar char="*"/>
            </a:pPr>
            <a:r>
              <a:rPr lang="en-IN" sz="2400" dirty="0" smtClean="0">
                <a:latin typeface="Times New Roman" panose="02020603050405020304" pitchFamily="18" charset="0"/>
                <a:cs typeface="Times New Roman" panose="02020603050405020304" pitchFamily="18" charset="0"/>
              </a:rPr>
              <a:t> Examples :</a:t>
            </a:r>
          </a:p>
          <a:p>
            <a:pPr lvl="1" algn="just">
              <a:lnSpc>
                <a:spcPct val="150000"/>
              </a:lnSpc>
              <a:buFont typeface="Calibri" panose="020F0502020204030204" pitchFamily="34" charset="0"/>
              <a:buChar char="*"/>
            </a:pPr>
            <a:r>
              <a:rPr lang="en-IN" sz="2200" dirty="0" smtClean="0">
                <a:latin typeface="Times New Roman" panose="02020603050405020304" pitchFamily="18" charset="0"/>
                <a:cs typeface="Times New Roman" panose="02020603050405020304" pitchFamily="18" charset="0"/>
              </a:rPr>
              <a:t>Vacuum cleaner sucking dirt upon detection.</a:t>
            </a:r>
          </a:p>
          <a:p>
            <a:pPr lvl="1" algn="just">
              <a:lnSpc>
                <a:spcPct val="150000"/>
              </a:lnSpc>
              <a:buFont typeface="Calibri" panose="020F0502020204030204" pitchFamily="34" charset="0"/>
              <a:buChar char="*"/>
            </a:pPr>
            <a:r>
              <a:rPr lang="en-IN" sz="2200" dirty="0" smtClean="0">
                <a:latin typeface="Times New Roman" panose="02020603050405020304" pitchFamily="18" charset="0"/>
                <a:cs typeface="Times New Roman" panose="02020603050405020304" pitchFamily="18" charset="0"/>
              </a:rPr>
              <a:t>An Automatic door opening when motion is detection.</a:t>
            </a:r>
          </a:p>
        </p:txBody>
      </p:sp>
    </p:spTree>
    <p:extLst>
      <p:ext uri="{BB962C8B-B14F-4D97-AF65-F5344CB8AC3E}">
        <p14:creationId xmlns:p14="http://schemas.microsoft.com/office/powerpoint/2010/main" val="27163143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B51B4E-678E-DA91-EEEA-78C5239888FE}"/>
              </a:ext>
            </a:extLst>
          </p:cNvPr>
          <p:cNvSpPr>
            <a:spLocks noGrp="1"/>
          </p:cNvSpPr>
          <p:nvPr>
            <p:ph type="title"/>
          </p:nvPr>
        </p:nvSpPr>
        <p:spPr>
          <a:xfrm>
            <a:off x="305709" y="150127"/>
            <a:ext cx="10058400" cy="750626"/>
          </a:xfrm>
        </p:spPr>
        <p:txBody>
          <a:bodyPr>
            <a:normAutofit/>
          </a:bodyPr>
          <a:lstStyle/>
          <a:p>
            <a:r>
              <a:rPr lang="en-IN" sz="4000" dirty="0">
                <a:latin typeface="Times New Roman" panose="02020603050405020304" pitchFamily="18" charset="0"/>
                <a:cs typeface="Times New Roman" panose="02020603050405020304" pitchFamily="18" charset="0"/>
              </a:rPr>
              <a:t>2. Model-based reflex agent</a:t>
            </a:r>
          </a:p>
        </p:txBody>
      </p:sp>
      <p:pic>
        <p:nvPicPr>
          <p:cNvPr id="5" name="Content Placeholder 4">
            <a:extLst>
              <a:ext uri="{FF2B5EF4-FFF2-40B4-BE49-F238E27FC236}">
                <a16:creationId xmlns:a16="http://schemas.microsoft.com/office/drawing/2014/main" xmlns="" id="{A8E51C4C-A937-6484-4D18-BDA1E6BB0369}"/>
              </a:ext>
            </a:extLst>
          </p:cNvPr>
          <p:cNvPicPr>
            <a:picLocks noGrp="1" noChangeAspect="1"/>
          </p:cNvPicPr>
          <p:nvPr>
            <p:ph idx="1"/>
          </p:nvPr>
        </p:nvPicPr>
        <p:blipFill>
          <a:blip r:embed="rId2"/>
          <a:stretch>
            <a:fillRect/>
          </a:stretch>
        </p:blipFill>
        <p:spPr>
          <a:xfrm>
            <a:off x="305709" y="1000101"/>
            <a:ext cx="5672010" cy="5127743"/>
          </a:xfrm>
          <a:prstGeom prst="rect">
            <a:avLst/>
          </a:prstGeom>
        </p:spPr>
      </p:pic>
      <p:sp>
        <p:nvSpPr>
          <p:cNvPr id="4" name="Content Placeholder 2">
            <a:extLst>
              <a:ext uri="{FF2B5EF4-FFF2-40B4-BE49-F238E27FC236}">
                <a16:creationId xmlns:a16="http://schemas.microsoft.com/office/drawing/2014/main" xmlns="" id="{110C7522-D6D4-0D23-F5EE-2B1ADF91DDFC}"/>
              </a:ext>
            </a:extLst>
          </p:cNvPr>
          <p:cNvSpPr txBox="1">
            <a:spLocks/>
          </p:cNvSpPr>
          <p:nvPr/>
        </p:nvSpPr>
        <p:spPr>
          <a:xfrm>
            <a:off x="6141492" y="382137"/>
            <a:ext cx="5936777" cy="548695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50000"/>
              </a:lnSpc>
              <a:buFont typeface="Calibri" panose="020F0502020204030204" pitchFamily="34" charset="0"/>
              <a:buChar char="*"/>
            </a:pPr>
            <a:r>
              <a:rPr lang="en-US" dirty="0" smtClean="0">
                <a:latin typeface="Times New Roman" panose="02020603050405020304" pitchFamily="18" charset="0"/>
                <a:cs typeface="Times New Roman" panose="02020603050405020304" pitchFamily="18" charset="0"/>
              </a:rPr>
              <a:t> The Model-based agent can work in a partially observable environment, and track the situation.</a:t>
            </a:r>
          </a:p>
          <a:p>
            <a:pPr algn="just">
              <a:lnSpc>
                <a:spcPct val="150000"/>
              </a:lnSpc>
              <a:buFont typeface="Calibri" panose="020F0502020204030204" pitchFamily="34" charset="0"/>
              <a:buChar char="*"/>
            </a:pPr>
            <a:endParaRPr lang="en-US" dirty="0" smtClean="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 model-based agent has two important factors:</a:t>
            </a:r>
          </a:p>
          <a:p>
            <a:pPr lvl="1"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Model: It is knowledge about "how things happen in the</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world," so it is called a Model-based agent.</a:t>
            </a:r>
          </a:p>
          <a:p>
            <a:pPr lvl="1"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Internal State: </a:t>
            </a:r>
            <a:r>
              <a:rPr lang="en-US" dirty="0"/>
              <a:t>represents unobserved aspects of the current state depending on percept </a:t>
            </a:r>
            <a:r>
              <a:rPr lang="en-US" dirty="0" smtClean="0"/>
              <a:t>history</a:t>
            </a:r>
            <a:r>
              <a:rPr lang="en-IN" dirty="0" smtClean="0">
                <a:latin typeface="Times New Roman" panose="02020603050405020304" pitchFamily="18" charset="0"/>
                <a:cs typeface="Times New Roman" panose="02020603050405020304" pitchFamily="18" charset="0"/>
              </a:rPr>
              <a:t>.</a:t>
            </a:r>
          </a:p>
          <a:p>
            <a:pPr lvl="1" algn="just">
              <a:lnSpc>
                <a:spcPct val="150000"/>
              </a:lnSpc>
              <a:buFont typeface="Arial" panose="020B0604020202020204" pitchFamily="34" charset="0"/>
              <a:buChar char="•"/>
            </a:pPr>
            <a:endParaRPr lang="en-IN" dirty="0" smtClean="0">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endParaRPr lang="en-IN" dirty="0" smtClean="0">
              <a:latin typeface="Times New Roman" panose="02020603050405020304" pitchFamily="18" charset="0"/>
              <a:cs typeface="Times New Roman" panose="02020603050405020304" pitchFamily="18" charset="0"/>
            </a:endParaRPr>
          </a:p>
          <a:p>
            <a:pPr>
              <a:lnSpc>
                <a:spcPct val="150000"/>
              </a:lnSpc>
            </a:pPr>
            <a:endParaRPr lang="en-IN" dirty="0"/>
          </a:p>
        </p:txBody>
      </p:sp>
    </p:spTree>
    <p:extLst>
      <p:ext uri="{BB962C8B-B14F-4D97-AF65-F5344CB8AC3E}">
        <p14:creationId xmlns:p14="http://schemas.microsoft.com/office/powerpoint/2010/main" val="203487290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idx="1"/>
          </p:nvPr>
        </p:nvSpPr>
        <p:spPr bwMode="auto">
          <a:xfrm>
            <a:off x="300251" y="518365"/>
            <a:ext cx="11395882" cy="5539978"/>
          </a:xfrm>
          <a:prstGeom prst="rect">
            <a:avLst/>
          </a:prstGeom>
          <a:solidFill>
            <a:srgbClr val="F3F5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smtClean="0">
                <a:ln>
                  <a:noFill/>
                </a:ln>
                <a:solidFill>
                  <a:srgbClr val="0A0A0A"/>
                </a:solidFill>
                <a:effectLst/>
                <a:latin typeface="+mn-lt"/>
              </a:rPr>
              <a:t>How They Work:</a:t>
            </a:r>
            <a:endParaRPr kumimoji="0" lang="en-US" altLang="en-US" sz="2400" b="0" i="0" u="none" strike="noStrike" cap="none" normalizeH="0" baseline="0" dirty="0" smtClean="0">
              <a:ln>
                <a:noFill/>
              </a:ln>
              <a:solidFill>
                <a:schemeClr val="tx1"/>
              </a:solidFill>
              <a:effectLst/>
              <a:latin typeface="+mn-lt"/>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2400" b="1" i="0" u="none" strike="noStrike" cap="none" normalizeH="0" baseline="0" dirty="0" smtClean="0">
                <a:ln>
                  <a:noFill/>
                </a:ln>
                <a:solidFill>
                  <a:srgbClr val="0A0A0A"/>
                </a:solidFill>
                <a:effectLst/>
                <a:latin typeface="+mn-lt"/>
              </a:rPr>
              <a:t>UPDATE-STATE</a:t>
            </a:r>
            <a:r>
              <a:rPr kumimoji="0" lang="en-US" altLang="en-US" sz="2400" b="0" i="0" u="none" strike="noStrike" cap="none" normalizeH="0" baseline="0" dirty="0" smtClean="0">
                <a:ln>
                  <a:noFill/>
                </a:ln>
                <a:solidFill>
                  <a:srgbClr val="0A0A0A"/>
                </a:solidFill>
                <a:effectLst/>
                <a:latin typeface="+mn-lt"/>
              </a:rPr>
              <a:t>: It updates its internal model using current sensors (percepts), the previous state, and knowledge of how the world evolves.</a:t>
            </a:r>
          </a:p>
          <a:p>
            <a:pPr marL="0" marR="0" lvl="0" indent="0" algn="just" defTabSz="914400" rtl="0" eaLnBrk="0" fontAlgn="base" latinLnBrk="0" hangingPunct="0">
              <a:lnSpc>
                <a:spcPct val="150000"/>
              </a:lnSpc>
              <a:spcBef>
                <a:spcPct val="0"/>
              </a:spcBef>
              <a:spcAft>
                <a:spcPct val="0"/>
              </a:spcAft>
              <a:buClrTx/>
              <a:buSzTx/>
              <a:buFontTx/>
              <a:buAutoNum type="arabicPeriod" startAt="2"/>
              <a:tabLst/>
            </a:pPr>
            <a:r>
              <a:rPr kumimoji="0" lang="en-US" altLang="en-US" sz="2400" b="1" i="0" u="none" strike="noStrike" cap="none" normalizeH="0" baseline="0" dirty="0" smtClean="0">
                <a:ln>
                  <a:noFill/>
                </a:ln>
                <a:solidFill>
                  <a:srgbClr val="0A0A0A"/>
                </a:solidFill>
                <a:effectLst/>
                <a:latin typeface="+mn-lt"/>
              </a:rPr>
              <a:t>RULE-MATCH</a:t>
            </a:r>
            <a:r>
              <a:rPr kumimoji="0" lang="en-US" altLang="en-US" sz="2400" b="0" i="0" u="none" strike="noStrike" cap="none" normalizeH="0" baseline="0" dirty="0" smtClean="0">
                <a:ln>
                  <a:noFill/>
                </a:ln>
                <a:solidFill>
                  <a:srgbClr val="0A0A0A"/>
                </a:solidFill>
                <a:effectLst/>
                <a:latin typeface="+mn-lt"/>
              </a:rPr>
              <a:t>: It checks this updated state against a set of rules (e.g., "If car is too close, brake").</a:t>
            </a:r>
          </a:p>
          <a:p>
            <a:pPr marL="0" marR="0" lvl="0" indent="0" algn="just" defTabSz="914400" rtl="0" eaLnBrk="0" fontAlgn="base" latinLnBrk="0" hangingPunct="0">
              <a:lnSpc>
                <a:spcPct val="150000"/>
              </a:lnSpc>
              <a:spcBef>
                <a:spcPct val="0"/>
              </a:spcBef>
              <a:spcAft>
                <a:spcPct val="0"/>
              </a:spcAft>
              <a:buClrTx/>
              <a:buSzTx/>
              <a:buFontTx/>
              <a:buAutoNum type="arabicPeriod" startAt="3"/>
              <a:tabLst/>
            </a:pPr>
            <a:r>
              <a:rPr kumimoji="0" lang="en-US" altLang="en-US" sz="2400" b="1" i="0" u="none" strike="noStrike" cap="none" normalizeH="0" baseline="0" dirty="0" smtClean="0">
                <a:ln>
                  <a:noFill/>
                </a:ln>
                <a:solidFill>
                  <a:srgbClr val="0A0A0A"/>
                </a:solidFill>
                <a:effectLst/>
                <a:latin typeface="+mn-lt"/>
              </a:rPr>
              <a:t>Action</a:t>
            </a:r>
            <a:r>
              <a:rPr kumimoji="0" lang="en-US" altLang="en-US" sz="2400" b="0" i="0" u="none" strike="noStrike" cap="none" normalizeH="0" baseline="0" dirty="0" smtClean="0">
                <a:ln>
                  <a:noFill/>
                </a:ln>
                <a:solidFill>
                  <a:srgbClr val="0A0A0A"/>
                </a:solidFill>
                <a:effectLst/>
                <a:latin typeface="+mn-lt"/>
              </a:rPr>
              <a:t>: The action is chosen based on the internal state, not just current perception.</a:t>
            </a:r>
          </a:p>
          <a:p>
            <a:pPr marL="0" marR="0" lvl="0" indent="0" algn="just" defTabSz="914400" rtl="0" eaLnBrk="0" fontAlgn="base" latinLnBrk="0" hangingPunct="0">
              <a:lnSpc>
                <a:spcPct val="150000"/>
              </a:lnSpc>
              <a:spcBef>
                <a:spcPct val="0"/>
              </a:spcBef>
              <a:spcAft>
                <a:spcPct val="0"/>
              </a:spcAft>
              <a:buClrTx/>
              <a:buSzTx/>
              <a:buNone/>
              <a:tabLst/>
            </a:pPr>
            <a:r>
              <a:rPr lang="en-US" altLang="en-US" sz="2400" dirty="0" smtClean="0">
                <a:solidFill>
                  <a:srgbClr val="0A0A0A"/>
                </a:solidFill>
                <a:latin typeface="+mn-lt"/>
              </a:rPr>
              <a:t>Example : Autonomous </a:t>
            </a:r>
            <a:r>
              <a:rPr lang="en-US" altLang="en-US" sz="2400" dirty="0">
                <a:solidFill>
                  <a:srgbClr val="0A0A0A"/>
                </a:solidFill>
                <a:latin typeface="+mn-lt"/>
              </a:rPr>
              <a:t>Vehicle/Self-Driving Car: When a car in front disappears into a blind spot, the model-based agent remembers its existence and predicted speed. It uses sensors (camera/</a:t>
            </a:r>
            <a:r>
              <a:rPr lang="en-US" altLang="en-US" sz="2400" dirty="0" err="1">
                <a:solidFill>
                  <a:srgbClr val="0A0A0A"/>
                </a:solidFill>
                <a:latin typeface="+mn-lt"/>
              </a:rPr>
              <a:t>lidar</a:t>
            </a:r>
            <a:r>
              <a:rPr lang="en-US" altLang="en-US" sz="2400" dirty="0">
                <a:solidFill>
                  <a:srgbClr val="0A0A0A"/>
                </a:solidFill>
                <a:latin typeface="+mn-lt"/>
              </a:rPr>
              <a:t>) to update its internal model of surroundings to decide when to change lanes, brake, or accelerate based on past and current data</a:t>
            </a:r>
            <a:r>
              <a:rPr lang="en-US" altLang="en-US" sz="2400" dirty="0" smtClean="0">
                <a:solidFill>
                  <a:srgbClr val="0A0A0A"/>
                </a:solidFill>
                <a:latin typeface="+mn-lt"/>
              </a:rPr>
              <a:t>.</a:t>
            </a:r>
            <a:endParaRPr kumimoji="0" lang="en-US" altLang="en-US" sz="2400" b="0" i="0" u="none" strike="noStrike" cap="none" normalizeH="0" baseline="0" dirty="0" smtClean="0">
              <a:ln>
                <a:noFill/>
              </a:ln>
              <a:solidFill>
                <a:srgbClr val="0A0A0A"/>
              </a:solidFill>
              <a:effectLst/>
              <a:latin typeface="+mn-lt"/>
            </a:endParaRPr>
          </a:p>
        </p:txBody>
      </p:sp>
    </p:spTree>
    <p:extLst>
      <p:ext uri="{BB962C8B-B14F-4D97-AF65-F5344CB8AC3E}">
        <p14:creationId xmlns:p14="http://schemas.microsoft.com/office/powerpoint/2010/main" val="595568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338F8D-66FB-D44D-523D-A647D3470F92}"/>
              </a:ext>
            </a:extLst>
          </p:cNvPr>
          <p:cNvSpPr>
            <a:spLocks noGrp="1"/>
          </p:cNvSpPr>
          <p:nvPr>
            <p:ph type="title"/>
          </p:nvPr>
        </p:nvSpPr>
        <p:spPr>
          <a:xfrm>
            <a:off x="223824" y="296157"/>
            <a:ext cx="10058400" cy="713777"/>
          </a:xfrm>
        </p:spPr>
        <p:txBody>
          <a:bodyPr>
            <a:normAutofit/>
          </a:bodyPr>
          <a:lstStyle/>
          <a:p>
            <a:r>
              <a:rPr lang="en-IN" sz="4000" dirty="0">
                <a:latin typeface="Times New Roman" panose="02020603050405020304" pitchFamily="18" charset="0"/>
                <a:cs typeface="Times New Roman" panose="02020603050405020304" pitchFamily="18" charset="0"/>
              </a:rPr>
              <a:t>3. Goal-based agents</a:t>
            </a:r>
          </a:p>
        </p:txBody>
      </p:sp>
      <p:pic>
        <p:nvPicPr>
          <p:cNvPr id="5" name="Content Placeholder 4">
            <a:extLst>
              <a:ext uri="{FF2B5EF4-FFF2-40B4-BE49-F238E27FC236}">
                <a16:creationId xmlns:a16="http://schemas.microsoft.com/office/drawing/2014/main" xmlns="" id="{924BE284-6824-12D2-9DD0-1C3AB7EF5974}"/>
              </a:ext>
            </a:extLst>
          </p:cNvPr>
          <p:cNvPicPr>
            <a:picLocks noGrp="1" noChangeAspect="1"/>
          </p:cNvPicPr>
          <p:nvPr>
            <p:ph idx="1"/>
          </p:nvPr>
        </p:nvPicPr>
        <p:blipFill>
          <a:blip r:embed="rId2"/>
          <a:stretch>
            <a:fillRect/>
          </a:stretch>
        </p:blipFill>
        <p:spPr>
          <a:xfrm>
            <a:off x="599034" y="1009934"/>
            <a:ext cx="9683190" cy="5404513"/>
          </a:xfrm>
          <a:prstGeom prst="rect">
            <a:avLst/>
          </a:prstGeom>
        </p:spPr>
      </p:pic>
    </p:spTree>
    <p:extLst>
      <p:ext uri="{BB962C8B-B14F-4D97-AF65-F5344CB8AC3E}">
        <p14:creationId xmlns:p14="http://schemas.microsoft.com/office/powerpoint/2010/main" val="41017510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39FCBC-3B43-2A74-E83B-D9576F7F5916}"/>
              </a:ext>
            </a:extLst>
          </p:cNvPr>
          <p:cNvSpPr>
            <a:spLocks noGrp="1"/>
          </p:cNvSpPr>
          <p:nvPr>
            <p:ph idx="1"/>
          </p:nvPr>
        </p:nvSpPr>
        <p:spPr>
          <a:xfrm>
            <a:off x="136478" y="358127"/>
            <a:ext cx="11887199" cy="6015377"/>
          </a:xfrm>
        </p:spPr>
        <p:txBody>
          <a:bodyPr>
            <a:normAutofit lnSpcReduction="10000"/>
          </a:bodyPr>
          <a:lstStyle/>
          <a:p>
            <a:pPr algn="just">
              <a:lnSpc>
                <a:spcPct val="150000"/>
              </a:lnSpc>
              <a:buFont typeface="Calibri" panose="020F0502020204030204" pitchFamily="34" charset="0"/>
              <a:buChar char="*"/>
            </a:pPr>
            <a:r>
              <a:rPr lang="en-US" dirty="0"/>
              <a:t> </a:t>
            </a:r>
            <a:r>
              <a:rPr lang="en-US" dirty="0">
                <a:cs typeface="Times New Roman" panose="02020603050405020304" pitchFamily="18" charset="0"/>
              </a:rPr>
              <a:t>A goal-based agent is an AI system that acts to achieve specific objectives by planning, evaluating, and selecting the best actions to reach a desired future state, rather than just reacting to immediate stimuli.</a:t>
            </a:r>
          </a:p>
          <a:p>
            <a:pPr algn="just">
              <a:lnSpc>
                <a:spcPct val="150000"/>
              </a:lnSpc>
              <a:buFont typeface="Calibri" panose="020F0502020204030204" pitchFamily="34" charset="0"/>
              <a:buChar char="*"/>
            </a:pPr>
            <a:r>
              <a:rPr lang="en-US" dirty="0" smtClean="0">
                <a:cs typeface="Times New Roman" panose="02020603050405020304" pitchFamily="18" charset="0"/>
              </a:rPr>
              <a:t>The </a:t>
            </a:r>
            <a:r>
              <a:rPr lang="en-US" dirty="0">
                <a:cs typeface="Times New Roman" panose="02020603050405020304" pitchFamily="18" charset="0"/>
              </a:rPr>
              <a:t>knowledge of the current state environment is not </a:t>
            </a:r>
            <a:r>
              <a:rPr lang="en-US" dirty="0" smtClean="0">
                <a:cs typeface="Times New Roman" panose="02020603050405020304" pitchFamily="18" charset="0"/>
              </a:rPr>
              <a:t>always sufficient </a:t>
            </a:r>
            <a:r>
              <a:rPr lang="en-US" dirty="0">
                <a:cs typeface="Times New Roman" panose="02020603050405020304" pitchFamily="18" charset="0"/>
              </a:rPr>
              <a:t>to decide for an agent to what to do.</a:t>
            </a:r>
          </a:p>
          <a:p>
            <a:pPr algn="just">
              <a:lnSpc>
                <a:spcPct val="150000"/>
              </a:lnSpc>
              <a:buFont typeface="Calibri" panose="020F0502020204030204" pitchFamily="34" charset="0"/>
              <a:buChar char="*"/>
            </a:pPr>
            <a:r>
              <a:rPr lang="en-US" dirty="0">
                <a:cs typeface="Times New Roman" panose="02020603050405020304" pitchFamily="18" charset="0"/>
              </a:rPr>
              <a:t> The agent needs to know its goal which describes </a:t>
            </a:r>
            <a:r>
              <a:rPr lang="en-US" dirty="0" smtClean="0">
                <a:cs typeface="Times New Roman" panose="02020603050405020304" pitchFamily="18" charset="0"/>
              </a:rPr>
              <a:t>desirable </a:t>
            </a:r>
            <a:r>
              <a:rPr lang="en-IN" dirty="0" smtClean="0">
                <a:cs typeface="Times New Roman" panose="02020603050405020304" pitchFamily="18" charset="0"/>
              </a:rPr>
              <a:t>situations</a:t>
            </a:r>
            <a:r>
              <a:rPr lang="en-IN" dirty="0">
                <a:cs typeface="Times New Roman" panose="02020603050405020304" pitchFamily="18" charset="0"/>
              </a:rPr>
              <a:t>.</a:t>
            </a:r>
          </a:p>
          <a:p>
            <a:pPr algn="just">
              <a:lnSpc>
                <a:spcPct val="150000"/>
              </a:lnSpc>
              <a:buFont typeface="Calibri" panose="020F0502020204030204" pitchFamily="34" charset="0"/>
              <a:buChar char="*"/>
            </a:pPr>
            <a:r>
              <a:rPr lang="en-US" dirty="0">
                <a:cs typeface="Times New Roman" panose="02020603050405020304" pitchFamily="18" charset="0"/>
              </a:rPr>
              <a:t> Goal-based agents expand the capabilities of the </a:t>
            </a:r>
            <a:r>
              <a:rPr lang="en-US" dirty="0" smtClean="0">
                <a:cs typeface="Times New Roman" panose="02020603050405020304" pitchFamily="18" charset="0"/>
              </a:rPr>
              <a:t>model-based agent </a:t>
            </a:r>
            <a:r>
              <a:rPr lang="en-US" dirty="0">
                <a:cs typeface="Times New Roman" panose="02020603050405020304" pitchFamily="18" charset="0"/>
              </a:rPr>
              <a:t>by having the "goal" information</a:t>
            </a:r>
            <a:r>
              <a:rPr lang="en-US" dirty="0" smtClean="0">
                <a:cs typeface="Times New Roman" panose="02020603050405020304" pitchFamily="18" charset="0"/>
              </a:rPr>
              <a:t>.</a:t>
            </a:r>
          </a:p>
          <a:p>
            <a:pPr algn="just">
              <a:lnSpc>
                <a:spcPct val="150000"/>
              </a:lnSpc>
              <a:buFont typeface="Calibri" panose="020F0502020204030204" pitchFamily="34" charset="0"/>
              <a:buChar char="*"/>
            </a:pPr>
            <a:r>
              <a:rPr lang="en-US" b="1" dirty="0">
                <a:hlinkClick r:id="rId2"/>
              </a:rPr>
              <a:t>GPS Navigation Systems (e.g., Google Maps)</a:t>
            </a:r>
            <a:r>
              <a:rPr lang="en-US" b="1" dirty="0"/>
              <a:t>:</a:t>
            </a:r>
            <a:r>
              <a:rPr lang="en-US" dirty="0"/>
              <a:t> The agent takes the goal destination and maps multiple routes, selecting the most efficient path and updating it in real-time if conditions (e.g., traffic, road closures) change.</a:t>
            </a:r>
          </a:p>
          <a:p>
            <a:pPr algn="just">
              <a:lnSpc>
                <a:spcPct val="150000"/>
              </a:lnSpc>
            </a:pPr>
            <a:r>
              <a:rPr lang="en-US" b="1" dirty="0">
                <a:hlinkClick r:id="rId3"/>
              </a:rPr>
              <a:t>Personal Assistants (Siri/Alexa)</a:t>
            </a:r>
            <a:r>
              <a:rPr lang="en-US" b="1" dirty="0"/>
              <a:t>:</a:t>
            </a:r>
            <a:r>
              <a:rPr lang="en-US" dirty="0"/>
              <a:t> These agents take a voice command (e.g., "set a timer for 10 minutes") as a goal and perform a sequence of actions to fulfill it.</a:t>
            </a:r>
          </a:p>
          <a:p>
            <a:pPr algn="just">
              <a:lnSpc>
                <a:spcPct val="150000"/>
              </a:lnSpc>
            </a:pPr>
            <a:r>
              <a:rPr lang="en-US" b="1" dirty="0">
                <a:hlinkClick r:id="rId4"/>
              </a:rPr>
              <a:t>AI in Games (NPCs)</a:t>
            </a:r>
            <a:r>
              <a:rPr lang="en-US" b="1" dirty="0"/>
              <a:t>:</a:t>
            </a:r>
            <a:r>
              <a:rPr lang="en-US" dirty="0"/>
              <a:t> Non-player characters use goal-based reasoning to adopt strategies (e.g., "find cover," "attack player") to achieve </a:t>
            </a:r>
            <a:r>
              <a:rPr lang="en-US" dirty="0" err="1"/>
              <a:t>a,goal</a:t>
            </a:r>
            <a:r>
              <a:rPr lang="en-US" dirty="0"/>
              <a:t> like winning the game, rather than simply reacting to the player's </a:t>
            </a:r>
            <a:r>
              <a:rPr lang="en-US" dirty="0" smtClean="0"/>
              <a:t>presence</a:t>
            </a:r>
            <a:endParaRPr lang="en-US" dirty="0"/>
          </a:p>
          <a:p>
            <a:pPr algn="just">
              <a:lnSpc>
                <a:spcPct val="150000"/>
              </a:lnSpc>
              <a:buFont typeface="Calibri" panose="020F0502020204030204" pitchFamily="34" charset="0"/>
              <a:buChar char="*"/>
            </a:pPr>
            <a:endParaRPr lang="en-IN" dirty="0">
              <a:cs typeface="Times New Roman" panose="02020603050405020304" pitchFamily="18" charset="0"/>
            </a:endParaRPr>
          </a:p>
        </p:txBody>
      </p:sp>
    </p:spTree>
    <p:extLst>
      <p:ext uri="{BB962C8B-B14F-4D97-AF65-F5344CB8AC3E}">
        <p14:creationId xmlns:p14="http://schemas.microsoft.com/office/powerpoint/2010/main" val="23049071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EFAA4F-2257-8191-C794-853020D887ED}"/>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4. Utility-based agents</a:t>
            </a:r>
          </a:p>
        </p:txBody>
      </p:sp>
      <p:pic>
        <p:nvPicPr>
          <p:cNvPr id="5" name="Content Placeholder 4">
            <a:extLst>
              <a:ext uri="{FF2B5EF4-FFF2-40B4-BE49-F238E27FC236}">
                <a16:creationId xmlns:a16="http://schemas.microsoft.com/office/drawing/2014/main" xmlns="" id="{D03CBB21-D475-4BE5-1BCE-360B7F20671B}"/>
              </a:ext>
            </a:extLst>
          </p:cNvPr>
          <p:cNvPicPr>
            <a:picLocks noGrp="1" noChangeAspect="1"/>
          </p:cNvPicPr>
          <p:nvPr>
            <p:ph idx="1"/>
          </p:nvPr>
        </p:nvPicPr>
        <p:blipFill>
          <a:blip r:embed="rId2"/>
          <a:stretch>
            <a:fillRect/>
          </a:stretch>
        </p:blipFill>
        <p:spPr>
          <a:xfrm>
            <a:off x="2585884" y="1818968"/>
            <a:ext cx="5850193" cy="4434347"/>
          </a:xfrm>
          <a:prstGeom prst="rect">
            <a:avLst/>
          </a:prstGeom>
        </p:spPr>
      </p:pic>
    </p:spTree>
    <p:extLst>
      <p:ext uri="{BB962C8B-B14F-4D97-AF65-F5344CB8AC3E}">
        <p14:creationId xmlns:p14="http://schemas.microsoft.com/office/powerpoint/2010/main" val="27901905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8769DEF-97C5-42E0-6A2C-25D8E5193E9E}"/>
              </a:ext>
            </a:extLst>
          </p:cNvPr>
          <p:cNvSpPr>
            <a:spLocks noGrp="1"/>
          </p:cNvSpPr>
          <p:nvPr>
            <p:ph idx="1"/>
          </p:nvPr>
        </p:nvSpPr>
        <p:spPr/>
        <p:txBody>
          <a:bodyPr/>
          <a:lstStyle/>
          <a:p>
            <a:pPr algn="just">
              <a:buFont typeface="Calibri" panose="020F0502020204030204" pitchFamily="34" charset="0"/>
              <a:buChar char="*"/>
            </a:pPr>
            <a:r>
              <a:rPr lang="en-US" dirty="0"/>
              <a:t> </a:t>
            </a:r>
            <a:r>
              <a:rPr lang="en-US" dirty="0">
                <a:latin typeface="Times New Roman" panose="02020603050405020304" pitchFamily="18" charset="0"/>
                <a:cs typeface="Times New Roman" panose="02020603050405020304" pitchFamily="18" charset="0"/>
              </a:rPr>
              <a:t>These agents are similar to the goal-based agent but provide an</a:t>
            </a:r>
          </a:p>
          <a:p>
            <a:pPr algn="just"/>
            <a:r>
              <a:rPr lang="en-US" dirty="0">
                <a:latin typeface="Times New Roman" panose="02020603050405020304" pitchFamily="18" charset="0"/>
                <a:cs typeface="Times New Roman" panose="02020603050405020304" pitchFamily="18" charset="0"/>
              </a:rPr>
              <a:t>extra component of utility measurement which makes them</a:t>
            </a:r>
          </a:p>
          <a:p>
            <a:pPr algn="just"/>
            <a:r>
              <a:rPr lang="en-US" dirty="0">
                <a:latin typeface="Times New Roman" panose="02020603050405020304" pitchFamily="18" charset="0"/>
                <a:cs typeface="Times New Roman" panose="02020603050405020304" pitchFamily="18" charset="0"/>
              </a:rPr>
              <a:t>different by providing a measure of success at a given state.</a:t>
            </a:r>
          </a:p>
          <a:p>
            <a:pPr algn="just">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 Utility-based agent act based not only goals but also the best</a:t>
            </a:r>
          </a:p>
          <a:p>
            <a:pPr algn="just"/>
            <a:r>
              <a:rPr lang="en-US" dirty="0">
                <a:latin typeface="Times New Roman" panose="02020603050405020304" pitchFamily="18" charset="0"/>
                <a:cs typeface="Times New Roman" panose="02020603050405020304" pitchFamily="18" charset="0"/>
              </a:rPr>
              <a:t>way to achieve the goal.</a:t>
            </a:r>
          </a:p>
        </p:txBody>
      </p:sp>
    </p:spTree>
    <p:extLst>
      <p:ext uri="{BB962C8B-B14F-4D97-AF65-F5344CB8AC3E}">
        <p14:creationId xmlns:p14="http://schemas.microsoft.com/office/powerpoint/2010/main" val="27973143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CB4A5-C73A-C5BB-4489-43C0FF9B7B33}"/>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5. Learning Agents</a:t>
            </a:r>
          </a:p>
        </p:txBody>
      </p:sp>
      <p:pic>
        <p:nvPicPr>
          <p:cNvPr id="5" name="Content Placeholder 4">
            <a:extLst>
              <a:ext uri="{FF2B5EF4-FFF2-40B4-BE49-F238E27FC236}">
                <a16:creationId xmlns:a16="http://schemas.microsoft.com/office/drawing/2014/main" xmlns="" id="{294089C7-ECE9-E1D0-0803-B68A6019739F}"/>
              </a:ext>
            </a:extLst>
          </p:cNvPr>
          <p:cNvPicPr>
            <a:picLocks noGrp="1" noChangeAspect="1"/>
          </p:cNvPicPr>
          <p:nvPr>
            <p:ph idx="1"/>
          </p:nvPr>
        </p:nvPicPr>
        <p:blipFill>
          <a:blip r:embed="rId2"/>
          <a:stretch>
            <a:fillRect/>
          </a:stretch>
        </p:blipFill>
        <p:spPr>
          <a:xfrm>
            <a:off x="2467897" y="1877961"/>
            <a:ext cx="5268125" cy="4345858"/>
          </a:xfrm>
          <a:prstGeom prst="rect">
            <a:avLst/>
          </a:prstGeom>
        </p:spPr>
      </p:pic>
    </p:spTree>
    <p:extLst>
      <p:ext uri="{BB962C8B-B14F-4D97-AF65-F5344CB8AC3E}">
        <p14:creationId xmlns:p14="http://schemas.microsoft.com/office/powerpoint/2010/main" val="27628169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BAC5088-6CEB-46D1-CB7F-4052C4799A93}"/>
              </a:ext>
            </a:extLst>
          </p:cNvPr>
          <p:cNvSpPr>
            <a:spLocks noGrp="1"/>
          </p:cNvSpPr>
          <p:nvPr>
            <p:ph idx="1"/>
          </p:nvPr>
        </p:nvSpPr>
        <p:spPr/>
        <p:txBody>
          <a:bodyPr/>
          <a:lstStyle/>
          <a:p>
            <a:pPr>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 A learning agent in AI is the type of agent which can learn from</a:t>
            </a:r>
          </a:p>
          <a:p>
            <a:r>
              <a:rPr lang="en-US" dirty="0">
                <a:latin typeface="Times New Roman" panose="02020603050405020304" pitchFamily="18" charset="0"/>
                <a:cs typeface="Times New Roman" panose="02020603050405020304" pitchFamily="18" charset="0"/>
              </a:rPr>
              <a:t>its past experiences, or it has learning capabilities.</a:t>
            </a:r>
          </a:p>
          <a:p>
            <a:pPr>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 It starts to act with basic knowledge and then able to act and</a:t>
            </a:r>
          </a:p>
          <a:p>
            <a:r>
              <a:rPr lang="en-IN" dirty="0">
                <a:latin typeface="Times New Roman" panose="02020603050405020304" pitchFamily="18" charset="0"/>
                <a:cs typeface="Times New Roman" panose="02020603050405020304" pitchFamily="18" charset="0"/>
              </a:rPr>
              <a:t>adapt automatically through learning.</a:t>
            </a:r>
          </a:p>
        </p:txBody>
      </p:sp>
    </p:spTree>
    <p:extLst>
      <p:ext uri="{BB962C8B-B14F-4D97-AF65-F5344CB8AC3E}">
        <p14:creationId xmlns:p14="http://schemas.microsoft.com/office/powerpoint/2010/main" val="42835675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21B13B-A140-3D18-3C1D-9AED3998C275}"/>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Agent Environment in AI</a:t>
            </a:r>
          </a:p>
        </p:txBody>
      </p:sp>
      <p:sp>
        <p:nvSpPr>
          <p:cNvPr id="3" name="Content Placeholder 2">
            <a:extLst>
              <a:ext uri="{FF2B5EF4-FFF2-40B4-BE49-F238E27FC236}">
                <a16:creationId xmlns:a16="http://schemas.microsoft.com/office/drawing/2014/main" xmlns="" id="{FFC3842A-2BC9-DBE1-4A2C-AAB317CF4D5B}"/>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environment is everything in the world which surrounds the</a:t>
            </a:r>
          </a:p>
          <a:p>
            <a:pPr algn="just"/>
            <a:r>
              <a:rPr lang="en-US" dirty="0">
                <a:latin typeface="Times New Roman" panose="02020603050405020304" pitchFamily="18" charset="0"/>
                <a:cs typeface="Times New Roman" panose="02020603050405020304" pitchFamily="18" charset="0"/>
              </a:rPr>
              <a:t>agent, but it is not a part of an agent itself. An environment can be</a:t>
            </a:r>
          </a:p>
          <a:p>
            <a:pPr algn="just"/>
            <a:r>
              <a:rPr lang="en-US" dirty="0">
                <a:latin typeface="Times New Roman" panose="02020603050405020304" pitchFamily="18" charset="0"/>
                <a:cs typeface="Times New Roman" panose="02020603050405020304" pitchFamily="18" charset="0"/>
              </a:rPr>
              <a:t>described as a situation in which an agent is present.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43017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9A626D-814B-77B4-0B62-2C2574CD50C5}"/>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Features of Environment</a:t>
            </a:r>
          </a:p>
        </p:txBody>
      </p:sp>
      <p:sp>
        <p:nvSpPr>
          <p:cNvPr id="3" name="Content Placeholder 2">
            <a:extLst>
              <a:ext uri="{FF2B5EF4-FFF2-40B4-BE49-F238E27FC236}">
                <a16:creationId xmlns:a16="http://schemas.microsoft.com/office/drawing/2014/main" xmlns="" id="{47DF17BE-1CE6-6928-B3C0-02628EDE498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1. Fully observable vs Partially Observable</a:t>
            </a:r>
          </a:p>
          <a:p>
            <a:r>
              <a:rPr lang="en-IN" dirty="0">
                <a:latin typeface="Times New Roman" panose="02020603050405020304" pitchFamily="18" charset="0"/>
                <a:cs typeface="Times New Roman" panose="02020603050405020304" pitchFamily="18" charset="0"/>
              </a:rPr>
              <a:t>2. Static vs Dynamic</a:t>
            </a:r>
          </a:p>
          <a:p>
            <a:r>
              <a:rPr lang="en-IN" dirty="0">
                <a:latin typeface="Times New Roman" panose="02020603050405020304" pitchFamily="18" charset="0"/>
                <a:cs typeface="Times New Roman" panose="02020603050405020304" pitchFamily="18" charset="0"/>
              </a:rPr>
              <a:t>3. Discrete vs Continuous</a:t>
            </a:r>
          </a:p>
          <a:p>
            <a:r>
              <a:rPr lang="en-IN" dirty="0">
                <a:latin typeface="Times New Roman" panose="02020603050405020304" pitchFamily="18" charset="0"/>
                <a:cs typeface="Times New Roman" panose="02020603050405020304" pitchFamily="18" charset="0"/>
              </a:rPr>
              <a:t>4. Deterministic vs Stochastic</a:t>
            </a:r>
          </a:p>
          <a:p>
            <a:r>
              <a:rPr lang="en-IN" dirty="0">
                <a:latin typeface="Times New Roman" panose="02020603050405020304" pitchFamily="18" charset="0"/>
                <a:cs typeface="Times New Roman" panose="02020603050405020304" pitchFamily="18" charset="0"/>
              </a:rPr>
              <a:t>5. Single-agent vs Multi-agent</a:t>
            </a:r>
          </a:p>
          <a:p>
            <a:r>
              <a:rPr lang="en-IN" dirty="0">
                <a:latin typeface="Times New Roman" panose="02020603050405020304" pitchFamily="18" charset="0"/>
                <a:cs typeface="Times New Roman" panose="02020603050405020304" pitchFamily="18" charset="0"/>
              </a:rPr>
              <a:t>6. Episodic vs sequential</a:t>
            </a:r>
          </a:p>
          <a:p>
            <a:r>
              <a:rPr lang="en-IN" dirty="0">
                <a:latin typeface="Times New Roman" panose="02020603050405020304" pitchFamily="18" charset="0"/>
                <a:cs typeface="Times New Roman" panose="02020603050405020304" pitchFamily="18" charset="0"/>
              </a:rPr>
              <a:t>7. Known vs Unknown</a:t>
            </a:r>
          </a:p>
          <a:p>
            <a:r>
              <a:rPr lang="en-IN" dirty="0">
                <a:latin typeface="Times New Roman" panose="02020603050405020304" pitchFamily="18" charset="0"/>
                <a:cs typeface="Times New Roman" panose="02020603050405020304" pitchFamily="18" charset="0"/>
              </a:rPr>
              <a:t>8. Accessible vs Inaccessible</a:t>
            </a:r>
          </a:p>
        </p:txBody>
      </p:sp>
    </p:spTree>
    <p:extLst>
      <p:ext uri="{BB962C8B-B14F-4D97-AF65-F5344CB8AC3E}">
        <p14:creationId xmlns:p14="http://schemas.microsoft.com/office/powerpoint/2010/main" val="14759093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FC1923-F986-3803-BD3C-FFBB68F116D9}"/>
              </a:ext>
            </a:extLst>
          </p:cNvPr>
          <p:cNvSpPr>
            <a:spLocks noGrp="1"/>
          </p:cNvSpPr>
          <p:nvPr>
            <p:ph type="title"/>
          </p:nvPr>
        </p:nvSpPr>
        <p:spPr>
          <a:xfrm>
            <a:off x="455835" y="259308"/>
            <a:ext cx="10058400" cy="614149"/>
          </a:xfrm>
        </p:spPr>
        <p:txBody>
          <a:bodyPr>
            <a:normAutofit/>
          </a:bodyPr>
          <a:lstStyle/>
          <a:p>
            <a:r>
              <a:rPr lang="en-US" sz="4000" dirty="0">
                <a:latin typeface="Times New Roman" panose="02020603050405020304" pitchFamily="18" charset="0"/>
                <a:cs typeface="Times New Roman" panose="02020603050405020304" pitchFamily="18" charset="0"/>
              </a:rPr>
              <a:t>Search Algorithms in Artificial Intelligence</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A7FB0C88-8425-C999-9DFC-9951B7C28977}"/>
              </a:ext>
            </a:extLst>
          </p:cNvPr>
          <p:cNvSpPr>
            <a:spLocks noGrp="1"/>
          </p:cNvSpPr>
          <p:nvPr>
            <p:ph idx="1"/>
          </p:nvPr>
        </p:nvSpPr>
        <p:spPr>
          <a:xfrm>
            <a:off x="218364" y="1108754"/>
            <a:ext cx="11723427" cy="4841669"/>
          </a:xfrm>
        </p:spPr>
        <p:txBody>
          <a:bodyPr>
            <a:normAutofit/>
          </a:bodyPr>
          <a:lstStyle/>
          <a:p>
            <a:pPr algn="just">
              <a:lnSpc>
                <a:spcPct val="150000"/>
              </a:lnSpc>
            </a:pPr>
            <a:r>
              <a:rPr lang="en-US" dirty="0">
                <a:latin typeface="Times New Roman" panose="02020603050405020304" pitchFamily="18" charset="0"/>
                <a:cs typeface="Times New Roman" panose="02020603050405020304" pitchFamily="18" charset="0"/>
              </a:rPr>
              <a:t>Search algorithms are one of the most important areas </a:t>
            </a:r>
            <a:r>
              <a:rPr lang="en-US" dirty="0" smtClean="0">
                <a:latin typeface="Times New Roman" panose="02020603050405020304" pitchFamily="18" charset="0"/>
                <a:cs typeface="Times New Roman" panose="02020603050405020304" pitchFamily="18" charset="0"/>
              </a:rPr>
              <a:t>of Artificial </a:t>
            </a:r>
            <a:r>
              <a:rPr lang="en-US" dirty="0">
                <a:latin typeface="Times New Roman" panose="02020603050405020304" pitchFamily="18" charset="0"/>
                <a:cs typeface="Times New Roman" panose="02020603050405020304" pitchFamily="18" charset="0"/>
              </a:rPr>
              <a:t>Intelligence.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topic </a:t>
            </a:r>
            <a:r>
              <a:rPr lang="en-US" dirty="0" smtClean="0">
                <a:latin typeface="Times New Roman" panose="02020603050405020304" pitchFamily="18" charset="0"/>
                <a:cs typeface="Times New Roman" panose="02020603050405020304" pitchFamily="18" charset="0"/>
              </a:rPr>
              <a:t>will </a:t>
            </a:r>
            <a:r>
              <a:rPr lang="en-US" dirty="0">
                <a:latin typeface="Times New Roman" panose="02020603050405020304" pitchFamily="18" charset="0"/>
                <a:cs typeface="Times New Roman" panose="02020603050405020304" pitchFamily="18" charset="0"/>
              </a:rPr>
              <a:t>explain all about the </a:t>
            </a:r>
            <a:r>
              <a:rPr lang="en-US" dirty="0" smtClean="0">
                <a:latin typeface="Times New Roman" panose="02020603050405020304" pitchFamily="18" charset="0"/>
                <a:cs typeface="Times New Roman" panose="02020603050405020304" pitchFamily="18" charset="0"/>
              </a:rPr>
              <a:t>search </a:t>
            </a:r>
            <a:r>
              <a:rPr lang="en-IN" dirty="0" smtClean="0">
                <a:latin typeface="Times New Roman" panose="02020603050405020304" pitchFamily="18" charset="0"/>
                <a:cs typeface="Times New Roman" panose="02020603050405020304" pitchFamily="18" charset="0"/>
              </a:rPr>
              <a:t>algorithms </a:t>
            </a:r>
            <a:r>
              <a:rPr lang="en-IN" dirty="0">
                <a:latin typeface="Times New Roman" panose="02020603050405020304" pitchFamily="18" charset="0"/>
                <a:cs typeface="Times New Roman" panose="02020603050405020304" pitchFamily="18" charset="0"/>
              </a:rPr>
              <a:t>in AI</a:t>
            </a:r>
            <a:r>
              <a:rPr lang="en-IN" dirty="0" smtClean="0">
                <a:latin typeface="Times New Roman" panose="02020603050405020304" pitchFamily="18" charset="0"/>
                <a:cs typeface="Times New Roman" panose="02020603050405020304" pitchFamily="18" charset="0"/>
              </a:rPr>
              <a:t>.</a:t>
            </a:r>
          </a:p>
          <a:p>
            <a:pPr algn="just">
              <a:lnSpc>
                <a:spcPct val="150000"/>
              </a:lnSpc>
            </a:pPr>
            <a:r>
              <a:rPr lang="en-US" dirty="0"/>
              <a:t>A search problem consists of the following: </a:t>
            </a:r>
            <a:endParaRPr lang="en-US" dirty="0" smtClean="0"/>
          </a:p>
          <a:p>
            <a:pPr algn="just">
              <a:lnSpc>
                <a:spcPct val="150000"/>
              </a:lnSpc>
            </a:pPr>
            <a:r>
              <a:rPr lang="en-US" dirty="0" smtClean="0"/>
              <a:t>1</a:t>
            </a:r>
            <a:r>
              <a:rPr lang="en-US" dirty="0"/>
              <a:t>. State space is the set of all possible states that can be attained by an agent. </a:t>
            </a:r>
            <a:endParaRPr lang="en-US" dirty="0" smtClean="0"/>
          </a:p>
          <a:p>
            <a:pPr algn="just">
              <a:lnSpc>
                <a:spcPct val="150000"/>
              </a:lnSpc>
            </a:pPr>
            <a:r>
              <a:rPr lang="en-US" dirty="0" smtClean="0"/>
              <a:t>2</a:t>
            </a:r>
            <a:r>
              <a:rPr lang="en-US" dirty="0"/>
              <a:t>. Start state is the state from where the searching is done. </a:t>
            </a:r>
            <a:endParaRPr lang="en-US" dirty="0" smtClean="0"/>
          </a:p>
          <a:p>
            <a:pPr algn="just">
              <a:lnSpc>
                <a:spcPct val="150000"/>
              </a:lnSpc>
            </a:pPr>
            <a:r>
              <a:rPr lang="en-US" dirty="0" smtClean="0"/>
              <a:t>3</a:t>
            </a:r>
            <a:r>
              <a:rPr lang="en-US" dirty="0"/>
              <a:t>. Goal test is a function that checks if the current state is the goal state or not. </a:t>
            </a:r>
            <a:endParaRPr lang="en-US" dirty="0" smtClean="0"/>
          </a:p>
          <a:p>
            <a:pPr algn="just">
              <a:lnSpc>
                <a:spcPct val="150000"/>
              </a:lnSpc>
            </a:pPr>
            <a:r>
              <a:rPr lang="en-US" dirty="0" smtClean="0"/>
              <a:t>4</a:t>
            </a:r>
            <a:r>
              <a:rPr lang="en-US" dirty="0"/>
              <a:t>. Solution to a search problem is a sequence of actions (also known as plan) that transforms the start state to the goal state. This plan is realized using search algorithms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4475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2FC6D2-6B1C-B22C-5D1D-15D65CC68550}"/>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Types of search algorithms</a:t>
            </a:r>
          </a:p>
        </p:txBody>
      </p:sp>
      <p:pic>
        <p:nvPicPr>
          <p:cNvPr id="5" name="Content Placeholder 4">
            <a:extLst>
              <a:ext uri="{FF2B5EF4-FFF2-40B4-BE49-F238E27FC236}">
                <a16:creationId xmlns:a16="http://schemas.microsoft.com/office/drawing/2014/main" xmlns="" id="{5699CA89-035B-A2F0-8238-4C8E1576A7D5}"/>
              </a:ext>
            </a:extLst>
          </p:cNvPr>
          <p:cNvPicPr>
            <a:picLocks noGrp="1" noChangeAspect="1"/>
          </p:cNvPicPr>
          <p:nvPr>
            <p:ph idx="1"/>
          </p:nvPr>
        </p:nvPicPr>
        <p:blipFill>
          <a:blip r:embed="rId2"/>
          <a:stretch>
            <a:fillRect/>
          </a:stretch>
        </p:blipFill>
        <p:spPr>
          <a:xfrm>
            <a:off x="2084439" y="1818968"/>
            <a:ext cx="6499122" cy="4434348"/>
          </a:xfrm>
          <a:prstGeom prst="rect">
            <a:avLst/>
          </a:prstGeom>
        </p:spPr>
      </p:pic>
    </p:spTree>
    <p:extLst>
      <p:ext uri="{BB962C8B-B14F-4D97-AF65-F5344CB8AC3E}">
        <p14:creationId xmlns:p14="http://schemas.microsoft.com/office/powerpoint/2010/main" val="19888168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234" y="559559"/>
            <a:ext cx="10058400" cy="750627"/>
          </a:xfrm>
        </p:spPr>
        <p:txBody>
          <a:bodyPr/>
          <a:lstStyle/>
          <a:p>
            <a:r>
              <a:rPr lang="en-US" b="1" dirty="0"/>
              <a:t>Uninformed Search Algorithms</a:t>
            </a:r>
          </a:p>
        </p:txBody>
      </p:sp>
      <p:sp>
        <p:nvSpPr>
          <p:cNvPr id="3" name="Content Placeholder 2"/>
          <p:cNvSpPr>
            <a:spLocks noGrp="1"/>
          </p:cNvSpPr>
          <p:nvPr>
            <p:ph idx="1"/>
          </p:nvPr>
        </p:nvSpPr>
        <p:spPr>
          <a:xfrm>
            <a:off x="483129" y="1982211"/>
            <a:ext cx="11363127" cy="4023360"/>
          </a:xfrm>
        </p:spPr>
        <p:txBody>
          <a:bodyPr/>
          <a:lstStyle/>
          <a:p>
            <a:pPr algn="just">
              <a:lnSpc>
                <a:spcPct val="150000"/>
              </a:lnSpc>
              <a:buFont typeface="Wingdings" panose="05000000000000000000" pitchFamily="2" charset="2"/>
              <a:buChar char="§"/>
            </a:pPr>
            <a:r>
              <a:rPr lang="en-US" dirty="0"/>
              <a:t>A uninformed search, also known as a blind search algorithm, has no additional information about the goal state other than the one provided in the problem definition. </a:t>
            </a:r>
            <a:endParaRPr lang="en-US" dirty="0" smtClean="0"/>
          </a:p>
          <a:p>
            <a:pPr algn="just">
              <a:lnSpc>
                <a:spcPct val="150000"/>
              </a:lnSpc>
              <a:buFont typeface="Wingdings" panose="05000000000000000000" pitchFamily="2" charset="2"/>
              <a:buChar char="§"/>
            </a:pPr>
            <a:r>
              <a:rPr lang="en-US" dirty="0"/>
              <a:t>In such algorithms, the machine blindly follows the technique irrespective of whether it is right or wrong, efficient or inefficient.</a:t>
            </a:r>
          </a:p>
        </p:txBody>
      </p:sp>
    </p:spTree>
    <p:extLst>
      <p:ext uri="{BB962C8B-B14F-4D97-AF65-F5344CB8AC3E}">
        <p14:creationId xmlns:p14="http://schemas.microsoft.com/office/powerpoint/2010/main" val="283919264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358" y="191067"/>
            <a:ext cx="10058400" cy="696037"/>
          </a:xfrm>
        </p:spPr>
        <p:txBody>
          <a:bodyPr>
            <a:normAutofit fontScale="90000"/>
          </a:bodyPr>
          <a:lstStyle/>
          <a:p>
            <a:r>
              <a:rPr lang="en-US" b="1" dirty="0"/>
              <a:t>Informed Search Algorithms</a:t>
            </a:r>
          </a:p>
        </p:txBody>
      </p:sp>
      <p:sp>
        <p:nvSpPr>
          <p:cNvPr id="3" name="Content Placeholder 2"/>
          <p:cNvSpPr>
            <a:spLocks noGrp="1"/>
          </p:cNvSpPr>
          <p:nvPr>
            <p:ph idx="1"/>
          </p:nvPr>
        </p:nvSpPr>
        <p:spPr>
          <a:xfrm>
            <a:off x="319358" y="1228297"/>
            <a:ext cx="11704320" cy="4899547"/>
          </a:xfrm>
        </p:spPr>
        <p:txBody>
          <a:bodyPr>
            <a:normAutofit lnSpcReduction="10000"/>
          </a:bodyPr>
          <a:lstStyle/>
          <a:p>
            <a:pPr algn="just">
              <a:lnSpc>
                <a:spcPct val="150000"/>
              </a:lnSpc>
              <a:buFont typeface="Wingdings" panose="05000000000000000000" pitchFamily="2" charset="2"/>
              <a:buChar char="§"/>
            </a:pPr>
            <a:r>
              <a:rPr lang="en-US" sz="2400" dirty="0" smtClean="0"/>
              <a:t>Informed </a:t>
            </a:r>
            <a:r>
              <a:rPr lang="en-US" sz="2400" dirty="0"/>
              <a:t>search algorithm, as the name suggests, contains some information about how far we are from the goal, cost of the path, how to reach the goal, etc. </a:t>
            </a:r>
            <a:endParaRPr lang="en-US" sz="2400" dirty="0" smtClean="0"/>
          </a:p>
          <a:p>
            <a:pPr algn="just">
              <a:lnSpc>
                <a:spcPct val="150000"/>
              </a:lnSpc>
              <a:buFont typeface="Wingdings" panose="05000000000000000000" pitchFamily="2" charset="2"/>
              <a:buChar char="§"/>
            </a:pPr>
            <a:r>
              <a:rPr lang="en-US" sz="2400" dirty="0" smtClean="0"/>
              <a:t>This </a:t>
            </a:r>
            <a:r>
              <a:rPr lang="en-US" sz="2400" dirty="0"/>
              <a:t>knowledge helps agents to explore less to the search space and reach the goal node more efficiently. </a:t>
            </a:r>
            <a:endParaRPr lang="en-US" sz="2400" dirty="0" smtClean="0"/>
          </a:p>
          <a:p>
            <a:pPr algn="just">
              <a:lnSpc>
                <a:spcPct val="150000"/>
              </a:lnSpc>
              <a:buFont typeface="Wingdings" panose="05000000000000000000" pitchFamily="2" charset="2"/>
              <a:buChar char="§"/>
            </a:pPr>
            <a:r>
              <a:rPr lang="en-US" sz="2400" dirty="0" smtClean="0"/>
              <a:t>The </a:t>
            </a:r>
            <a:r>
              <a:rPr lang="en-US" sz="2400" dirty="0"/>
              <a:t>informed search algorithm which is extensively used in a large space is also known as heuristic search as it uses a heuristic function. </a:t>
            </a:r>
            <a:endParaRPr lang="en-US" sz="2400" dirty="0" smtClean="0"/>
          </a:p>
          <a:p>
            <a:pPr algn="just">
              <a:lnSpc>
                <a:spcPct val="150000"/>
              </a:lnSpc>
              <a:buFont typeface="Wingdings" panose="05000000000000000000" pitchFamily="2" charset="2"/>
              <a:buChar char="§"/>
            </a:pPr>
            <a:r>
              <a:rPr lang="en-US" sz="2400" dirty="0" smtClean="0"/>
              <a:t>The </a:t>
            </a:r>
            <a:r>
              <a:rPr lang="en-US" sz="2400" dirty="0"/>
              <a:t>heuristic function takes the current state of the agent as its input and estimates how close the agent is from the goal. </a:t>
            </a:r>
          </a:p>
        </p:txBody>
      </p:sp>
    </p:spTree>
    <p:extLst>
      <p:ext uri="{BB962C8B-B14F-4D97-AF65-F5344CB8AC3E}">
        <p14:creationId xmlns:p14="http://schemas.microsoft.com/office/powerpoint/2010/main" val="24376380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949" y="1968565"/>
            <a:ext cx="11690672" cy="4023360"/>
          </a:xfrm>
        </p:spPr>
        <p:txBody>
          <a:bodyPr>
            <a:normAutofit/>
          </a:bodyPr>
          <a:lstStyle/>
          <a:p>
            <a:pPr algn="just">
              <a:lnSpc>
                <a:spcPct val="150000"/>
              </a:lnSpc>
            </a:pPr>
            <a:r>
              <a:rPr lang="en-US" sz="2400" dirty="0"/>
              <a:t>A heuristic function h(n), calculates the cost of an optimal path between the pair of states. </a:t>
            </a:r>
            <a:endParaRPr lang="en-US" sz="2400" dirty="0" smtClean="0"/>
          </a:p>
          <a:p>
            <a:pPr algn="just">
              <a:lnSpc>
                <a:spcPct val="150000"/>
              </a:lnSpc>
            </a:pPr>
            <a:r>
              <a:rPr lang="en-US" sz="2400" dirty="0" smtClean="0"/>
              <a:t>The </a:t>
            </a:r>
            <a:r>
              <a:rPr lang="en-US" sz="2400" dirty="0"/>
              <a:t>value of the heuristic function is always positive. </a:t>
            </a:r>
            <a:endParaRPr lang="en-US" sz="2400" dirty="0" smtClean="0"/>
          </a:p>
          <a:p>
            <a:pPr algn="just">
              <a:lnSpc>
                <a:spcPct val="150000"/>
              </a:lnSpc>
            </a:pPr>
            <a:r>
              <a:rPr lang="en-US" sz="2400" dirty="0" smtClean="0"/>
              <a:t>We </a:t>
            </a:r>
            <a:r>
              <a:rPr lang="en-US" sz="2400" dirty="0"/>
              <a:t>can write</a:t>
            </a:r>
            <a:r>
              <a:rPr lang="en-US" sz="2400" b="1" dirty="0"/>
              <a:t>, h(n) &lt;= </a:t>
            </a:r>
            <a:r>
              <a:rPr lang="en-US" sz="2400" b="1" dirty="0" smtClean="0"/>
              <a:t>h*(</a:t>
            </a:r>
            <a:r>
              <a:rPr lang="en-US" sz="2400" b="1" dirty="0"/>
              <a:t>n) </a:t>
            </a:r>
            <a:endParaRPr lang="en-US" sz="2400" b="1" dirty="0" smtClean="0"/>
          </a:p>
          <a:p>
            <a:pPr algn="just">
              <a:lnSpc>
                <a:spcPct val="150000"/>
              </a:lnSpc>
            </a:pPr>
            <a:r>
              <a:rPr lang="en-US" sz="2400" dirty="0" smtClean="0"/>
              <a:t>where </a:t>
            </a:r>
            <a:r>
              <a:rPr lang="en-US" sz="2400" dirty="0"/>
              <a:t>h(n) is heuristic cost, and </a:t>
            </a:r>
            <a:r>
              <a:rPr lang="en-US" sz="2400" dirty="0" smtClean="0"/>
              <a:t>h*(</a:t>
            </a:r>
            <a:r>
              <a:rPr lang="en-US" sz="2400" dirty="0"/>
              <a:t>n) is the estimated cost. </a:t>
            </a:r>
            <a:endParaRPr lang="en-US" sz="2400" dirty="0" smtClean="0"/>
          </a:p>
          <a:p>
            <a:pPr algn="just">
              <a:lnSpc>
                <a:spcPct val="150000"/>
              </a:lnSpc>
            </a:pPr>
            <a:r>
              <a:rPr lang="en-US" sz="2400" dirty="0" smtClean="0"/>
              <a:t>This </a:t>
            </a:r>
            <a:r>
              <a:rPr lang="en-US" sz="2400" dirty="0"/>
              <a:t>means that the heuristic cost should be less than or equal to the estimated cost. </a:t>
            </a:r>
          </a:p>
        </p:txBody>
      </p:sp>
    </p:spTree>
    <p:extLst>
      <p:ext uri="{BB962C8B-B14F-4D97-AF65-F5344CB8AC3E}">
        <p14:creationId xmlns:p14="http://schemas.microsoft.com/office/powerpoint/2010/main" val="32018648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722" y="191070"/>
            <a:ext cx="10058400" cy="764274"/>
          </a:xfrm>
        </p:spPr>
        <p:txBody>
          <a:bodyPr/>
          <a:lstStyle/>
          <a:p>
            <a:r>
              <a:rPr lang="en-US" b="1" dirty="0">
                <a:latin typeface="+mn-lt"/>
              </a:rPr>
              <a:t>Pure Heuristic Search</a:t>
            </a:r>
          </a:p>
        </p:txBody>
      </p:sp>
      <p:sp>
        <p:nvSpPr>
          <p:cNvPr id="3" name="Content Placeholder 2"/>
          <p:cNvSpPr>
            <a:spLocks noGrp="1"/>
          </p:cNvSpPr>
          <p:nvPr>
            <p:ph idx="1"/>
          </p:nvPr>
        </p:nvSpPr>
        <p:spPr>
          <a:xfrm>
            <a:off x="428539" y="1122402"/>
            <a:ext cx="11622433" cy="4800725"/>
          </a:xfrm>
        </p:spPr>
        <p:txBody>
          <a:bodyPr>
            <a:normAutofit/>
          </a:bodyPr>
          <a:lstStyle/>
          <a:p>
            <a:pPr algn="just">
              <a:lnSpc>
                <a:spcPct val="150000"/>
              </a:lnSpc>
              <a:buFont typeface="Wingdings" panose="05000000000000000000" pitchFamily="2" charset="2"/>
              <a:buChar char="§"/>
            </a:pPr>
            <a:r>
              <a:rPr lang="en-US" dirty="0"/>
              <a:t>Heuristic search is the simplest form of heuristic search algorithms that expands nodes based on their heuristic value h(n). The algorithm maintains two lists—OPEN and CLOSED. </a:t>
            </a:r>
            <a:endParaRPr lang="en-US" dirty="0" smtClean="0"/>
          </a:p>
          <a:p>
            <a:pPr algn="just">
              <a:lnSpc>
                <a:spcPct val="150000"/>
              </a:lnSpc>
              <a:buFont typeface="Wingdings" panose="05000000000000000000" pitchFamily="2" charset="2"/>
              <a:buChar char="§"/>
            </a:pPr>
            <a:r>
              <a:rPr lang="en-US" dirty="0" smtClean="0"/>
              <a:t>All </a:t>
            </a:r>
            <a:r>
              <a:rPr lang="en-US" dirty="0"/>
              <a:t>nodes that have already been expanded are placed in the </a:t>
            </a:r>
            <a:r>
              <a:rPr lang="en-US" dirty="0" smtClean="0"/>
              <a:t>CLOSED </a:t>
            </a:r>
            <a:r>
              <a:rPr lang="en-US" dirty="0"/>
              <a:t>list, while others that have not been expanded are in the OPEN </a:t>
            </a:r>
            <a:r>
              <a:rPr lang="en-US" dirty="0" smtClean="0"/>
              <a:t>list.</a:t>
            </a:r>
          </a:p>
          <a:p>
            <a:pPr algn="just">
              <a:lnSpc>
                <a:spcPct val="150000"/>
              </a:lnSpc>
              <a:buFont typeface="Wingdings" panose="05000000000000000000" pitchFamily="2" charset="2"/>
              <a:buChar char="§"/>
            </a:pPr>
            <a:r>
              <a:rPr lang="en-US" dirty="0" smtClean="0"/>
              <a:t>Two </a:t>
            </a:r>
            <a:r>
              <a:rPr lang="en-US" dirty="0"/>
              <a:t>important informed search </a:t>
            </a:r>
            <a:r>
              <a:rPr lang="en-US" dirty="0" smtClean="0"/>
              <a:t>algorithms</a:t>
            </a:r>
          </a:p>
          <a:p>
            <a:pPr lvl="1" algn="just">
              <a:lnSpc>
                <a:spcPct val="150000"/>
              </a:lnSpc>
            </a:pPr>
            <a:r>
              <a:rPr lang="en-US" sz="2000" dirty="0"/>
              <a:t>B</a:t>
            </a:r>
            <a:r>
              <a:rPr lang="en-US" sz="2000" dirty="0" smtClean="0"/>
              <a:t>est </a:t>
            </a:r>
            <a:r>
              <a:rPr lang="en-US" sz="2000" dirty="0"/>
              <a:t>first search algorithm (greedy search) </a:t>
            </a:r>
          </a:p>
          <a:p>
            <a:pPr lvl="1" algn="just">
              <a:lnSpc>
                <a:spcPct val="150000"/>
              </a:lnSpc>
            </a:pPr>
            <a:r>
              <a:rPr lang="en-US" sz="2000" dirty="0" smtClean="0"/>
              <a:t>A* </a:t>
            </a:r>
            <a:r>
              <a:rPr lang="en-US" sz="2000" dirty="0"/>
              <a:t>search algorithm.</a:t>
            </a:r>
          </a:p>
        </p:txBody>
      </p:sp>
    </p:spTree>
    <p:extLst>
      <p:ext uri="{BB962C8B-B14F-4D97-AF65-F5344CB8AC3E}">
        <p14:creationId xmlns:p14="http://schemas.microsoft.com/office/powerpoint/2010/main" val="328498704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D92492-4383-2C42-BA21-D41EBB6A256E}"/>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Best-first Search Algorithm:</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9CF90E6-EF93-FB9B-02D9-CAEB60E8CC94}"/>
              </a:ext>
            </a:extLst>
          </p:cNvPr>
          <p:cNvSpPr>
            <a:spLocks noGrp="1"/>
          </p:cNvSpPr>
          <p:nvPr>
            <p:ph idx="1"/>
          </p:nvPr>
        </p:nvSpPr>
        <p:spPr>
          <a:xfrm>
            <a:off x="245660" y="1845734"/>
            <a:ext cx="10910020" cy="4023360"/>
          </a:xfrm>
        </p:spPr>
        <p:txBody>
          <a:bodyPr>
            <a:normAutofit/>
          </a:bodyPr>
          <a:lstStyle/>
          <a:p>
            <a:pPr algn="just">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Best-first search algorithm always selects the path </a:t>
            </a:r>
            <a:r>
              <a:rPr lang="en-US" sz="2400" dirty="0" smtClean="0">
                <a:latin typeface="Times New Roman" panose="02020603050405020304" pitchFamily="18" charset="0"/>
                <a:cs typeface="Times New Roman" panose="02020603050405020304" pitchFamily="18" charset="0"/>
              </a:rPr>
              <a:t>which appears </a:t>
            </a:r>
            <a:r>
              <a:rPr lang="en-US" sz="2400" dirty="0">
                <a:latin typeface="Times New Roman" panose="02020603050405020304" pitchFamily="18" charset="0"/>
                <a:cs typeface="Times New Roman" panose="02020603050405020304" pitchFamily="18" charset="0"/>
              </a:rPr>
              <a:t>best at that moment.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the combination of </a:t>
            </a:r>
            <a:r>
              <a:rPr lang="en-US" sz="2400" dirty="0" smtClean="0">
                <a:latin typeface="Times New Roman" panose="02020603050405020304" pitchFamily="18" charset="0"/>
                <a:cs typeface="Times New Roman" panose="02020603050405020304" pitchFamily="18" charset="0"/>
              </a:rPr>
              <a:t>depth-first search </a:t>
            </a:r>
            <a:r>
              <a:rPr lang="en-US" sz="2400" dirty="0">
                <a:latin typeface="Times New Roman" panose="02020603050405020304" pitchFamily="18" charset="0"/>
                <a:cs typeface="Times New Roman" panose="02020603050405020304" pitchFamily="18" charset="0"/>
              </a:rPr>
              <a:t>and breadth-first search algorithms. It uses the </a:t>
            </a:r>
            <a:r>
              <a:rPr lang="en-US" sz="2400" dirty="0" smtClean="0">
                <a:latin typeface="Times New Roman" panose="02020603050405020304" pitchFamily="18" charset="0"/>
                <a:cs typeface="Times New Roman" panose="02020603050405020304" pitchFamily="18" charset="0"/>
              </a:rPr>
              <a:t>heuristic function </a:t>
            </a:r>
            <a:r>
              <a:rPr lang="en-US" sz="2400" dirty="0">
                <a:latin typeface="Times New Roman" panose="02020603050405020304" pitchFamily="18" charset="0"/>
                <a:cs typeface="Times New Roman" panose="02020603050405020304" pitchFamily="18" charset="0"/>
              </a:rPr>
              <a:t>and search.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US" sz="2400" dirty="0" smtClean="0">
                <a:latin typeface="Times New Roman" panose="02020603050405020304" pitchFamily="18" charset="0"/>
                <a:cs typeface="Times New Roman" panose="02020603050405020304" pitchFamily="18" charset="0"/>
              </a:rPr>
              <a:t>Best-first </a:t>
            </a:r>
            <a:r>
              <a:rPr lang="en-US" sz="2400" dirty="0">
                <a:latin typeface="Times New Roman" panose="02020603050405020304" pitchFamily="18" charset="0"/>
                <a:cs typeface="Times New Roman" panose="02020603050405020304" pitchFamily="18" charset="0"/>
              </a:rPr>
              <a:t>search allows us to take </a:t>
            </a:r>
            <a:r>
              <a:rPr lang="en-US" sz="2400" dirty="0" smtClean="0">
                <a:latin typeface="Times New Roman" panose="02020603050405020304" pitchFamily="18" charset="0"/>
                <a:cs typeface="Times New Roman" panose="02020603050405020304" pitchFamily="18" charset="0"/>
              </a:rPr>
              <a:t>the </a:t>
            </a:r>
            <a:r>
              <a:rPr lang="en-IN" sz="2400" dirty="0" smtClean="0">
                <a:latin typeface="Times New Roman" panose="02020603050405020304" pitchFamily="18" charset="0"/>
                <a:cs typeface="Times New Roman" panose="02020603050405020304" pitchFamily="18" charset="0"/>
              </a:rPr>
              <a:t>advantages </a:t>
            </a:r>
            <a:r>
              <a:rPr lang="en-IN" sz="2400" dirty="0">
                <a:latin typeface="Times New Roman" panose="02020603050405020304" pitchFamily="18" charset="0"/>
                <a:cs typeface="Times New Roman" panose="02020603050405020304" pitchFamily="18" charset="0"/>
              </a:rPr>
              <a:t>of both algorithms.</a:t>
            </a:r>
          </a:p>
          <a:p>
            <a:pPr algn="just">
              <a:lnSpc>
                <a:spcPct val="150000"/>
              </a:lnSpc>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10677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67D8E9-10EF-4A67-E9DE-D327CD2A57C0}"/>
              </a:ext>
            </a:extLst>
          </p:cNvPr>
          <p:cNvSpPr>
            <a:spLocks noGrp="1"/>
          </p:cNvSpPr>
          <p:nvPr>
            <p:ph type="title"/>
          </p:nvPr>
        </p:nvSpPr>
        <p:spPr>
          <a:xfrm>
            <a:off x="251118" y="218365"/>
            <a:ext cx="10058400" cy="709684"/>
          </a:xfrm>
        </p:spPr>
        <p:txBody>
          <a:bodyPr>
            <a:normAutofit/>
          </a:bodyPr>
          <a:lstStyle/>
          <a:p>
            <a:r>
              <a:rPr lang="en-IN" sz="4000" dirty="0">
                <a:latin typeface="Times New Roman" panose="02020603050405020304" pitchFamily="18" charset="0"/>
                <a:cs typeface="Times New Roman" panose="02020603050405020304" pitchFamily="18" charset="0"/>
              </a:rPr>
              <a:t>Best first search algorithm:</a:t>
            </a:r>
          </a:p>
        </p:txBody>
      </p:sp>
      <p:sp>
        <p:nvSpPr>
          <p:cNvPr id="3" name="Content Placeholder 2">
            <a:extLst>
              <a:ext uri="{FF2B5EF4-FFF2-40B4-BE49-F238E27FC236}">
                <a16:creationId xmlns:a16="http://schemas.microsoft.com/office/drawing/2014/main" xmlns="" id="{99DE9C67-4279-A912-C944-783F02AFB875}"/>
              </a:ext>
            </a:extLst>
          </p:cNvPr>
          <p:cNvSpPr>
            <a:spLocks noGrp="1"/>
          </p:cNvSpPr>
          <p:nvPr>
            <p:ph idx="1"/>
          </p:nvPr>
        </p:nvSpPr>
        <p:spPr>
          <a:xfrm>
            <a:off x="387596" y="1119118"/>
            <a:ext cx="11567843" cy="5090614"/>
          </a:xfrm>
        </p:spPr>
        <p:txBody>
          <a:bodyPr>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Step 1: Place the starting node into the OPEN list.</a:t>
            </a:r>
          </a:p>
          <a:p>
            <a:pPr algn="just">
              <a:lnSpc>
                <a:spcPct val="150000"/>
              </a:lnSpc>
            </a:pPr>
            <a:r>
              <a:rPr lang="en-US" sz="2200" dirty="0">
                <a:latin typeface="Times New Roman" panose="02020603050405020304" pitchFamily="18" charset="0"/>
                <a:cs typeface="Times New Roman" panose="02020603050405020304" pitchFamily="18" charset="0"/>
              </a:rPr>
              <a:t>Step 2: If the OPEN list is empty, Stop and return failure.</a:t>
            </a:r>
          </a:p>
          <a:p>
            <a:pPr algn="just">
              <a:lnSpc>
                <a:spcPct val="150000"/>
              </a:lnSpc>
            </a:pPr>
            <a:r>
              <a:rPr lang="en-US" sz="2200" dirty="0">
                <a:latin typeface="Times New Roman" panose="02020603050405020304" pitchFamily="18" charset="0"/>
                <a:cs typeface="Times New Roman" panose="02020603050405020304" pitchFamily="18" charset="0"/>
              </a:rPr>
              <a:t>Step 3: Remove the node n, from the OPEN list which has </a:t>
            </a:r>
            <a:r>
              <a:rPr lang="en-US" sz="2200" dirty="0" smtClean="0">
                <a:latin typeface="Times New Roman" panose="02020603050405020304" pitchFamily="18" charset="0"/>
                <a:cs typeface="Times New Roman" panose="02020603050405020304" pitchFamily="18" charset="0"/>
              </a:rPr>
              <a:t>the lowest </a:t>
            </a:r>
            <a:r>
              <a:rPr lang="en-US" sz="2200" dirty="0">
                <a:latin typeface="Times New Roman" panose="02020603050405020304" pitchFamily="18" charset="0"/>
                <a:cs typeface="Times New Roman" panose="02020603050405020304" pitchFamily="18" charset="0"/>
              </a:rPr>
              <a:t>value of h(n), and places it in the CLOSED list.</a:t>
            </a:r>
          </a:p>
          <a:p>
            <a:pPr algn="just">
              <a:lnSpc>
                <a:spcPct val="150000"/>
              </a:lnSpc>
            </a:pPr>
            <a:r>
              <a:rPr lang="en-US" sz="2200" dirty="0">
                <a:latin typeface="Times New Roman" panose="02020603050405020304" pitchFamily="18" charset="0"/>
                <a:cs typeface="Times New Roman" panose="02020603050405020304" pitchFamily="18" charset="0"/>
              </a:rPr>
              <a:t>Step 4: Expand the node n, and generate the successors of </a:t>
            </a:r>
            <a:r>
              <a:rPr lang="en-US" sz="2200" dirty="0" smtClean="0">
                <a:latin typeface="Times New Roman" panose="02020603050405020304" pitchFamily="18" charset="0"/>
                <a:cs typeface="Times New Roman" panose="02020603050405020304" pitchFamily="18" charset="0"/>
              </a:rPr>
              <a:t>node </a:t>
            </a:r>
            <a:r>
              <a:rPr lang="en-IN" sz="2200" dirty="0" smtClean="0">
                <a:latin typeface="Times New Roman" panose="02020603050405020304" pitchFamily="18" charset="0"/>
                <a:cs typeface="Times New Roman" panose="02020603050405020304" pitchFamily="18" charset="0"/>
              </a:rPr>
              <a:t>n</a:t>
            </a:r>
            <a:r>
              <a:rPr lang="en-IN" sz="2200" dirty="0">
                <a:latin typeface="Times New Roman" panose="02020603050405020304" pitchFamily="18" charset="0"/>
                <a:cs typeface="Times New Roman" panose="02020603050405020304" pitchFamily="18" charset="0"/>
              </a:rPr>
              <a:t>.</a:t>
            </a:r>
          </a:p>
          <a:p>
            <a:pPr algn="just">
              <a:lnSpc>
                <a:spcPct val="150000"/>
              </a:lnSpc>
            </a:pPr>
            <a:r>
              <a:rPr lang="en-US" sz="2200" dirty="0" smtClean="0">
                <a:latin typeface="Times New Roman" panose="02020603050405020304" pitchFamily="18" charset="0"/>
                <a:cs typeface="Times New Roman" panose="02020603050405020304" pitchFamily="18" charset="0"/>
              </a:rPr>
              <a:t>Step </a:t>
            </a:r>
            <a:r>
              <a:rPr lang="en-US" sz="2200" dirty="0">
                <a:latin typeface="Times New Roman" panose="02020603050405020304" pitchFamily="18" charset="0"/>
                <a:cs typeface="Times New Roman" panose="02020603050405020304" pitchFamily="18" charset="0"/>
              </a:rPr>
              <a:t>5: Check each successor of node n, and find whether </a:t>
            </a:r>
            <a:r>
              <a:rPr lang="en-US" sz="2200" dirty="0" smtClean="0">
                <a:latin typeface="Times New Roman" panose="02020603050405020304" pitchFamily="18" charset="0"/>
                <a:cs typeface="Times New Roman" panose="02020603050405020304" pitchFamily="18" charset="0"/>
              </a:rPr>
              <a:t>any node </a:t>
            </a:r>
            <a:r>
              <a:rPr lang="en-US" sz="2200" dirty="0">
                <a:latin typeface="Times New Roman" panose="02020603050405020304" pitchFamily="18" charset="0"/>
                <a:cs typeface="Times New Roman" panose="02020603050405020304" pitchFamily="18" charset="0"/>
              </a:rPr>
              <a:t>is a goal node or not. If any successor node is goal </a:t>
            </a:r>
            <a:r>
              <a:rPr lang="en-US" sz="2200" dirty="0" smtClean="0">
                <a:latin typeface="Times New Roman" panose="02020603050405020304" pitchFamily="18" charset="0"/>
                <a:cs typeface="Times New Roman" panose="02020603050405020304" pitchFamily="18" charset="0"/>
              </a:rPr>
              <a:t>node, then </a:t>
            </a:r>
            <a:r>
              <a:rPr lang="en-US" sz="2200" dirty="0">
                <a:latin typeface="Times New Roman" panose="02020603050405020304" pitchFamily="18" charset="0"/>
                <a:cs typeface="Times New Roman" panose="02020603050405020304" pitchFamily="18" charset="0"/>
              </a:rPr>
              <a:t>return success and terminate the search, else proceed to</a:t>
            </a:r>
          </a:p>
          <a:p>
            <a:pPr marL="0" indent="0" algn="just">
              <a:lnSpc>
                <a:spcPct val="150000"/>
              </a:lnSpc>
              <a:buNone/>
            </a:pPr>
            <a:endParaRPr lang="en-IN" sz="2200" dirty="0">
              <a:latin typeface="Times New Roman" panose="02020603050405020304" pitchFamily="18" charset="0"/>
              <a:cs typeface="Times New Roman" panose="02020603050405020304" pitchFamily="18" charset="0"/>
            </a:endParaRPr>
          </a:p>
          <a:p>
            <a:pPr algn="just">
              <a:lnSpc>
                <a:spcPct val="150000"/>
              </a:lnSpc>
            </a:pPr>
            <a:endParaRPr lang="en-IN" dirty="0"/>
          </a:p>
        </p:txBody>
      </p:sp>
    </p:spTree>
    <p:extLst>
      <p:ext uri="{BB962C8B-B14F-4D97-AF65-F5344CB8AC3E}">
        <p14:creationId xmlns:p14="http://schemas.microsoft.com/office/powerpoint/2010/main" val="7493207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AD16DAD-8B1F-226A-0527-0C663955CC5C}"/>
              </a:ext>
            </a:extLst>
          </p:cNvPr>
          <p:cNvSpPr>
            <a:spLocks noGrp="1"/>
          </p:cNvSpPr>
          <p:nvPr>
            <p:ph idx="1"/>
          </p:nvPr>
        </p:nvSpPr>
        <p:spPr>
          <a:xfrm>
            <a:off x="455834" y="371776"/>
            <a:ext cx="11554195" cy="5797012"/>
          </a:xfrm>
        </p:spPr>
        <p:txBody>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Step 6: For each successor node, algorithm checks </a:t>
            </a:r>
            <a:r>
              <a:rPr lang="en-US" dirty="0" smtClean="0">
                <a:latin typeface="Times New Roman" panose="02020603050405020304" pitchFamily="18" charset="0"/>
                <a:cs typeface="Times New Roman" panose="02020603050405020304" pitchFamily="18" charset="0"/>
              </a:rPr>
              <a:t>for evaluation </a:t>
            </a:r>
            <a:r>
              <a:rPr lang="en-US" dirty="0">
                <a:latin typeface="Times New Roman" panose="02020603050405020304" pitchFamily="18" charset="0"/>
                <a:cs typeface="Times New Roman" panose="02020603050405020304" pitchFamily="18" charset="0"/>
              </a:rPr>
              <a:t>function f(n), and then check if the node has been </a:t>
            </a:r>
            <a:r>
              <a:rPr lang="en-US" dirty="0" smtClean="0">
                <a:latin typeface="Times New Roman" panose="02020603050405020304" pitchFamily="18" charset="0"/>
                <a:cs typeface="Times New Roman" panose="02020603050405020304" pitchFamily="18" charset="0"/>
              </a:rPr>
              <a:t>in either </a:t>
            </a:r>
            <a:r>
              <a:rPr lang="en-US" dirty="0">
                <a:latin typeface="Times New Roman" panose="02020603050405020304" pitchFamily="18" charset="0"/>
                <a:cs typeface="Times New Roman" panose="02020603050405020304" pitchFamily="18" charset="0"/>
              </a:rPr>
              <a:t>OPEN or CLOSED list. If the node has not been in </a:t>
            </a:r>
            <a:r>
              <a:rPr lang="en-US" dirty="0" smtClean="0">
                <a:latin typeface="Times New Roman" panose="02020603050405020304" pitchFamily="18" charset="0"/>
                <a:cs typeface="Times New Roman" panose="02020603050405020304" pitchFamily="18" charset="0"/>
              </a:rPr>
              <a:t>both list</a:t>
            </a:r>
            <a:r>
              <a:rPr lang="en-US" dirty="0">
                <a:latin typeface="Times New Roman" panose="02020603050405020304" pitchFamily="18" charset="0"/>
                <a:cs typeface="Times New Roman" panose="02020603050405020304" pitchFamily="18" charset="0"/>
              </a:rPr>
              <a:t>, then add it to the OPEN </a:t>
            </a:r>
            <a:r>
              <a:rPr lang="en-US" dirty="0" smtClean="0">
                <a:latin typeface="Times New Roman" panose="02020603050405020304" pitchFamily="18" charset="0"/>
                <a:cs typeface="Times New Roman" panose="02020603050405020304" pitchFamily="18" charset="0"/>
              </a:rPr>
              <a:t>list.</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7: Return to Step 2</a:t>
            </a:r>
            <a:r>
              <a:rPr lang="en-US"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624769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767" y="412719"/>
            <a:ext cx="11554194" cy="1061239"/>
          </a:xfrm>
        </p:spPr>
        <p:txBody>
          <a:bodyPr>
            <a:noAutofit/>
          </a:bodyPr>
          <a:lstStyle/>
          <a:p>
            <a:pPr marL="0" indent="0" algn="just">
              <a:lnSpc>
                <a:spcPct val="150000"/>
              </a:lnSpc>
              <a:buNone/>
            </a:pPr>
            <a:r>
              <a:rPr lang="en-US" sz="2400" b="1" dirty="0">
                <a:latin typeface="Times New Roman" panose="02020603050405020304" pitchFamily="18" charset="0"/>
                <a:cs typeface="Times New Roman" panose="02020603050405020304" pitchFamily="18" charset="0"/>
              </a:rPr>
              <a:t>Example :</a:t>
            </a:r>
            <a:r>
              <a:rPr lang="en-US" sz="2400" b="1" dirty="0"/>
              <a:t>Apply greedy best first search algorithm on the graph given below to reach node I from node S.</a:t>
            </a:r>
            <a:endParaRPr lang="en-US" sz="2400"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400" b="1" dirty="0">
              <a:latin typeface="Times New Roman" panose="02020603050405020304" pitchFamily="18" charset="0"/>
              <a:cs typeface="Times New Roman" panose="02020603050405020304" pitchFamily="18" charset="0"/>
            </a:endParaRPr>
          </a:p>
          <a:p>
            <a:endParaRPr lang="en-US" sz="2400" b="1" dirty="0"/>
          </a:p>
        </p:txBody>
      </p:sp>
      <p:pic>
        <p:nvPicPr>
          <p:cNvPr id="4" name="Picture 3"/>
          <p:cNvPicPr>
            <a:picLocks noChangeAspect="1"/>
          </p:cNvPicPr>
          <p:nvPr/>
        </p:nvPicPr>
        <p:blipFill>
          <a:blip r:embed="rId2"/>
          <a:stretch>
            <a:fillRect/>
          </a:stretch>
        </p:blipFill>
        <p:spPr>
          <a:xfrm>
            <a:off x="725108" y="1895830"/>
            <a:ext cx="10561591" cy="4040946"/>
          </a:xfrm>
          <a:prstGeom prst="rect">
            <a:avLst/>
          </a:prstGeom>
        </p:spPr>
      </p:pic>
    </p:spTree>
    <p:extLst>
      <p:ext uri="{BB962C8B-B14F-4D97-AF65-F5344CB8AC3E}">
        <p14:creationId xmlns:p14="http://schemas.microsoft.com/office/powerpoint/2010/main" val="14106060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9AF1D5-93E2-5470-9D35-AF09C1D03F09}"/>
              </a:ext>
            </a:extLst>
          </p:cNvPr>
          <p:cNvSpPr>
            <a:spLocks noGrp="1"/>
          </p:cNvSpPr>
          <p:nvPr>
            <p:ph type="title"/>
          </p:nvPr>
        </p:nvSpPr>
        <p:spPr>
          <a:xfrm>
            <a:off x="346654" y="313900"/>
            <a:ext cx="10058400" cy="764273"/>
          </a:xfrm>
        </p:spPr>
        <p:txBody>
          <a:bodyPr>
            <a:normAutofit/>
          </a:bodyPr>
          <a:lstStyle/>
          <a:p>
            <a:r>
              <a:rPr lang="en-IN" sz="4000" dirty="0">
                <a:latin typeface="Times New Roman" panose="02020603050405020304" pitchFamily="18" charset="0"/>
                <a:cs typeface="Times New Roman" panose="02020603050405020304" pitchFamily="18" charset="0"/>
              </a:rPr>
              <a:t>2. A* Search Algorithm:</a:t>
            </a:r>
          </a:p>
        </p:txBody>
      </p:sp>
      <p:sp>
        <p:nvSpPr>
          <p:cNvPr id="3" name="Content Placeholder 2">
            <a:extLst>
              <a:ext uri="{FF2B5EF4-FFF2-40B4-BE49-F238E27FC236}">
                <a16:creationId xmlns:a16="http://schemas.microsoft.com/office/drawing/2014/main" xmlns="" id="{23AD110A-CEF5-74DF-8AE7-5069FF9BC9BE}"/>
              </a:ext>
            </a:extLst>
          </p:cNvPr>
          <p:cNvSpPr>
            <a:spLocks noGrp="1"/>
          </p:cNvSpPr>
          <p:nvPr>
            <p:ph idx="1"/>
          </p:nvPr>
        </p:nvSpPr>
        <p:spPr>
          <a:xfrm>
            <a:off x="346653" y="1364776"/>
            <a:ext cx="11690671" cy="4504318"/>
          </a:xfrm>
        </p:spPr>
        <p:txBody>
          <a:bodyPr>
            <a:normAutofit fontScale="92500" lnSpcReduction="20000"/>
          </a:bodyPr>
          <a:lstStyle/>
          <a:p>
            <a:pPr marL="0" indent="0" algn="just">
              <a:lnSpc>
                <a:spcPct val="150000"/>
              </a:lnSpc>
              <a:buNone/>
            </a:pPr>
            <a:r>
              <a:rPr lang="en-US" dirty="0"/>
              <a:t> </a:t>
            </a:r>
            <a:endParaRPr lang="en-US" dirty="0" smtClean="0"/>
          </a:p>
          <a:p>
            <a:pPr algn="just">
              <a:lnSpc>
                <a:spcPct val="150000"/>
              </a:lnSpc>
              <a:buFont typeface="Calibri" panose="020F0502020204030204" pitchFamily="34" charset="0"/>
              <a:buChar char="*"/>
            </a:pPr>
            <a:r>
              <a:rPr lang="en-US" sz="2200" dirty="0" smtClean="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search is the most commonly known form of best-first search. </a:t>
            </a:r>
            <a:r>
              <a:rPr lang="en-US" sz="2200" dirty="0" smtClean="0">
                <a:latin typeface="Times New Roman" panose="02020603050405020304" pitchFamily="18" charset="0"/>
                <a:cs typeface="Times New Roman" panose="02020603050405020304" pitchFamily="18" charset="0"/>
              </a:rPr>
              <a:t>It uses </a:t>
            </a:r>
            <a:r>
              <a:rPr lang="en-US" sz="2200" dirty="0">
                <a:latin typeface="Times New Roman" panose="02020603050405020304" pitchFamily="18" charset="0"/>
                <a:cs typeface="Times New Roman" panose="02020603050405020304" pitchFamily="18" charset="0"/>
              </a:rPr>
              <a:t>heuristic function h(n), and cost to reach the node n from </a:t>
            </a:r>
            <a:r>
              <a:rPr lang="en-US" sz="2200" dirty="0" smtClean="0">
                <a:latin typeface="Times New Roman" panose="02020603050405020304" pitchFamily="18" charset="0"/>
                <a:cs typeface="Times New Roman" panose="02020603050405020304" pitchFamily="18" charset="0"/>
              </a:rPr>
              <a:t>the </a:t>
            </a:r>
            <a:r>
              <a:rPr lang="en-IN" sz="2200" dirty="0" smtClean="0">
                <a:latin typeface="Times New Roman" panose="02020603050405020304" pitchFamily="18" charset="0"/>
                <a:cs typeface="Times New Roman" panose="02020603050405020304" pitchFamily="18" charset="0"/>
              </a:rPr>
              <a:t>start </a:t>
            </a:r>
            <a:r>
              <a:rPr lang="en-IN" sz="2200" dirty="0">
                <a:latin typeface="Times New Roman" panose="02020603050405020304" pitchFamily="18" charset="0"/>
                <a:cs typeface="Times New Roman" panose="02020603050405020304" pitchFamily="18" charset="0"/>
              </a:rPr>
              <a:t>state g(n).</a:t>
            </a:r>
          </a:p>
          <a:p>
            <a:pPr algn="just">
              <a:lnSpc>
                <a:spcPct val="150000"/>
              </a:lnSpc>
              <a:buFont typeface="Calibri" panose="020F0502020204030204" pitchFamily="34" charset="0"/>
              <a:buChar char="*"/>
            </a:pPr>
            <a:r>
              <a:rPr lang="en-IN" sz="2200" dirty="0">
                <a:latin typeface="Times New Roman" panose="02020603050405020304" pitchFamily="18" charset="0"/>
                <a:cs typeface="Times New Roman" panose="02020603050405020304" pitchFamily="18" charset="0"/>
              </a:rPr>
              <a:t>A* search </a:t>
            </a:r>
            <a:r>
              <a:rPr lang="en-IN" sz="2200" dirty="0" smtClean="0">
                <a:latin typeface="Times New Roman" panose="02020603050405020304" pitchFamily="18" charset="0"/>
                <a:cs typeface="Times New Roman" panose="02020603050405020304" pitchFamily="18" charset="0"/>
              </a:rPr>
              <a:t>algorithm </a:t>
            </a:r>
            <a:r>
              <a:rPr lang="en-US" sz="2200" dirty="0" smtClean="0">
                <a:latin typeface="Times New Roman" panose="02020603050405020304" pitchFamily="18" charset="0"/>
                <a:cs typeface="Times New Roman" panose="02020603050405020304" pitchFamily="18" charset="0"/>
              </a:rPr>
              <a:t>finds </a:t>
            </a:r>
            <a:r>
              <a:rPr lang="en-US" sz="2200" dirty="0">
                <a:latin typeface="Times New Roman" panose="02020603050405020304" pitchFamily="18" charset="0"/>
                <a:cs typeface="Times New Roman" panose="02020603050405020304" pitchFamily="18" charset="0"/>
              </a:rPr>
              <a:t>the shortest path through the search space using the heuristic</a:t>
            </a:r>
          </a:p>
          <a:p>
            <a:pPr algn="just">
              <a:lnSpc>
                <a:spcPct val="150000"/>
              </a:lnSpc>
            </a:pPr>
            <a:r>
              <a:rPr lang="en-IN" sz="2200" dirty="0">
                <a:latin typeface="Times New Roman" panose="02020603050405020304" pitchFamily="18" charset="0"/>
                <a:cs typeface="Times New Roman" panose="02020603050405020304" pitchFamily="18" charset="0"/>
              </a:rPr>
              <a:t>function.</a:t>
            </a:r>
          </a:p>
          <a:p>
            <a:pPr algn="just">
              <a:lnSpc>
                <a:spcPct val="150000"/>
              </a:lnSpc>
              <a:buFont typeface="Calibri" panose="020F0502020204030204" pitchFamily="34" charset="0"/>
              <a:buChar char="*"/>
            </a:pPr>
            <a:r>
              <a:rPr lang="en-US" sz="2200" dirty="0">
                <a:latin typeface="Times New Roman" panose="02020603050405020304" pitchFamily="18" charset="0"/>
                <a:cs typeface="Times New Roman" panose="02020603050405020304" pitchFamily="18" charset="0"/>
              </a:rPr>
              <a:t> In A* search algorithm, we use search heuristic as well as the cost </a:t>
            </a:r>
            <a:r>
              <a:rPr lang="en-US" sz="2200" dirty="0" smtClean="0">
                <a:latin typeface="Times New Roman" panose="02020603050405020304" pitchFamily="18" charset="0"/>
                <a:cs typeface="Times New Roman" panose="02020603050405020304" pitchFamily="18" charset="0"/>
              </a:rPr>
              <a:t>to </a:t>
            </a:r>
            <a:r>
              <a:rPr lang="en-IN" sz="2200" dirty="0" smtClean="0">
                <a:latin typeface="Times New Roman" panose="02020603050405020304" pitchFamily="18" charset="0"/>
                <a:cs typeface="Times New Roman" panose="02020603050405020304" pitchFamily="18" charset="0"/>
              </a:rPr>
              <a:t>reach </a:t>
            </a:r>
            <a:r>
              <a:rPr lang="en-IN" sz="2200" dirty="0">
                <a:latin typeface="Times New Roman" panose="02020603050405020304" pitchFamily="18" charset="0"/>
                <a:cs typeface="Times New Roman" panose="02020603050405020304" pitchFamily="18" charset="0"/>
              </a:rPr>
              <a:t>the node.</a:t>
            </a:r>
          </a:p>
          <a:p>
            <a:pPr algn="just">
              <a:lnSpc>
                <a:spcPct val="150000"/>
              </a:lnSpc>
              <a:buFont typeface="Calibri" panose="020F0502020204030204" pitchFamily="34" charset="0"/>
              <a:buChar char="*"/>
            </a:pPr>
            <a:r>
              <a:rPr lang="en-US" sz="2200" dirty="0">
                <a:latin typeface="Times New Roman" panose="02020603050405020304" pitchFamily="18" charset="0"/>
                <a:cs typeface="Times New Roman" panose="02020603050405020304" pitchFamily="18" charset="0"/>
              </a:rPr>
              <a:t> Hence we can combine both costs as following, and this sum is called</a:t>
            </a:r>
          </a:p>
          <a:p>
            <a:pPr algn="just">
              <a:lnSpc>
                <a:spcPct val="150000"/>
              </a:lnSpc>
            </a:pPr>
            <a:r>
              <a:rPr lang="en-IN" sz="2200" dirty="0">
                <a:latin typeface="Times New Roman" panose="02020603050405020304" pitchFamily="18" charset="0"/>
                <a:cs typeface="Times New Roman" panose="02020603050405020304" pitchFamily="18" charset="0"/>
              </a:rPr>
              <a:t>as a fitness number.</a:t>
            </a:r>
          </a:p>
        </p:txBody>
      </p:sp>
    </p:spTree>
    <p:extLst>
      <p:ext uri="{BB962C8B-B14F-4D97-AF65-F5344CB8AC3E}">
        <p14:creationId xmlns:p14="http://schemas.microsoft.com/office/powerpoint/2010/main" val="164368354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xmlns="" id="{0D321E9A-8FBA-276C-F955-12205CBAF3F3}"/>
              </a:ext>
            </a:extLst>
          </p:cNvPr>
          <p:cNvPicPr>
            <a:picLocks noGrp="1" noChangeAspect="1"/>
          </p:cNvPicPr>
          <p:nvPr>
            <p:ph idx="1"/>
          </p:nvPr>
        </p:nvPicPr>
        <p:blipFill>
          <a:blip r:embed="rId2"/>
          <a:stretch>
            <a:fillRect/>
          </a:stretch>
        </p:blipFill>
        <p:spPr>
          <a:xfrm>
            <a:off x="818866" y="928047"/>
            <a:ext cx="10399593" cy="4225817"/>
          </a:xfrm>
          <a:prstGeom prst="rect">
            <a:avLst/>
          </a:prstGeom>
        </p:spPr>
      </p:pic>
    </p:spTree>
    <p:extLst>
      <p:ext uri="{BB962C8B-B14F-4D97-AF65-F5344CB8AC3E}">
        <p14:creationId xmlns:p14="http://schemas.microsoft.com/office/powerpoint/2010/main" val="35829247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E8E777-CD5D-9567-4D80-E85D2DE6DEAD}"/>
              </a:ext>
            </a:extLst>
          </p:cNvPr>
          <p:cNvSpPr>
            <a:spLocks noGrp="1"/>
          </p:cNvSpPr>
          <p:nvPr>
            <p:ph type="title"/>
          </p:nvPr>
        </p:nvSpPr>
        <p:spPr>
          <a:xfrm>
            <a:off x="578665" y="286603"/>
            <a:ext cx="10058400" cy="655093"/>
          </a:xfrm>
        </p:spPr>
        <p:txBody>
          <a:bodyPr>
            <a:normAutofit/>
          </a:bodyPr>
          <a:lstStyle/>
          <a:p>
            <a:r>
              <a:rPr lang="en-IN" sz="4000" dirty="0">
                <a:latin typeface="Times New Roman" panose="02020603050405020304" pitchFamily="18" charset="0"/>
                <a:cs typeface="Times New Roman" panose="02020603050405020304" pitchFamily="18" charset="0"/>
              </a:rPr>
              <a:t>Algorithm of A* search:</a:t>
            </a:r>
          </a:p>
        </p:txBody>
      </p:sp>
      <p:sp>
        <p:nvSpPr>
          <p:cNvPr id="3" name="Content Placeholder 2">
            <a:extLst>
              <a:ext uri="{FF2B5EF4-FFF2-40B4-BE49-F238E27FC236}">
                <a16:creationId xmlns:a16="http://schemas.microsoft.com/office/drawing/2014/main" xmlns="" id="{B9DB336B-FB3F-F784-585D-A2CD82DD07B3}"/>
              </a:ext>
            </a:extLst>
          </p:cNvPr>
          <p:cNvSpPr>
            <a:spLocks noGrp="1"/>
          </p:cNvSpPr>
          <p:nvPr>
            <p:ph idx="1"/>
          </p:nvPr>
        </p:nvSpPr>
        <p:spPr>
          <a:xfrm>
            <a:off x="409433" y="1255594"/>
            <a:ext cx="11573301" cy="4613500"/>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Step1: Place the starting node in the OPEN list.</a:t>
            </a:r>
          </a:p>
          <a:p>
            <a:pPr algn="just">
              <a:lnSpc>
                <a:spcPct val="150000"/>
              </a:lnSpc>
            </a:pPr>
            <a:r>
              <a:rPr lang="en-US" dirty="0">
                <a:latin typeface="Times New Roman" panose="02020603050405020304" pitchFamily="18" charset="0"/>
                <a:cs typeface="Times New Roman" panose="02020603050405020304" pitchFamily="18" charset="0"/>
              </a:rPr>
              <a:t>Step 2: Check if the OPEN list is empty or not, if the list is empty</a:t>
            </a:r>
          </a:p>
          <a:p>
            <a:pPr algn="just">
              <a:lnSpc>
                <a:spcPct val="150000"/>
              </a:lnSpc>
            </a:pPr>
            <a:r>
              <a:rPr lang="en-US" dirty="0">
                <a:latin typeface="Times New Roman" panose="02020603050405020304" pitchFamily="18" charset="0"/>
                <a:cs typeface="Times New Roman" panose="02020603050405020304" pitchFamily="18" charset="0"/>
              </a:rPr>
              <a:t>then return failure and stops.</a:t>
            </a:r>
          </a:p>
          <a:p>
            <a:pPr algn="just">
              <a:lnSpc>
                <a:spcPct val="150000"/>
              </a:lnSpc>
            </a:pPr>
            <a:r>
              <a:rPr lang="en-US" dirty="0">
                <a:latin typeface="Times New Roman" panose="02020603050405020304" pitchFamily="18" charset="0"/>
                <a:cs typeface="Times New Roman" panose="02020603050405020304" pitchFamily="18" charset="0"/>
              </a:rPr>
              <a:t>Step 3: Select the node from the OPEN list which has the </a:t>
            </a:r>
            <a:r>
              <a:rPr lang="en-US" dirty="0" smtClean="0">
                <a:latin typeface="Times New Roman" panose="02020603050405020304" pitchFamily="18" charset="0"/>
                <a:cs typeface="Times New Roman" panose="02020603050405020304" pitchFamily="18" charset="0"/>
              </a:rPr>
              <a:t>smallest value </a:t>
            </a:r>
            <a:r>
              <a:rPr lang="en-US" dirty="0">
                <a:latin typeface="Times New Roman" panose="02020603050405020304" pitchFamily="18" charset="0"/>
                <a:cs typeface="Times New Roman" panose="02020603050405020304" pitchFamily="18" charset="0"/>
              </a:rPr>
              <a:t>of evaluation function (</a:t>
            </a:r>
            <a:r>
              <a:rPr lang="en-US" dirty="0" err="1">
                <a:latin typeface="Times New Roman" panose="02020603050405020304" pitchFamily="18" charset="0"/>
                <a:cs typeface="Times New Roman" panose="02020603050405020304" pitchFamily="18" charset="0"/>
              </a:rPr>
              <a:t>g+h</a:t>
            </a:r>
            <a:r>
              <a:rPr lang="en-US" dirty="0">
                <a:latin typeface="Times New Roman" panose="02020603050405020304" pitchFamily="18" charset="0"/>
                <a:cs typeface="Times New Roman" panose="02020603050405020304" pitchFamily="18" charset="0"/>
              </a:rPr>
              <a:t>), if node n is goal node then </a:t>
            </a:r>
            <a:r>
              <a:rPr lang="en-US" dirty="0" smtClean="0">
                <a:latin typeface="Times New Roman" panose="02020603050405020304" pitchFamily="18" charset="0"/>
                <a:cs typeface="Times New Roman" panose="02020603050405020304" pitchFamily="18" charset="0"/>
              </a:rPr>
              <a:t>return </a:t>
            </a:r>
            <a:r>
              <a:rPr lang="en-IN" dirty="0" smtClean="0">
                <a:latin typeface="Times New Roman" panose="02020603050405020304" pitchFamily="18" charset="0"/>
                <a:cs typeface="Times New Roman" panose="02020603050405020304" pitchFamily="18" charset="0"/>
              </a:rPr>
              <a:t>success </a:t>
            </a:r>
            <a:r>
              <a:rPr lang="en-IN" dirty="0">
                <a:latin typeface="Times New Roman" panose="02020603050405020304" pitchFamily="18" charset="0"/>
                <a:cs typeface="Times New Roman" panose="02020603050405020304" pitchFamily="18" charset="0"/>
              </a:rPr>
              <a:t>and stop, </a:t>
            </a:r>
            <a:r>
              <a:rPr lang="en-IN" dirty="0" smtClean="0">
                <a:latin typeface="Times New Roman" panose="02020603050405020304" pitchFamily="18" charset="0"/>
                <a:cs typeface="Times New Roman" panose="02020603050405020304" pitchFamily="18" charset="0"/>
              </a:rPr>
              <a:t>otherwise</a:t>
            </a:r>
          </a:p>
          <a:p>
            <a:pPr algn="just">
              <a:lnSpc>
                <a:spcPct val="150000"/>
              </a:lnSpc>
            </a:pPr>
            <a:r>
              <a:rPr lang="en-US" dirty="0">
                <a:latin typeface="Times New Roman" panose="02020603050405020304" pitchFamily="18" charset="0"/>
                <a:cs typeface="Times New Roman" panose="02020603050405020304" pitchFamily="18" charset="0"/>
              </a:rPr>
              <a:t>Step 4: Expand node n and generate all of its successors, and put </a:t>
            </a:r>
            <a:r>
              <a:rPr lang="en-US" dirty="0" smtClean="0">
                <a:latin typeface="Times New Roman" panose="02020603050405020304" pitchFamily="18" charset="0"/>
                <a:cs typeface="Times New Roman" panose="02020603050405020304" pitchFamily="18" charset="0"/>
              </a:rPr>
              <a:t>n into </a:t>
            </a:r>
            <a:r>
              <a:rPr lang="en-US" dirty="0">
                <a:latin typeface="Times New Roman" panose="02020603050405020304" pitchFamily="18" charset="0"/>
                <a:cs typeface="Times New Roman" panose="02020603050405020304" pitchFamily="18" charset="0"/>
              </a:rPr>
              <a:t>the closed list. For each successor n', check whether n' </a:t>
            </a:r>
            <a:r>
              <a:rPr lang="en-US" dirty="0" smtClean="0">
                <a:latin typeface="Times New Roman" panose="02020603050405020304" pitchFamily="18" charset="0"/>
                <a:cs typeface="Times New Roman" panose="02020603050405020304" pitchFamily="18" charset="0"/>
              </a:rPr>
              <a:t>is already </a:t>
            </a:r>
            <a:r>
              <a:rPr lang="en-US" dirty="0">
                <a:latin typeface="Times New Roman" panose="02020603050405020304" pitchFamily="18" charset="0"/>
                <a:cs typeface="Times New Roman" panose="02020603050405020304" pitchFamily="18" charset="0"/>
              </a:rPr>
              <a:t>in the OPEN or CLOSED list, if not then compute </a:t>
            </a:r>
            <a:r>
              <a:rPr lang="en-US" dirty="0" smtClean="0">
                <a:latin typeface="Times New Roman" panose="02020603050405020304" pitchFamily="18" charset="0"/>
                <a:cs typeface="Times New Roman" panose="02020603050405020304" pitchFamily="18" charset="0"/>
              </a:rPr>
              <a:t>evaluation </a:t>
            </a:r>
            <a:r>
              <a:rPr lang="en-US" dirty="0">
                <a:latin typeface="Times New Roman" panose="02020603050405020304" pitchFamily="18" charset="0"/>
                <a:cs typeface="Times New Roman" panose="02020603050405020304" pitchFamily="18" charset="0"/>
              </a:rPr>
              <a:t>function for n' and place into Open list.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2797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8118E37-5FCD-6104-1FE2-DF3D88FF517C}"/>
              </a:ext>
            </a:extLst>
          </p:cNvPr>
          <p:cNvSpPr>
            <a:spLocks noGrp="1"/>
          </p:cNvSpPr>
          <p:nvPr>
            <p:ph idx="1"/>
          </p:nvPr>
        </p:nvSpPr>
        <p:spPr>
          <a:xfrm>
            <a:off x="401245" y="399070"/>
            <a:ext cx="11445012" cy="6192798"/>
          </a:xfrm>
        </p:spPr>
        <p:txBody>
          <a:bodyPr>
            <a:norm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5: Else if node n' is already in OPEN and CLOSED, then </a:t>
            </a:r>
            <a:r>
              <a:rPr lang="en-US" dirty="0" smtClean="0">
                <a:latin typeface="Times New Roman" panose="02020603050405020304" pitchFamily="18" charset="0"/>
                <a:cs typeface="Times New Roman" panose="02020603050405020304" pitchFamily="18" charset="0"/>
              </a:rPr>
              <a:t>it should </a:t>
            </a:r>
            <a:r>
              <a:rPr lang="en-US" dirty="0">
                <a:latin typeface="Times New Roman" panose="02020603050405020304" pitchFamily="18" charset="0"/>
                <a:cs typeface="Times New Roman" panose="02020603050405020304" pitchFamily="18" charset="0"/>
              </a:rPr>
              <a:t>be attached to the back pointer which reflects the lowest g(n</a:t>
            </a:r>
            <a:r>
              <a:rPr lang="en-US"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value.</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6: Return to Step 2</a:t>
            </a:r>
            <a:r>
              <a:rPr lang="en-US"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US" dirty="0"/>
              <a:t>Example: Consider the graph given below and traverse it using the </a:t>
            </a:r>
            <a:r>
              <a:rPr lang="en-US" dirty="0" smtClean="0"/>
              <a:t>A* algorithm.</a:t>
            </a:r>
          </a:p>
          <a:p>
            <a:pPr marL="0" indent="0" algn="just">
              <a:lnSpc>
                <a:spcPct val="150000"/>
              </a:lnSpc>
              <a:buNone/>
            </a:pPr>
            <a:endParaRPr lang="en-US" dirty="0" smtClean="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050878" y="2825088"/>
            <a:ext cx="9266829" cy="3766780"/>
          </a:xfrm>
          <a:prstGeom prst="rect">
            <a:avLst/>
          </a:prstGeom>
        </p:spPr>
      </p:pic>
    </p:spTree>
    <p:extLst>
      <p:ext uri="{BB962C8B-B14F-4D97-AF65-F5344CB8AC3E}">
        <p14:creationId xmlns:p14="http://schemas.microsoft.com/office/powerpoint/2010/main" val="14081874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EB196E-16B6-F802-3537-249A3232FC93}"/>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3. AO</a:t>
            </a:r>
            <a:r>
              <a:rPr lang="en-IN" sz="4000" dirty="0">
                <a:latin typeface="Times New Roman" panose="02020603050405020304" pitchFamily="18" charset="0"/>
                <a:ea typeface="Calibri" panose="020F0502020204030204" pitchFamily="34" charset="0"/>
                <a:cs typeface="Times New Roman" panose="02020603050405020304" pitchFamily="18" charset="0"/>
              </a:rPr>
              <a:t>*</a:t>
            </a:r>
            <a:r>
              <a:rPr lang="en-IN" sz="4000" dirty="0">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xmlns="" id="{DB7926C8-9EA5-FC8C-4069-5C1BC83A501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AO</a:t>
            </a:r>
            <a:r>
              <a:rPr lang="en-US" dirty="0">
                <a:latin typeface="Calibri" panose="020F0502020204030204" pitchFamily="34" charset="0"/>
                <a:ea typeface="Calibri" panose="020F0502020204030204" pitchFamily="34" charset="0"/>
                <a:cs typeface="Calibri" panose="020F0502020204030204" pitchFamily="34" charset="0"/>
              </a:rPr>
              <a:t>*</a:t>
            </a:r>
            <a:r>
              <a:rPr lang="en-US" dirty="0">
                <a:latin typeface="Times New Roman" panose="02020603050405020304" pitchFamily="18" charset="0"/>
                <a:cs typeface="Times New Roman" panose="02020603050405020304" pitchFamily="18" charset="0"/>
              </a:rPr>
              <a:t> algorithm is based on problem decomposition in which a problem is</a:t>
            </a:r>
          </a:p>
          <a:p>
            <a:r>
              <a:rPr lang="en-US" dirty="0">
                <a:latin typeface="Times New Roman" panose="02020603050405020304" pitchFamily="18" charset="0"/>
                <a:cs typeface="Times New Roman" panose="02020603050405020304" pitchFamily="18" charset="0"/>
              </a:rPr>
              <a:t>broken down problem into smaller pieces.</a:t>
            </a:r>
          </a:p>
          <a:p>
            <a:pPr>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 shows an AND-OR graph. It shows that if you want to have</a:t>
            </a:r>
          </a:p>
          <a:p>
            <a:r>
              <a:rPr lang="en-US" dirty="0">
                <a:latin typeface="Times New Roman" panose="02020603050405020304" pitchFamily="18" charset="0"/>
                <a:cs typeface="Times New Roman" panose="02020603050405020304" pitchFamily="18" charset="0"/>
              </a:rPr>
              <a:t>breakfast then you can eat bread or have fruits and milk together. The arc</a:t>
            </a:r>
          </a:p>
          <a:p>
            <a:r>
              <a:rPr lang="en-IN" dirty="0">
                <a:latin typeface="Times New Roman" panose="02020603050405020304" pitchFamily="18" charset="0"/>
                <a:cs typeface="Times New Roman" panose="02020603050405020304" pitchFamily="18" charset="0"/>
              </a:rPr>
              <a:t>denotes AND condition.</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43CBED5C-982B-AA8C-BAB2-77A06DC02F3A}"/>
              </a:ext>
            </a:extLst>
          </p:cNvPr>
          <p:cNvPicPr>
            <a:picLocks noChangeAspect="1"/>
          </p:cNvPicPr>
          <p:nvPr/>
        </p:nvPicPr>
        <p:blipFill>
          <a:blip r:embed="rId2"/>
          <a:stretch>
            <a:fillRect/>
          </a:stretch>
        </p:blipFill>
        <p:spPr>
          <a:xfrm>
            <a:off x="3755923" y="4277031"/>
            <a:ext cx="4168877" cy="1514169"/>
          </a:xfrm>
          <a:prstGeom prst="rect">
            <a:avLst/>
          </a:prstGeom>
        </p:spPr>
      </p:pic>
    </p:spTree>
    <p:extLst>
      <p:ext uri="{BB962C8B-B14F-4D97-AF65-F5344CB8AC3E}">
        <p14:creationId xmlns:p14="http://schemas.microsoft.com/office/powerpoint/2010/main" val="33055641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72810F-185F-4557-A1DB-223EB3F12F74}"/>
              </a:ext>
            </a:extLst>
          </p:cNvPr>
          <p:cNvSpPr>
            <a:spLocks noGrp="1"/>
          </p:cNvSpPr>
          <p:nvPr>
            <p:ph idx="1"/>
          </p:nvPr>
        </p:nvSpPr>
        <p:spPr/>
        <p:txBody>
          <a:bodyPr/>
          <a:lstStyle/>
          <a:p>
            <a:pPr>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 Both A and AO algorithms are informed search techniques and use</a:t>
            </a:r>
          </a:p>
          <a:p>
            <a:r>
              <a:rPr lang="en-US" dirty="0">
                <a:latin typeface="Times New Roman" panose="02020603050405020304" pitchFamily="18" charset="0"/>
                <a:cs typeface="Times New Roman" panose="02020603050405020304" pitchFamily="18" charset="0"/>
              </a:rPr>
              <a:t>heuristic values to solve the problem.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281851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1129</TotalTime>
  <Words>3533</Words>
  <Application>Microsoft Office PowerPoint</Application>
  <PresentationFormat>Widescreen</PresentationFormat>
  <Paragraphs>252</Paragraphs>
  <Slides>56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Calibri Light</vt:lpstr>
      <vt:lpstr>Times New Roman</vt:lpstr>
      <vt:lpstr>Wingdings</vt:lpstr>
      <vt:lpstr>Retrospect</vt:lpstr>
      <vt:lpstr>Module 1: Introduction to Artificial intelligence </vt:lpstr>
      <vt:lpstr>What is Artificial Intelligence</vt:lpstr>
      <vt:lpstr>PowerPoint Presentation</vt:lpstr>
      <vt:lpstr>AI programming focuses on three cognitive skills</vt:lpstr>
      <vt:lpstr>Case Study: Why is artificial intelligence important?</vt:lpstr>
      <vt:lpstr>Advantages and Disadvantages of Artificial Intelligence</vt:lpstr>
      <vt:lpstr>Advantages and Disadvantages of Artificial Intelligence</vt:lpstr>
      <vt:lpstr>History of AI</vt:lpstr>
      <vt:lpstr>Types of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Self-Awareness</vt:lpstr>
      <vt:lpstr>Components of Intelligence</vt:lpstr>
      <vt:lpstr>PowerPoint Presentation</vt:lpstr>
      <vt:lpstr>PowerPoint Presentation</vt:lpstr>
      <vt:lpstr>PowerPoint Presentation</vt:lpstr>
      <vt:lpstr>Agent and Environment</vt:lpstr>
      <vt:lpstr>PowerPoint Presentation</vt:lpstr>
      <vt:lpstr>PowerPoint Presentation</vt:lpstr>
      <vt:lpstr>Key Terminology</vt:lpstr>
      <vt:lpstr>Rationality</vt:lpstr>
      <vt:lpstr>PowerPoint Presentation</vt:lpstr>
      <vt:lpstr>Types of AI Agents</vt:lpstr>
      <vt:lpstr>1. Simple Reflex Agent</vt:lpstr>
      <vt:lpstr>PowerPoint Presentation</vt:lpstr>
      <vt:lpstr>2. Model-based reflex agent</vt:lpstr>
      <vt:lpstr>PowerPoint Presentation</vt:lpstr>
      <vt:lpstr>3. Goal-based agents</vt:lpstr>
      <vt:lpstr>PowerPoint Presentation</vt:lpstr>
      <vt:lpstr>4. Utility-based agents</vt:lpstr>
      <vt:lpstr>PowerPoint Presentation</vt:lpstr>
      <vt:lpstr>5. Learning Agents</vt:lpstr>
      <vt:lpstr>PowerPoint Presentation</vt:lpstr>
      <vt:lpstr>Agent Environment in AI</vt:lpstr>
      <vt:lpstr>Features of Environment</vt:lpstr>
      <vt:lpstr>Search Algorithms in Artificial Intelligence</vt:lpstr>
      <vt:lpstr>Types of search algorithms</vt:lpstr>
      <vt:lpstr>Uninformed Search Algorithms</vt:lpstr>
      <vt:lpstr>Informed Search Algorithms</vt:lpstr>
      <vt:lpstr>PowerPoint Presentation</vt:lpstr>
      <vt:lpstr>Pure Heuristic Search</vt:lpstr>
      <vt:lpstr>1. Best-first Search Algorithm:</vt:lpstr>
      <vt:lpstr>Best first search algorithm:</vt:lpstr>
      <vt:lpstr>PowerPoint Presentation</vt:lpstr>
      <vt:lpstr>PowerPoint Presentation</vt:lpstr>
      <vt:lpstr>2. A* Search Algorithm:</vt:lpstr>
      <vt:lpstr>PowerPoint Presentation</vt:lpstr>
      <vt:lpstr>Algorithm of A* search:</vt:lpstr>
      <vt:lpstr>PowerPoint Presentation</vt:lpstr>
      <vt:lpstr>3. AO*Algorithm</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Anusha Tm</dc:creator>
  <cp:lastModifiedBy>Microsoft account</cp:lastModifiedBy>
  <cp:revision>49</cp:revision>
  <dcterms:created xsi:type="dcterms:W3CDTF">2026-03-04T09:56:47Z</dcterms:created>
  <dcterms:modified xsi:type="dcterms:W3CDTF">2026-03-23T01:09:53Z</dcterms:modified>
</cp:coreProperties>
</file>