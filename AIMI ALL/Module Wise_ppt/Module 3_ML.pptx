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4/1/2026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4/1/2026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4/1/2026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4/1/2026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0608" y="758952"/>
            <a:ext cx="9646277" cy="1649397"/>
          </a:xfrm>
        </p:spPr>
        <p:txBody>
          <a:bodyPr>
            <a:normAutofit/>
          </a:bodyPr>
          <a:lstStyle/>
          <a:p>
            <a:r>
              <a:rPr lang="en-US" sz="6000" dirty="0" smtClean="0"/>
              <a:t>Module 3: Introduction to Machine Learning</a:t>
            </a:r>
            <a:endParaRPr lang="en-US" sz="6000" dirty="0"/>
          </a:p>
        </p:txBody>
      </p:sp>
      <p:sp>
        <p:nvSpPr>
          <p:cNvPr id="3" name="Subtitle 2"/>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xmlns="" xmlns:lc="http://schemas.openxmlformats.org/drawingml/2006/lockedCanvas" id="{A7802EAF-A4C7-962C-1AE7-4BA768956432}"/>
              </a:ext>
            </a:extLst>
          </p:cNvPr>
          <p:cNvPicPr>
            <a:picLocks noChangeAspect="1"/>
          </p:cNvPicPr>
          <p:nvPr/>
        </p:nvPicPr>
        <p:blipFill>
          <a:blip r:embed="rId2"/>
          <a:stretch>
            <a:fillRect/>
          </a:stretch>
        </p:blipFill>
        <p:spPr>
          <a:xfrm>
            <a:off x="10510683" y="103894"/>
            <a:ext cx="1681317" cy="1479756"/>
          </a:xfrm>
          <a:prstGeom prst="rect">
            <a:avLst/>
          </a:prstGeom>
        </p:spPr>
      </p:pic>
    </p:spTree>
    <p:extLst>
      <p:ext uri="{BB962C8B-B14F-4D97-AF65-F5344CB8AC3E}">
        <p14:creationId xmlns:p14="http://schemas.microsoft.com/office/powerpoint/2010/main" val="784487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153" y="209330"/>
            <a:ext cx="10058400" cy="743707"/>
          </a:xfrm>
        </p:spPr>
        <p:txBody>
          <a:bodyPr/>
          <a:lstStyle/>
          <a:p>
            <a:r>
              <a:rPr lang="en-US" b="1" dirty="0"/>
              <a:t>Supervised Learning </a:t>
            </a:r>
          </a:p>
        </p:txBody>
      </p:sp>
      <p:sp>
        <p:nvSpPr>
          <p:cNvPr id="3" name="Content Placeholder 2"/>
          <p:cNvSpPr>
            <a:spLocks noGrp="1"/>
          </p:cNvSpPr>
          <p:nvPr>
            <p:ph idx="1"/>
          </p:nvPr>
        </p:nvSpPr>
        <p:spPr>
          <a:xfrm>
            <a:off x="260153" y="953037"/>
            <a:ext cx="11833109" cy="5293217"/>
          </a:xfrm>
        </p:spPr>
        <p:txBody>
          <a:bodyPr>
            <a:normAutofit/>
          </a:bodyPr>
          <a:lstStyle/>
          <a:p>
            <a:pPr algn="just">
              <a:lnSpc>
                <a:spcPct val="150000"/>
              </a:lnSpc>
              <a:buFont typeface="Arial" panose="020B0604020202020204" pitchFamily="34" charset="0"/>
              <a:buChar char="•"/>
            </a:pPr>
            <a:r>
              <a:rPr lang="en-US" dirty="0"/>
              <a:t>Supervised algorithms use labelled dataset. </a:t>
            </a:r>
            <a:endParaRPr lang="en-US" dirty="0" smtClean="0"/>
          </a:p>
          <a:p>
            <a:pPr algn="just">
              <a:lnSpc>
                <a:spcPct val="150000"/>
              </a:lnSpc>
              <a:buFont typeface="Arial" panose="020B0604020202020204" pitchFamily="34" charset="0"/>
              <a:buChar char="•"/>
            </a:pPr>
            <a:r>
              <a:rPr lang="en-US" dirty="0" smtClean="0"/>
              <a:t>There </a:t>
            </a:r>
            <a:r>
              <a:rPr lang="en-US" dirty="0"/>
              <a:t>is a supervisor or teacher component in supervised learning. </a:t>
            </a:r>
            <a:r>
              <a:rPr lang="en-US" dirty="0" smtClean="0"/>
              <a:t> </a:t>
            </a:r>
          </a:p>
          <a:p>
            <a:pPr algn="just">
              <a:lnSpc>
                <a:spcPct val="150000"/>
              </a:lnSpc>
              <a:buFont typeface="Arial" panose="020B0604020202020204" pitchFamily="34" charset="0"/>
              <a:buChar char="•"/>
            </a:pPr>
            <a:r>
              <a:rPr lang="en-US" dirty="0" smtClean="0"/>
              <a:t>A </a:t>
            </a:r>
            <a:r>
              <a:rPr lang="en-US" dirty="0"/>
              <a:t>supervisor provides labelled data so that the model is constructed and generates test </a:t>
            </a:r>
            <a:r>
              <a:rPr lang="en-US" dirty="0" smtClean="0"/>
              <a:t>data.</a:t>
            </a:r>
          </a:p>
          <a:p>
            <a:pPr algn="just">
              <a:lnSpc>
                <a:spcPct val="150000"/>
              </a:lnSpc>
              <a:buFont typeface="Arial" panose="020B0604020202020204" pitchFamily="34" charset="0"/>
              <a:buChar char="•"/>
            </a:pPr>
            <a:r>
              <a:rPr lang="en-US" dirty="0" smtClean="0"/>
              <a:t>In </a:t>
            </a:r>
            <a:r>
              <a:rPr lang="en-US" dirty="0"/>
              <a:t>supervised learning algorithms, learning takes place in two </a:t>
            </a:r>
            <a:r>
              <a:rPr lang="en-US" dirty="0" smtClean="0"/>
              <a:t>stages.</a:t>
            </a:r>
          </a:p>
          <a:p>
            <a:pPr lvl="1" algn="just">
              <a:lnSpc>
                <a:spcPct val="150000"/>
              </a:lnSpc>
              <a:buFont typeface="Arial" panose="020B0604020202020204" pitchFamily="34" charset="0"/>
              <a:buChar char="•"/>
            </a:pPr>
            <a:r>
              <a:rPr lang="en-US" dirty="0" smtClean="0"/>
              <a:t>First </a:t>
            </a:r>
            <a:r>
              <a:rPr lang="en-US" dirty="0"/>
              <a:t>stage, the teacher communicates the information to the student that the student is supposed to master. The student receives the information and understands it. During this stage, the teacher has no knowledge of whether the information is grasped by the student. </a:t>
            </a:r>
          </a:p>
          <a:p>
            <a:pPr lvl="1" algn="just">
              <a:lnSpc>
                <a:spcPct val="150000"/>
              </a:lnSpc>
              <a:buFont typeface="Arial" panose="020B0604020202020204" pitchFamily="34" charset="0"/>
              <a:buChar char="•"/>
            </a:pPr>
            <a:r>
              <a:rPr lang="en-US" dirty="0" smtClean="0"/>
              <a:t>In </a:t>
            </a:r>
            <a:r>
              <a:rPr lang="en-US" dirty="0"/>
              <a:t>Second stage of learning, the teacher asks the student a set of questions to find out how much information has been grasped by the student. Based on these questions, the student is tested, and the teacher informs the student about his assessment. This kind of learning is typically called supervised learning. </a:t>
            </a:r>
          </a:p>
        </p:txBody>
      </p:sp>
    </p:spTree>
    <p:extLst>
      <p:ext uri="{BB962C8B-B14F-4D97-AF65-F5344CB8AC3E}">
        <p14:creationId xmlns:p14="http://schemas.microsoft.com/office/powerpoint/2010/main" val="144356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912" y="158601"/>
            <a:ext cx="4311846" cy="459585"/>
          </a:xfrm>
        </p:spPr>
        <p:txBody>
          <a:bodyPr/>
          <a:lstStyle/>
          <a:p>
            <a:r>
              <a:rPr lang="en-US" dirty="0"/>
              <a:t>Supervised learning has two methods:</a:t>
            </a:r>
          </a:p>
        </p:txBody>
      </p:sp>
      <p:pic>
        <p:nvPicPr>
          <p:cNvPr id="4" name="Picture 3"/>
          <p:cNvPicPr>
            <a:picLocks noChangeAspect="1"/>
          </p:cNvPicPr>
          <p:nvPr/>
        </p:nvPicPr>
        <p:blipFill>
          <a:blip r:embed="rId2"/>
          <a:stretch>
            <a:fillRect/>
          </a:stretch>
        </p:blipFill>
        <p:spPr>
          <a:xfrm>
            <a:off x="516429" y="892697"/>
            <a:ext cx="3952540" cy="2365658"/>
          </a:xfrm>
          <a:prstGeom prst="rect">
            <a:avLst/>
          </a:prstGeom>
        </p:spPr>
      </p:pic>
      <p:sp>
        <p:nvSpPr>
          <p:cNvPr id="5" name="TextBox 4"/>
          <p:cNvSpPr txBox="1"/>
          <p:nvPr/>
        </p:nvSpPr>
        <p:spPr>
          <a:xfrm>
            <a:off x="4597758" y="257578"/>
            <a:ext cx="7276563" cy="5584606"/>
          </a:xfrm>
          <a:prstGeom prst="rect">
            <a:avLst/>
          </a:prstGeom>
          <a:noFill/>
        </p:spPr>
        <p:txBody>
          <a:bodyPr wrap="square" rtlCol="0">
            <a:spAutoFit/>
          </a:bodyPr>
          <a:lstStyle/>
          <a:p>
            <a:pPr algn="just">
              <a:lnSpc>
                <a:spcPct val="150000"/>
              </a:lnSpc>
            </a:pPr>
            <a:r>
              <a:rPr lang="en-US" sz="2000" dirty="0"/>
              <a:t>Classification : an algorithm that uses a labeled dataset to learn how to assign new, unseen data points to one of several predefined categories or classes. The output variable in classification is a categorical value</a:t>
            </a:r>
            <a:endParaRPr lang="en-US" sz="2000" dirty="0" smtClean="0"/>
          </a:p>
          <a:p>
            <a:pPr marL="285750" indent="-285750" algn="just">
              <a:lnSpc>
                <a:spcPct val="150000"/>
              </a:lnSpc>
              <a:buFont typeface="Arial" panose="020B0604020202020204" pitchFamily="34" charset="0"/>
              <a:buChar char="•"/>
            </a:pPr>
            <a:r>
              <a:rPr lang="en-US" sz="2000" dirty="0"/>
              <a:t>Classification is a supervised learning method</a:t>
            </a:r>
            <a:r>
              <a:rPr lang="en-US" sz="2000" dirty="0" smtClean="0"/>
              <a:t>.</a:t>
            </a:r>
          </a:p>
          <a:p>
            <a:pPr marL="285750" indent="-285750" algn="just">
              <a:lnSpc>
                <a:spcPct val="150000"/>
              </a:lnSpc>
              <a:buFont typeface="Arial" panose="020B0604020202020204" pitchFamily="34" charset="0"/>
              <a:buChar char="•"/>
            </a:pPr>
            <a:r>
              <a:rPr lang="en-US" sz="2000" dirty="0"/>
              <a:t>The input attributes of the classification algorithms are called </a:t>
            </a:r>
            <a:r>
              <a:rPr lang="en-US" sz="2000" b="1" dirty="0"/>
              <a:t>independent variables</a:t>
            </a:r>
            <a:r>
              <a:rPr lang="en-US" sz="2000" dirty="0"/>
              <a:t>. </a:t>
            </a:r>
            <a:endParaRPr lang="en-US" sz="2000" dirty="0" smtClean="0"/>
          </a:p>
          <a:p>
            <a:pPr marL="285750" indent="-285750" algn="just">
              <a:lnSpc>
                <a:spcPct val="150000"/>
              </a:lnSpc>
              <a:buFont typeface="Arial" panose="020B0604020202020204" pitchFamily="34" charset="0"/>
              <a:buChar char="•"/>
            </a:pPr>
            <a:r>
              <a:rPr lang="en-US" sz="2000" dirty="0" smtClean="0"/>
              <a:t>The </a:t>
            </a:r>
            <a:r>
              <a:rPr lang="en-US" sz="2000" dirty="0"/>
              <a:t>target attribute is called label or </a:t>
            </a:r>
            <a:r>
              <a:rPr lang="en-US" sz="2000" b="1" dirty="0"/>
              <a:t>dependent variable. </a:t>
            </a:r>
            <a:endParaRPr lang="en-US" sz="2000" b="1" dirty="0" smtClean="0"/>
          </a:p>
          <a:p>
            <a:pPr marL="285750" indent="-285750" algn="just">
              <a:lnSpc>
                <a:spcPct val="150000"/>
              </a:lnSpc>
              <a:buFont typeface="Arial" panose="020B0604020202020204" pitchFamily="34" charset="0"/>
              <a:buChar char="•"/>
            </a:pPr>
            <a:r>
              <a:rPr lang="en-US" sz="2000" dirty="0" smtClean="0"/>
              <a:t>The </a:t>
            </a:r>
            <a:r>
              <a:rPr lang="en-US" sz="2000" dirty="0"/>
              <a:t>relationship between the input and target variable is represented in the form of a structure which is called a classification model.  </a:t>
            </a:r>
            <a:endParaRPr lang="en-US" sz="2000" dirty="0" smtClean="0"/>
          </a:p>
          <a:p>
            <a:pPr marL="285750" indent="-285750" algn="just">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159943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426" y="154546"/>
            <a:ext cx="6136781" cy="1648496"/>
          </a:xfrm>
        </p:spPr>
        <p:txBody>
          <a:bodyPr>
            <a:normAutofit fontScale="85000" lnSpcReduction="20000"/>
          </a:bodyPr>
          <a:lstStyle/>
          <a:p>
            <a:pPr algn="just">
              <a:lnSpc>
                <a:spcPct val="150000"/>
              </a:lnSpc>
            </a:pPr>
            <a:r>
              <a:rPr lang="en-US" dirty="0"/>
              <a:t>Classification :</a:t>
            </a:r>
          </a:p>
          <a:p>
            <a:pPr algn="just">
              <a:lnSpc>
                <a:spcPct val="150000"/>
              </a:lnSpc>
            </a:pPr>
            <a:r>
              <a:rPr lang="en-US" dirty="0"/>
              <a:t>An example were figure shows a classification algorithm takes a set of labelled data images such as dogs and cats to construct a model that can later be used to classify an unknown test image data.</a:t>
            </a:r>
          </a:p>
        </p:txBody>
      </p:sp>
      <p:pic>
        <p:nvPicPr>
          <p:cNvPr id="4" name="Picture 3"/>
          <p:cNvPicPr>
            <a:picLocks noChangeAspect="1"/>
          </p:cNvPicPr>
          <p:nvPr/>
        </p:nvPicPr>
        <p:blipFill>
          <a:blip r:embed="rId2"/>
          <a:stretch>
            <a:fillRect/>
          </a:stretch>
        </p:blipFill>
        <p:spPr>
          <a:xfrm>
            <a:off x="403538" y="1931831"/>
            <a:ext cx="4593465" cy="3937263"/>
          </a:xfrm>
          <a:prstGeom prst="rect">
            <a:avLst/>
          </a:prstGeom>
        </p:spPr>
      </p:pic>
      <p:sp>
        <p:nvSpPr>
          <p:cNvPr id="5" name="TextBox 4"/>
          <p:cNvSpPr txBox="1"/>
          <p:nvPr/>
        </p:nvSpPr>
        <p:spPr>
          <a:xfrm>
            <a:off x="6304208" y="1222025"/>
            <a:ext cx="5705341" cy="5035353"/>
          </a:xfrm>
          <a:prstGeom prst="rect">
            <a:avLst/>
          </a:prstGeom>
          <a:noFill/>
        </p:spPr>
        <p:txBody>
          <a:bodyPr wrap="square" rtlCol="0">
            <a:spAutoFit/>
          </a:bodyPr>
          <a:lstStyle/>
          <a:p>
            <a:pPr algn="just">
              <a:lnSpc>
                <a:spcPct val="150000"/>
              </a:lnSpc>
            </a:pPr>
            <a:r>
              <a:rPr lang="en-US" b="1" dirty="0"/>
              <a:t>In classification, learning takes place in two stages. </a:t>
            </a:r>
            <a:endParaRPr lang="en-US" b="1" dirty="0" smtClean="0"/>
          </a:p>
          <a:p>
            <a:pPr marL="285750" indent="-285750" algn="just">
              <a:lnSpc>
                <a:spcPct val="150000"/>
              </a:lnSpc>
              <a:buFont typeface="Arial" panose="020B0604020202020204" pitchFamily="34" charset="0"/>
              <a:buChar char="•"/>
            </a:pPr>
            <a:r>
              <a:rPr lang="en-US" dirty="0" smtClean="0"/>
              <a:t>During </a:t>
            </a:r>
            <a:r>
              <a:rPr lang="en-US" dirty="0"/>
              <a:t>the first stage, called training stage, the learning algorithm takes a labelled dataset and starts learning. After the training set, samples are processed and the model is generated. </a:t>
            </a:r>
            <a:endParaRPr lang="en-US" dirty="0" smtClean="0"/>
          </a:p>
          <a:p>
            <a:pPr marL="285750" indent="-285750" algn="just">
              <a:lnSpc>
                <a:spcPct val="150000"/>
              </a:lnSpc>
              <a:buFont typeface="Arial" panose="020B0604020202020204" pitchFamily="34" charset="0"/>
              <a:buChar char="•"/>
            </a:pPr>
            <a:r>
              <a:rPr lang="en-US" dirty="0" smtClean="0"/>
              <a:t>In </a:t>
            </a:r>
            <a:r>
              <a:rPr lang="en-US" dirty="0"/>
              <a:t>the second stage, the constructed model is tested with test or unknown sample and assigned a label. This is the classification process. </a:t>
            </a:r>
            <a:endParaRPr lang="en-US" dirty="0" smtClean="0"/>
          </a:p>
          <a:p>
            <a:pPr marL="285750" indent="-285750" algn="just">
              <a:lnSpc>
                <a:spcPct val="150000"/>
              </a:lnSpc>
              <a:buFont typeface="Arial" panose="020B0604020202020204" pitchFamily="34" charset="0"/>
              <a:buChar char="•"/>
            </a:pPr>
            <a:r>
              <a:rPr lang="en-US" dirty="0"/>
              <a:t>Some of the key algorithms of classification are Decision Tree, Random Forest, Support Vector Machines, Naïve Bayes, Artificial Neural Network and Deep Learning networks like CNN. </a:t>
            </a:r>
          </a:p>
        </p:txBody>
      </p:sp>
    </p:spTree>
    <p:extLst>
      <p:ext uri="{BB962C8B-B14F-4D97-AF65-F5344CB8AC3E}">
        <p14:creationId xmlns:p14="http://schemas.microsoft.com/office/powerpoint/2010/main" val="559804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062" y="144937"/>
            <a:ext cx="10060976" cy="705070"/>
          </a:xfrm>
        </p:spPr>
        <p:txBody>
          <a:bodyPr>
            <a:normAutofit fontScale="90000"/>
          </a:bodyPr>
          <a:lstStyle/>
          <a:p>
            <a:r>
              <a:rPr lang="en-US" b="1" dirty="0"/>
              <a:t>Regression Models </a:t>
            </a:r>
          </a:p>
        </p:txBody>
      </p:sp>
      <p:sp>
        <p:nvSpPr>
          <p:cNvPr id="3" name="Content Placeholder 2"/>
          <p:cNvSpPr>
            <a:spLocks noGrp="1"/>
          </p:cNvSpPr>
          <p:nvPr>
            <p:ph idx="1"/>
          </p:nvPr>
        </p:nvSpPr>
        <p:spPr>
          <a:xfrm>
            <a:off x="311667" y="982850"/>
            <a:ext cx="7724749" cy="4967190"/>
          </a:xfrm>
        </p:spPr>
        <p:txBody>
          <a:bodyPr>
            <a:normAutofit fontScale="85000" lnSpcReduction="10000"/>
          </a:bodyPr>
          <a:lstStyle/>
          <a:p>
            <a:pPr algn="just">
              <a:lnSpc>
                <a:spcPct val="150000"/>
              </a:lnSpc>
              <a:buFont typeface="Wingdings" panose="05000000000000000000" pitchFamily="2" charset="2"/>
              <a:buChar char="§"/>
            </a:pPr>
            <a:r>
              <a:rPr lang="en-US" dirty="0" smtClean="0"/>
              <a:t>A technique </a:t>
            </a:r>
            <a:r>
              <a:rPr lang="en-US" dirty="0"/>
              <a:t>used to predict continuous numerical values (e.g., house prices, temperature, salary) by learning the relationship between input features (independent variables) and a target variable (dependent variable) from labeled training </a:t>
            </a:r>
            <a:r>
              <a:rPr lang="en-US" dirty="0" smtClean="0"/>
              <a:t>data.</a:t>
            </a:r>
          </a:p>
          <a:p>
            <a:pPr algn="just">
              <a:lnSpc>
                <a:spcPct val="150000"/>
              </a:lnSpc>
              <a:buFont typeface="Wingdings" panose="05000000000000000000" pitchFamily="2" charset="2"/>
              <a:buChar char="§"/>
            </a:pPr>
            <a:r>
              <a:rPr lang="en-US" dirty="0" smtClean="0"/>
              <a:t>A </a:t>
            </a:r>
            <a:r>
              <a:rPr lang="en-US" dirty="0"/>
              <a:t>fitted regression model is shown in Figure for a dataset that represent weeks input x and product sales y. </a:t>
            </a:r>
            <a:endParaRPr lang="en-US" dirty="0" smtClean="0"/>
          </a:p>
          <a:p>
            <a:pPr algn="just">
              <a:lnSpc>
                <a:spcPct val="150000"/>
              </a:lnSpc>
              <a:buFont typeface="Wingdings" panose="05000000000000000000" pitchFamily="2" charset="2"/>
              <a:buChar char="§"/>
            </a:pPr>
            <a:r>
              <a:rPr lang="en-US" dirty="0"/>
              <a:t>The regression model takes input x and generates a model in the form of a fitted line of the form y = f(x). </a:t>
            </a:r>
            <a:endParaRPr lang="en-US" dirty="0" smtClean="0"/>
          </a:p>
          <a:p>
            <a:pPr algn="just">
              <a:lnSpc>
                <a:spcPct val="150000"/>
              </a:lnSpc>
              <a:buFont typeface="Wingdings" panose="05000000000000000000" pitchFamily="2" charset="2"/>
              <a:buChar char="§"/>
            </a:pPr>
            <a:r>
              <a:rPr lang="en-US" dirty="0" smtClean="0"/>
              <a:t>Here</a:t>
            </a:r>
            <a:r>
              <a:rPr lang="en-US" dirty="0"/>
              <a:t>, x is the independent variable that may be one or more attributes and y is the dependent variable. </a:t>
            </a:r>
            <a:endParaRPr lang="en-US" dirty="0" smtClean="0"/>
          </a:p>
          <a:p>
            <a:pPr algn="just">
              <a:lnSpc>
                <a:spcPct val="150000"/>
              </a:lnSpc>
              <a:buFont typeface="Wingdings" panose="05000000000000000000" pitchFamily="2" charset="2"/>
              <a:buChar char="§"/>
            </a:pPr>
            <a:r>
              <a:rPr lang="en-US" dirty="0" smtClean="0"/>
              <a:t>The </a:t>
            </a:r>
            <a:r>
              <a:rPr lang="en-US" dirty="0"/>
              <a:t>advantage of this model is that prediction for product sales (y) can be made for unknown week data (x).</a:t>
            </a:r>
          </a:p>
        </p:txBody>
      </p:sp>
      <p:pic>
        <p:nvPicPr>
          <p:cNvPr id="4" name="Picture 3"/>
          <p:cNvPicPr>
            <a:picLocks noChangeAspect="1"/>
          </p:cNvPicPr>
          <p:nvPr/>
        </p:nvPicPr>
        <p:blipFill>
          <a:blip r:embed="rId2"/>
          <a:stretch>
            <a:fillRect/>
          </a:stretch>
        </p:blipFill>
        <p:spPr>
          <a:xfrm>
            <a:off x="8203842" y="144937"/>
            <a:ext cx="3988158" cy="5418736"/>
          </a:xfrm>
          <a:prstGeom prst="rect">
            <a:avLst/>
          </a:prstGeom>
        </p:spPr>
      </p:pic>
    </p:spTree>
    <p:extLst>
      <p:ext uri="{BB962C8B-B14F-4D97-AF65-F5344CB8AC3E}">
        <p14:creationId xmlns:p14="http://schemas.microsoft.com/office/powerpoint/2010/main" val="158890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66443" y="286602"/>
            <a:ext cx="11443484" cy="5959651"/>
          </a:xfrm>
          <a:prstGeom prst="rect">
            <a:avLst/>
          </a:prstGeom>
        </p:spPr>
      </p:pic>
    </p:spTree>
    <p:extLst>
      <p:ext uri="{BB962C8B-B14F-4D97-AF65-F5344CB8AC3E}">
        <p14:creationId xmlns:p14="http://schemas.microsoft.com/office/powerpoint/2010/main" val="352110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7" y="183572"/>
            <a:ext cx="10058400" cy="679313"/>
          </a:xfrm>
        </p:spPr>
        <p:txBody>
          <a:bodyPr>
            <a:normAutofit fontScale="90000"/>
          </a:bodyPr>
          <a:lstStyle/>
          <a:p>
            <a:r>
              <a:rPr lang="en-US" dirty="0"/>
              <a:t>Unsupervised Learning </a:t>
            </a:r>
          </a:p>
        </p:txBody>
      </p:sp>
      <p:sp>
        <p:nvSpPr>
          <p:cNvPr id="3" name="Content Placeholder 2"/>
          <p:cNvSpPr>
            <a:spLocks noGrp="1"/>
          </p:cNvSpPr>
          <p:nvPr>
            <p:ph idx="1"/>
          </p:nvPr>
        </p:nvSpPr>
        <p:spPr>
          <a:xfrm>
            <a:off x="275609" y="1176032"/>
            <a:ext cx="11730077" cy="4065669"/>
          </a:xfrm>
        </p:spPr>
        <p:txBody>
          <a:bodyPr/>
          <a:lstStyle/>
          <a:p>
            <a:pPr algn="just">
              <a:lnSpc>
                <a:spcPct val="150000"/>
              </a:lnSpc>
              <a:buFont typeface="Wingdings" panose="05000000000000000000" pitchFamily="2" charset="2"/>
              <a:buChar char="§"/>
            </a:pPr>
            <a:r>
              <a:rPr lang="en-US" dirty="0"/>
              <a:t>The second kind of learning is by self-instruction. As the name suggests, there are no supervisor or teacher components</a:t>
            </a:r>
            <a:r>
              <a:rPr lang="en-US" dirty="0" smtClean="0"/>
              <a:t>.</a:t>
            </a:r>
          </a:p>
          <a:p>
            <a:pPr algn="just">
              <a:lnSpc>
                <a:spcPct val="150000"/>
              </a:lnSpc>
              <a:buFont typeface="Wingdings" panose="05000000000000000000" pitchFamily="2" charset="2"/>
              <a:buChar char="§"/>
            </a:pPr>
            <a:r>
              <a:rPr lang="en-US" dirty="0"/>
              <a:t>This process of self-instruction is based on the concept of trial and error. Here, the program is supplied with objects, but no labels are defined. </a:t>
            </a:r>
            <a:endParaRPr lang="en-US" dirty="0" smtClean="0"/>
          </a:p>
          <a:p>
            <a:pPr algn="just">
              <a:lnSpc>
                <a:spcPct val="150000"/>
              </a:lnSpc>
              <a:buFont typeface="Wingdings" panose="05000000000000000000" pitchFamily="2" charset="2"/>
              <a:buChar char="§"/>
            </a:pPr>
            <a:r>
              <a:rPr lang="en-US" dirty="0"/>
              <a:t>The algorithm itself observes the examples and recognizes patterns based on the principles of grouping. Grouping is done in ways that similar objects form the same group</a:t>
            </a:r>
            <a:r>
              <a:rPr lang="en-US" dirty="0" smtClean="0"/>
              <a:t>.</a:t>
            </a:r>
          </a:p>
          <a:p>
            <a:pPr algn="just">
              <a:lnSpc>
                <a:spcPct val="150000"/>
              </a:lnSpc>
              <a:buFont typeface="Wingdings" panose="05000000000000000000" pitchFamily="2" charset="2"/>
              <a:buChar char="§"/>
            </a:pPr>
            <a:r>
              <a:rPr lang="en-US" dirty="0" smtClean="0"/>
              <a:t> </a:t>
            </a:r>
            <a:r>
              <a:rPr lang="en-US" b="1" dirty="0"/>
              <a:t>Cluster analysis </a:t>
            </a:r>
            <a:r>
              <a:rPr lang="en-US" dirty="0"/>
              <a:t>and </a:t>
            </a:r>
            <a:r>
              <a:rPr lang="en-US" b="1" dirty="0"/>
              <a:t>Dimensional reduction </a:t>
            </a:r>
            <a:r>
              <a:rPr lang="en-US" dirty="0"/>
              <a:t>algorithms are examples of unsupervised algorithms. </a:t>
            </a:r>
          </a:p>
        </p:txBody>
      </p:sp>
    </p:spTree>
    <p:extLst>
      <p:ext uri="{BB962C8B-B14F-4D97-AF65-F5344CB8AC3E}">
        <p14:creationId xmlns:p14="http://schemas.microsoft.com/office/powerpoint/2010/main" val="3310795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608" y="309093"/>
            <a:ext cx="6220496" cy="5560001"/>
          </a:xfrm>
        </p:spPr>
        <p:txBody>
          <a:bodyPr>
            <a:normAutofit fontScale="92500" lnSpcReduction="10000"/>
          </a:bodyPr>
          <a:lstStyle/>
          <a:p>
            <a:pPr algn="just">
              <a:lnSpc>
                <a:spcPct val="150000"/>
              </a:lnSpc>
            </a:pPr>
            <a:r>
              <a:rPr lang="en-US" sz="2600" b="1" dirty="0"/>
              <a:t>Cluster Analysis </a:t>
            </a:r>
            <a:endParaRPr lang="en-US" sz="2600" b="1" dirty="0" smtClean="0"/>
          </a:p>
          <a:p>
            <a:pPr algn="just">
              <a:lnSpc>
                <a:spcPct val="150000"/>
              </a:lnSpc>
              <a:buFont typeface="Arial" panose="020B0604020202020204" pitchFamily="34" charset="0"/>
              <a:buChar char="•"/>
            </a:pPr>
            <a:r>
              <a:rPr lang="en-US" dirty="0" smtClean="0"/>
              <a:t>Cluster </a:t>
            </a:r>
            <a:r>
              <a:rPr lang="en-US" dirty="0"/>
              <a:t>analysis aims to group objects into disjoint clusters or groups. </a:t>
            </a:r>
            <a:endParaRPr lang="en-US" dirty="0" smtClean="0"/>
          </a:p>
          <a:p>
            <a:pPr algn="just">
              <a:lnSpc>
                <a:spcPct val="150000"/>
              </a:lnSpc>
              <a:buFont typeface="Arial" panose="020B0604020202020204" pitchFamily="34" charset="0"/>
              <a:buChar char="•"/>
            </a:pPr>
            <a:r>
              <a:rPr lang="en-US" dirty="0" smtClean="0"/>
              <a:t>Cluster </a:t>
            </a:r>
            <a:r>
              <a:rPr lang="en-US" dirty="0"/>
              <a:t>analysis clusters objects based on its attributes. </a:t>
            </a:r>
            <a:endParaRPr lang="en-US" dirty="0" smtClean="0"/>
          </a:p>
          <a:p>
            <a:pPr algn="just">
              <a:lnSpc>
                <a:spcPct val="150000"/>
              </a:lnSpc>
              <a:buFont typeface="Arial" panose="020B0604020202020204" pitchFamily="34" charset="0"/>
              <a:buChar char="•"/>
            </a:pPr>
            <a:r>
              <a:rPr lang="en-US" dirty="0" smtClean="0"/>
              <a:t>All </a:t>
            </a:r>
            <a:r>
              <a:rPr lang="en-US" dirty="0"/>
              <a:t>the data objects of the partitions are similar in some aspect and vary from the data objects in the other partitions significantly. </a:t>
            </a:r>
            <a:endParaRPr lang="en-US" dirty="0" smtClean="0"/>
          </a:p>
          <a:p>
            <a:pPr algn="just">
              <a:lnSpc>
                <a:spcPct val="150000"/>
              </a:lnSpc>
              <a:buFont typeface="Arial" panose="020B0604020202020204" pitchFamily="34" charset="0"/>
              <a:buChar char="•"/>
            </a:pPr>
            <a:r>
              <a:rPr lang="en-US" dirty="0"/>
              <a:t>Example: The clustering algorithm takes a set of dogs and cats images and groups it as two clusters-dogs and cats. It can be observed that the samples belonging to a cluster are similar and samples are different radically across clusters. </a:t>
            </a:r>
          </a:p>
        </p:txBody>
      </p:sp>
      <p:pic>
        <p:nvPicPr>
          <p:cNvPr id="4" name="Picture 3"/>
          <p:cNvPicPr>
            <a:picLocks noChangeAspect="1"/>
          </p:cNvPicPr>
          <p:nvPr/>
        </p:nvPicPr>
        <p:blipFill>
          <a:blip r:embed="rId2"/>
          <a:stretch>
            <a:fillRect/>
          </a:stretch>
        </p:blipFill>
        <p:spPr>
          <a:xfrm>
            <a:off x="6864439" y="486311"/>
            <a:ext cx="5100034" cy="5515243"/>
          </a:xfrm>
          <a:prstGeom prst="rect">
            <a:avLst/>
          </a:prstGeom>
        </p:spPr>
      </p:pic>
    </p:spTree>
    <p:extLst>
      <p:ext uri="{BB962C8B-B14F-4D97-AF65-F5344CB8AC3E}">
        <p14:creationId xmlns:p14="http://schemas.microsoft.com/office/powerpoint/2010/main" val="1829060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7731" y="2112136"/>
            <a:ext cx="11590984" cy="3258354"/>
          </a:xfrm>
        </p:spPr>
        <p:txBody>
          <a:bodyPr>
            <a:noAutofit/>
          </a:bodyPr>
          <a:lstStyle/>
          <a:p>
            <a:pPr algn="just">
              <a:lnSpc>
                <a:spcPct val="150000"/>
              </a:lnSpc>
            </a:pPr>
            <a:r>
              <a:rPr lang="en-US" sz="2400" b="1" dirty="0"/>
              <a:t>Dimensionality Reduction </a:t>
            </a:r>
            <a:endParaRPr lang="en-US" sz="2400" b="1" dirty="0" smtClean="0"/>
          </a:p>
          <a:p>
            <a:pPr algn="just">
              <a:lnSpc>
                <a:spcPct val="150000"/>
              </a:lnSpc>
              <a:buFont typeface="Wingdings" panose="05000000000000000000" pitchFamily="2" charset="2"/>
              <a:buChar char="§"/>
            </a:pPr>
            <a:r>
              <a:rPr lang="en-US" sz="2400" dirty="0" smtClean="0"/>
              <a:t>Dimensionality </a:t>
            </a:r>
            <a:r>
              <a:rPr lang="en-US" sz="2400" dirty="0"/>
              <a:t>reduction algorithms are examples of unsupervised algorithms</a:t>
            </a:r>
            <a:r>
              <a:rPr lang="en-US" sz="2400" dirty="0" smtClean="0"/>
              <a:t>.</a:t>
            </a:r>
          </a:p>
          <a:p>
            <a:pPr algn="just">
              <a:lnSpc>
                <a:spcPct val="150000"/>
              </a:lnSpc>
              <a:buFont typeface="Wingdings" panose="05000000000000000000" pitchFamily="2" charset="2"/>
              <a:buChar char="§"/>
            </a:pPr>
            <a:r>
              <a:rPr lang="en-US" sz="2400" dirty="0"/>
              <a:t>It takes a higher dimension data as input and outputs the data in lower dimension by taking advantage of the variance of the data. </a:t>
            </a:r>
            <a:endParaRPr lang="en-US" sz="2400" dirty="0" smtClean="0"/>
          </a:p>
          <a:p>
            <a:pPr algn="just">
              <a:lnSpc>
                <a:spcPct val="150000"/>
              </a:lnSpc>
              <a:buFont typeface="Wingdings" panose="05000000000000000000" pitchFamily="2" charset="2"/>
              <a:buChar char="§"/>
            </a:pPr>
            <a:r>
              <a:rPr lang="en-US" sz="2400" dirty="0" smtClean="0"/>
              <a:t>It </a:t>
            </a:r>
            <a:r>
              <a:rPr lang="en-US" sz="2400" dirty="0"/>
              <a:t>is a task of reducing the dataset with few features without losing the generality.</a:t>
            </a:r>
          </a:p>
        </p:txBody>
      </p:sp>
    </p:spTree>
    <p:extLst>
      <p:ext uri="{BB962C8B-B14F-4D97-AF65-F5344CB8AC3E}">
        <p14:creationId xmlns:p14="http://schemas.microsoft.com/office/powerpoint/2010/main" val="567568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094" y="260846"/>
            <a:ext cx="10058400" cy="820979"/>
          </a:xfrm>
        </p:spPr>
        <p:txBody>
          <a:bodyPr/>
          <a:lstStyle/>
          <a:p>
            <a:r>
              <a:rPr lang="en-US" dirty="0"/>
              <a:t>Semi-supervised Learning</a:t>
            </a:r>
          </a:p>
        </p:txBody>
      </p:sp>
      <p:sp>
        <p:nvSpPr>
          <p:cNvPr id="3" name="Content Placeholder 2"/>
          <p:cNvSpPr>
            <a:spLocks noGrp="1"/>
          </p:cNvSpPr>
          <p:nvPr>
            <p:ph idx="1"/>
          </p:nvPr>
        </p:nvSpPr>
        <p:spPr>
          <a:xfrm>
            <a:off x="607883" y="1214670"/>
            <a:ext cx="11150528" cy="4023360"/>
          </a:xfrm>
        </p:spPr>
        <p:txBody>
          <a:bodyPr>
            <a:normAutofit/>
          </a:bodyPr>
          <a:lstStyle/>
          <a:p>
            <a:pPr algn="just">
              <a:lnSpc>
                <a:spcPct val="150000"/>
              </a:lnSpc>
              <a:buFont typeface="Wingdings" panose="05000000000000000000" pitchFamily="2" charset="2"/>
              <a:buChar char="§"/>
            </a:pPr>
            <a:r>
              <a:rPr lang="en-US" sz="2400" dirty="0" smtClean="0"/>
              <a:t>There </a:t>
            </a:r>
            <a:r>
              <a:rPr lang="en-US" sz="2400" dirty="0"/>
              <a:t>are circumstances where the dataset has a huge collection of </a:t>
            </a:r>
            <a:r>
              <a:rPr lang="en-US" sz="2400" dirty="0" err="1"/>
              <a:t>unlabelled</a:t>
            </a:r>
            <a:r>
              <a:rPr lang="en-US" sz="2400" dirty="0"/>
              <a:t> data and some labelled </a:t>
            </a:r>
            <a:r>
              <a:rPr lang="en-US" sz="2400" dirty="0" smtClean="0"/>
              <a:t>data.</a:t>
            </a:r>
          </a:p>
          <a:p>
            <a:pPr algn="just">
              <a:lnSpc>
                <a:spcPct val="150000"/>
              </a:lnSpc>
              <a:buFont typeface="Wingdings" panose="05000000000000000000" pitchFamily="2" charset="2"/>
              <a:buChar char="§"/>
            </a:pPr>
            <a:r>
              <a:rPr lang="en-US" sz="2400" dirty="0" smtClean="0"/>
              <a:t>Labelling </a:t>
            </a:r>
            <a:r>
              <a:rPr lang="en-US" sz="2400" dirty="0"/>
              <a:t>is a costly process and difficult to perform by the </a:t>
            </a:r>
            <a:r>
              <a:rPr lang="en-US" sz="2400" dirty="0" smtClean="0"/>
              <a:t>humans.</a:t>
            </a:r>
          </a:p>
          <a:p>
            <a:pPr algn="just">
              <a:lnSpc>
                <a:spcPct val="150000"/>
              </a:lnSpc>
              <a:buFont typeface="Wingdings" panose="05000000000000000000" pitchFamily="2" charset="2"/>
              <a:buChar char="§"/>
            </a:pPr>
            <a:r>
              <a:rPr lang="en-US" sz="2400" dirty="0" smtClean="0"/>
              <a:t>Semi-supervised </a:t>
            </a:r>
            <a:r>
              <a:rPr lang="en-US" sz="2400" dirty="0"/>
              <a:t>algorithms use </a:t>
            </a:r>
            <a:r>
              <a:rPr lang="en-US" sz="2400" dirty="0" err="1"/>
              <a:t>unlabelled</a:t>
            </a:r>
            <a:r>
              <a:rPr lang="en-US" sz="2400" dirty="0"/>
              <a:t> data by assigning a pseudo-label. </a:t>
            </a:r>
            <a:endParaRPr lang="en-US" sz="2400" dirty="0" smtClean="0"/>
          </a:p>
          <a:p>
            <a:pPr algn="just">
              <a:lnSpc>
                <a:spcPct val="150000"/>
              </a:lnSpc>
              <a:buFont typeface="Wingdings" panose="05000000000000000000" pitchFamily="2" charset="2"/>
              <a:buChar char="§"/>
            </a:pPr>
            <a:r>
              <a:rPr lang="en-US" sz="2400" dirty="0" smtClean="0"/>
              <a:t>Then</a:t>
            </a:r>
            <a:r>
              <a:rPr lang="en-US" sz="2400" dirty="0"/>
              <a:t>, the labelled and pseudo-labelled dataset can be combined.</a:t>
            </a:r>
          </a:p>
        </p:txBody>
      </p:sp>
    </p:spTree>
    <p:extLst>
      <p:ext uri="{BB962C8B-B14F-4D97-AF65-F5344CB8AC3E}">
        <p14:creationId xmlns:p14="http://schemas.microsoft.com/office/powerpoint/2010/main" val="3653292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821" y="273725"/>
            <a:ext cx="10058400" cy="730828"/>
          </a:xfrm>
        </p:spPr>
        <p:txBody>
          <a:bodyPr/>
          <a:lstStyle/>
          <a:p>
            <a:r>
              <a:rPr lang="en-US" dirty="0"/>
              <a:t>Reinforcement Learning</a:t>
            </a:r>
          </a:p>
        </p:txBody>
      </p:sp>
      <p:sp>
        <p:nvSpPr>
          <p:cNvPr id="3" name="Content Placeholder 2"/>
          <p:cNvSpPr>
            <a:spLocks noGrp="1"/>
          </p:cNvSpPr>
          <p:nvPr>
            <p:ph idx="1"/>
          </p:nvPr>
        </p:nvSpPr>
        <p:spPr>
          <a:xfrm>
            <a:off x="401821" y="1004553"/>
            <a:ext cx="11420984" cy="5254579"/>
          </a:xfrm>
        </p:spPr>
        <p:txBody>
          <a:bodyPr/>
          <a:lstStyle/>
          <a:p>
            <a:pPr algn="just">
              <a:lnSpc>
                <a:spcPct val="150000"/>
              </a:lnSpc>
              <a:buFont typeface="Wingdings" panose="05000000000000000000" pitchFamily="2" charset="2"/>
              <a:buChar char="§"/>
            </a:pPr>
            <a:r>
              <a:rPr lang="en-US" dirty="0"/>
              <a:t>Reinforcement learning mimics human beings. </a:t>
            </a:r>
            <a:endParaRPr lang="en-US" dirty="0" smtClean="0"/>
          </a:p>
          <a:p>
            <a:pPr algn="just">
              <a:lnSpc>
                <a:spcPct val="150000"/>
              </a:lnSpc>
              <a:buFont typeface="Wingdings" panose="05000000000000000000" pitchFamily="2" charset="2"/>
              <a:buChar char="§"/>
            </a:pPr>
            <a:r>
              <a:rPr lang="en-US" dirty="0" smtClean="0"/>
              <a:t>Like </a:t>
            </a:r>
            <a:r>
              <a:rPr lang="en-US" dirty="0"/>
              <a:t>human beings use ears and eyes to perceive the world and take actions, reinforcement learning allows the agent to interact with the environment to get </a:t>
            </a:r>
            <a:r>
              <a:rPr lang="en-US" dirty="0" smtClean="0"/>
              <a:t>rewards.</a:t>
            </a:r>
          </a:p>
          <a:p>
            <a:pPr algn="just">
              <a:lnSpc>
                <a:spcPct val="150000"/>
              </a:lnSpc>
              <a:buFont typeface="Wingdings" panose="05000000000000000000" pitchFamily="2" charset="2"/>
              <a:buChar char="§"/>
            </a:pPr>
            <a:r>
              <a:rPr lang="en-US" dirty="0" smtClean="0"/>
              <a:t>The </a:t>
            </a:r>
            <a:r>
              <a:rPr lang="en-US" dirty="0"/>
              <a:t>agent can be human, animal, robot, or any independent program. </a:t>
            </a:r>
          </a:p>
          <a:p>
            <a:pPr algn="just">
              <a:lnSpc>
                <a:spcPct val="150000"/>
              </a:lnSpc>
              <a:buFont typeface="Wingdings" panose="05000000000000000000" pitchFamily="2" charset="2"/>
              <a:buChar char="§"/>
            </a:pPr>
            <a:r>
              <a:rPr lang="en-US" dirty="0" smtClean="0"/>
              <a:t>The </a:t>
            </a:r>
            <a:r>
              <a:rPr lang="en-US" dirty="0"/>
              <a:t>rewards enable the agent to gain experience. </a:t>
            </a:r>
            <a:endParaRPr lang="en-US" dirty="0" smtClean="0"/>
          </a:p>
          <a:p>
            <a:pPr algn="just">
              <a:lnSpc>
                <a:spcPct val="150000"/>
              </a:lnSpc>
              <a:buFont typeface="Wingdings" panose="05000000000000000000" pitchFamily="2" charset="2"/>
              <a:buChar char="§"/>
            </a:pPr>
            <a:r>
              <a:rPr lang="en-US" dirty="0" smtClean="0"/>
              <a:t>The </a:t>
            </a:r>
            <a:r>
              <a:rPr lang="en-US" dirty="0"/>
              <a:t>agent aims to maximize the </a:t>
            </a:r>
            <a:r>
              <a:rPr lang="en-US" dirty="0" smtClean="0"/>
              <a:t>reward.</a:t>
            </a:r>
          </a:p>
          <a:p>
            <a:pPr algn="just">
              <a:lnSpc>
                <a:spcPct val="150000"/>
              </a:lnSpc>
              <a:buFont typeface="Wingdings" panose="05000000000000000000" pitchFamily="2" charset="2"/>
              <a:buChar char="§"/>
            </a:pPr>
            <a:r>
              <a:rPr lang="en-US" dirty="0" smtClean="0"/>
              <a:t>The </a:t>
            </a:r>
            <a:r>
              <a:rPr lang="en-US" dirty="0"/>
              <a:t>reward can be positive or negative (Punishment). </a:t>
            </a:r>
            <a:endParaRPr lang="en-US" dirty="0" smtClean="0"/>
          </a:p>
          <a:p>
            <a:pPr algn="just">
              <a:lnSpc>
                <a:spcPct val="150000"/>
              </a:lnSpc>
              <a:buFont typeface="Wingdings" panose="05000000000000000000" pitchFamily="2" charset="2"/>
              <a:buChar char="§"/>
            </a:pPr>
            <a:r>
              <a:rPr lang="en-US" dirty="0" smtClean="0"/>
              <a:t>When </a:t>
            </a:r>
            <a:r>
              <a:rPr lang="en-US" dirty="0"/>
              <a:t>the rewards are more, the behavior gets reinforced and learning becomes possible.</a:t>
            </a:r>
          </a:p>
        </p:txBody>
      </p:sp>
    </p:spTree>
    <p:extLst>
      <p:ext uri="{BB962C8B-B14F-4D97-AF65-F5344CB8AC3E}">
        <p14:creationId xmlns:p14="http://schemas.microsoft.com/office/powerpoint/2010/main" val="4033364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23120" y="287919"/>
            <a:ext cx="11122412" cy="5739394"/>
          </a:xfrm>
          <a:prstGeom prst="rect">
            <a:avLst/>
          </a:prstGeom>
        </p:spPr>
      </p:pic>
      <p:sp>
        <p:nvSpPr>
          <p:cNvPr id="4" name="AutoShape 2" descr="ML types and algorithms.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72603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336" y="2334344"/>
            <a:ext cx="11423560" cy="1450757"/>
          </a:xfrm>
        </p:spPr>
        <p:txBody>
          <a:bodyPr/>
          <a:lstStyle/>
          <a:p>
            <a:r>
              <a:rPr lang="en-US" dirty="0"/>
              <a:t>Difference between Supervised and unsupervised Learning </a:t>
            </a:r>
          </a:p>
        </p:txBody>
      </p:sp>
    </p:spTree>
    <p:extLst>
      <p:ext uri="{BB962C8B-B14F-4D97-AF65-F5344CB8AC3E}">
        <p14:creationId xmlns:p14="http://schemas.microsoft.com/office/powerpoint/2010/main" val="126652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730828"/>
          </a:xfrm>
        </p:spPr>
        <p:txBody>
          <a:bodyPr/>
          <a:lstStyle/>
          <a:p>
            <a:r>
              <a:rPr lang="en-US" dirty="0"/>
              <a:t>CHALLENGES OF MACHINE LEARNING </a:t>
            </a:r>
          </a:p>
        </p:txBody>
      </p:sp>
      <p:sp>
        <p:nvSpPr>
          <p:cNvPr id="3" name="Content Placeholder 2"/>
          <p:cNvSpPr>
            <a:spLocks noGrp="1"/>
          </p:cNvSpPr>
          <p:nvPr>
            <p:ph idx="1"/>
          </p:nvPr>
        </p:nvSpPr>
        <p:spPr>
          <a:xfrm>
            <a:off x="489397" y="1184856"/>
            <a:ext cx="7405916" cy="4684238"/>
          </a:xfrm>
        </p:spPr>
        <p:txBody>
          <a:bodyPr>
            <a:normAutofit fontScale="92500" lnSpcReduction="20000"/>
          </a:bodyPr>
          <a:lstStyle/>
          <a:p>
            <a:pPr algn="just">
              <a:lnSpc>
                <a:spcPct val="150000"/>
              </a:lnSpc>
              <a:buFont typeface="Wingdings" panose="05000000000000000000" pitchFamily="2" charset="2"/>
              <a:buChar char="§"/>
            </a:pPr>
            <a:r>
              <a:rPr lang="en-US" dirty="0" smtClean="0"/>
              <a:t> Computers </a:t>
            </a:r>
            <a:r>
              <a:rPr lang="en-US" dirty="0"/>
              <a:t>are better than humans in performing tasks like computation. For example, while calculating the square root of large numbers, an average human may blink but computers can display the result in seconds. </a:t>
            </a:r>
            <a:endParaRPr lang="en-US" dirty="0" smtClean="0"/>
          </a:p>
          <a:p>
            <a:pPr algn="just">
              <a:lnSpc>
                <a:spcPct val="150000"/>
              </a:lnSpc>
              <a:buFont typeface="Wingdings" panose="05000000000000000000" pitchFamily="2" charset="2"/>
              <a:buChar char="§"/>
            </a:pPr>
            <a:r>
              <a:rPr lang="en-US" dirty="0"/>
              <a:t>Still, there are tasks where humans are better as machine learning systems still require quality data for model construction. The quality of a learning system depends on the quality of data. This is a challenge. </a:t>
            </a:r>
            <a:endParaRPr lang="en-US" dirty="0" smtClean="0"/>
          </a:p>
          <a:p>
            <a:pPr marL="457200" indent="-457200" algn="just">
              <a:lnSpc>
                <a:spcPct val="150000"/>
              </a:lnSpc>
              <a:buAutoNum type="arabicPeriod"/>
            </a:pPr>
            <a:r>
              <a:rPr lang="en-US" dirty="0" smtClean="0"/>
              <a:t>Problems </a:t>
            </a:r>
            <a:r>
              <a:rPr lang="en-US" dirty="0"/>
              <a:t>– Machine learning can deal with the ‗well-posed‘ problems where specifications are complete and available. Computers cannot solve ‗ill-posed‘ problems. </a:t>
            </a:r>
            <a:endParaRPr lang="en-US" dirty="0" smtClean="0"/>
          </a:p>
          <a:p>
            <a:pPr marL="0" indent="0" algn="just">
              <a:lnSpc>
                <a:spcPct val="150000"/>
              </a:lnSpc>
              <a:buNone/>
            </a:pPr>
            <a:r>
              <a:rPr lang="en-US" dirty="0"/>
              <a:t>Consider one simple </a:t>
            </a:r>
            <a:r>
              <a:rPr lang="en-US" dirty="0" smtClean="0"/>
              <a:t>example:</a:t>
            </a:r>
          </a:p>
          <a:p>
            <a:pPr marL="457200" indent="-457200" algn="just">
              <a:lnSpc>
                <a:spcPct val="150000"/>
              </a:lnSpc>
              <a:buAutoNum type="arabicPeriod"/>
            </a:pPr>
            <a:endParaRPr lang="en-US" dirty="0"/>
          </a:p>
        </p:txBody>
      </p:sp>
      <p:pic>
        <p:nvPicPr>
          <p:cNvPr id="4" name="Picture 3"/>
          <p:cNvPicPr>
            <a:picLocks noChangeAspect="1"/>
          </p:cNvPicPr>
          <p:nvPr/>
        </p:nvPicPr>
        <p:blipFill>
          <a:blip r:embed="rId2"/>
          <a:stretch>
            <a:fillRect/>
          </a:stretch>
        </p:blipFill>
        <p:spPr>
          <a:xfrm>
            <a:off x="8127133" y="1017432"/>
            <a:ext cx="3726020" cy="5125791"/>
          </a:xfrm>
          <a:prstGeom prst="rect">
            <a:avLst/>
          </a:prstGeom>
        </p:spPr>
      </p:pic>
    </p:spTree>
    <p:extLst>
      <p:ext uri="{BB962C8B-B14F-4D97-AF65-F5344CB8AC3E}">
        <p14:creationId xmlns:p14="http://schemas.microsoft.com/office/powerpoint/2010/main" val="3111794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697" y="386366"/>
            <a:ext cx="11694017" cy="5795493"/>
          </a:xfrm>
        </p:spPr>
        <p:txBody>
          <a:bodyPr>
            <a:normAutofit fontScale="92500" lnSpcReduction="10000"/>
          </a:bodyPr>
          <a:lstStyle/>
          <a:p>
            <a:pPr algn="just">
              <a:lnSpc>
                <a:spcPct val="150000"/>
              </a:lnSpc>
            </a:pPr>
            <a:r>
              <a:rPr lang="en-US" dirty="0" smtClean="0"/>
              <a:t>2. Huge </a:t>
            </a:r>
            <a:r>
              <a:rPr lang="en-US" dirty="0"/>
              <a:t>data – This is a primary requirement of machine learning. Availability of a quality data is a challenge. A quality data means it should be large and should not have data problems such as missing data or incorrect data</a:t>
            </a:r>
            <a:r>
              <a:rPr lang="en-US" dirty="0" smtClean="0"/>
              <a:t>.</a:t>
            </a:r>
          </a:p>
          <a:p>
            <a:pPr algn="just">
              <a:lnSpc>
                <a:spcPct val="150000"/>
              </a:lnSpc>
            </a:pPr>
            <a:r>
              <a:rPr lang="en-US" dirty="0" smtClean="0"/>
              <a:t>3. High </a:t>
            </a:r>
            <a:r>
              <a:rPr lang="en-US" dirty="0"/>
              <a:t>computation power – With the availability of Big Data, the computational resource requirement has also increased. Systems with Graphics Processing Unit (GPU) or even Tensor Processing Unit (TPU) are required to execute machine learning algorithms. Also, machine learning tasks have become complex and hence time complexity has increased, and that can be solved only with high computing power. </a:t>
            </a:r>
            <a:endParaRPr lang="en-US" dirty="0" smtClean="0"/>
          </a:p>
          <a:p>
            <a:pPr algn="just">
              <a:lnSpc>
                <a:spcPct val="150000"/>
              </a:lnSpc>
            </a:pPr>
            <a:r>
              <a:rPr lang="en-US" dirty="0" smtClean="0"/>
              <a:t>4</a:t>
            </a:r>
            <a:r>
              <a:rPr lang="en-US" dirty="0"/>
              <a:t>. Complexity of the algorithms – The selection of algorithms, describing the algorithms, application of algorithms to solve machine learning task, and comparison of algorithms have become necessary for machine learning or data scientists now. </a:t>
            </a:r>
            <a:endParaRPr lang="en-US" dirty="0" smtClean="0"/>
          </a:p>
          <a:p>
            <a:pPr algn="just">
              <a:lnSpc>
                <a:spcPct val="150000"/>
              </a:lnSpc>
            </a:pPr>
            <a:r>
              <a:rPr lang="en-US" dirty="0" smtClean="0"/>
              <a:t>5</a:t>
            </a:r>
            <a:r>
              <a:rPr lang="en-US" dirty="0"/>
              <a:t>. Bias/Variance – Variance is the error of the model. This leads to a problem called bias/ variance tradeoff. A model that fits the training data correctly but fails for test data, in general lacks </a:t>
            </a:r>
            <a:r>
              <a:rPr lang="en-US" dirty="0" smtClean="0"/>
              <a:t>generalization</a:t>
            </a:r>
            <a:r>
              <a:rPr lang="en-US" dirty="0"/>
              <a:t>, is called </a:t>
            </a:r>
            <a:r>
              <a:rPr lang="en-US" dirty="0" err="1"/>
              <a:t>overfitting</a:t>
            </a:r>
            <a:r>
              <a:rPr lang="en-US" dirty="0"/>
              <a:t>. The reverse problem is called </a:t>
            </a:r>
            <a:r>
              <a:rPr lang="en-US" dirty="0" err="1"/>
              <a:t>underfitting</a:t>
            </a:r>
            <a:r>
              <a:rPr lang="en-US" dirty="0"/>
              <a:t> where the model fails for training data but has good generalization. </a:t>
            </a:r>
          </a:p>
        </p:txBody>
      </p:sp>
    </p:spTree>
    <p:extLst>
      <p:ext uri="{BB962C8B-B14F-4D97-AF65-F5344CB8AC3E}">
        <p14:creationId xmlns:p14="http://schemas.microsoft.com/office/powerpoint/2010/main" val="866547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426" y="244699"/>
            <a:ext cx="5934585" cy="1287887"/>
          </a:xfrm>
        </p:spPr>
        <p:txBody>
          <a:bodyPr>
            <a:normAutofit fontScale="90000"/>
          </a:bodyPr>
          <a:lstStyle/>
          <a:p>
            <a:r>
              <a:rPr lang="en-US" dirty="0"/>
              <a:t>MACHINE LEARNING PROCESS</a:t>
            </a:r>
          </a:p>
        </p:txBody>
      </p:sp>
      <p:pic>
        <p:nvPicPr>
          <p:cNvPr id="4" name="Content Placeholder 3"/>
          <p:cNvPicPr>
            <a:picLocks noGrp="1" noChangeAspect="1"/>
          </p:cNvPicPr>
          <p:nvPr>
            <p:ph idx="1"/>
          </p:nvPr>
        </p:nvPicPr>
        <p:blipFill>
          <a:blip r:embed="rId2"/>
          <a:stretch>
            <a:fillRect/>
          </a:stretch>
        </p:blipFill>
        <p:spPr>
          <a:xfrm>
            <a:off x="5265980" y="365193"/>
            <a:ext cx="6028791" cy="5739393"/>
          </a:xfrm>
          <a:prstGeom prst="rect">
            <a:avLst/>
          </a:prstGeom>
        </p:spPr>
      </p:pic>
    </p:spTree>
    <p:extLst>
      <p:ext uri="{BB962C8B-B14F-4D97-AF65-F5344CB8AC3E}">
        <p14:creationId xmlns:p14="http://schemas.microsoft.com/office/powerpoint/2010/main" val="1182816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3335" y="231820"/>
            <a:ext cx="11565228" cy="5637274"/>
          </a:xfrm>
        </p:spPr>
        <p:txBody>
          <a:bodyPr/>
          <a:lstStyle/>
          <a:p>
            <a:pPr algn="just">
              <a:lnSpc>
                <a:spcPct val="150000"/>
              </a:lnSpc>
            </a:pPr>
            <a:r>
              <a:rPr lang="en-US" dirty="0" smtClean="0"/>
              <a:t>1. </a:t>
            </a:r>
            <a:r>
              <a:rPr lang="en-US" b="1" dirty="0" smtClean="0"/>
              <a:t>Understanding </a:t>
            </a:r>
            <a:r>
              <a:rPr lang="en-US" b="1" dirty="0"/>
              <a:t>the business </a:t>
            </a:r>
            <a:r>
              <a:rPr lang="en-US" dirty="0"/>
              <a:t>– This step involves understanding the objectives and requirements of the business organization. Generally, a single data mining algorithm is enough for giving the solution. This step also involves the formulation of the problem statement for the data mining process. </a:t>
            </a:r>
            <a:endParaRPr lang="en-US" dirty="0" smtClean="0"/>
          </a:p>
          <a:p>
            <a:pPr algn="just">
              <a:lnSpc>
                <a:spcPct val="150000"/>
              </a:lnSpc>
            </a:pPr>
            <a:r>
              <a:rPr lang="en-US" dirty="0" smtClean="0"/>
              <a:t>2</a:t>
            </a:r>
            <a:r>
              <a:rPr lang="en-US" dirty="0"/>
              <a:t>. </a:t>
            </a:r>
            <a:r>
              <a:rPr lang="en-US" b="1" dirty="0"/>
              <a:t>Understanding the data </a:t>
            </a:r>
            <a:r>
              <a:rPr lang="en-US" dirty="0"/>
              <a:t>– It involves the steps like data collection, study of the characteristics of the data, formulation of hypothesis, and matching of patterns to the selected hypothesis. </a:t>
            </a:r>
            <a:endParaRPr lang="en-US" dirty="0" smtClean="0"/>
          </a:p>
          <a:p>
            <a:pPr algn="just">
              <a:lnSpc>
                <a:spcPct val="150000"/>
              </a:lnSpc>
            </a:pPr>
            <a:r>
              <a:rPr lang="en-US" dirty="0" smtClean="0"/>
              <a:t>3</a:t>
            </a:r>
            <a:r>
              <a:rPr lang="en-US" dirty="0"/>
              <a:t>. </a:t>
            </a:r>
            <a:r>
              <a:rPr lang="en-US" b="1" dirty="0"/>
              <a:t>Preparation of data </a:t>
            </a:r>
            <a:r>
              <a:rPr lang="en-US" dirty="0"/>
              <a:t>– This step involves producing the final dataset by cleaning the raw data and preparation of data for the data mining process. The missing values may cause problems during both training and testing phases. Missing data forces classifiers to produce inaccurate results. </a:t>
            </a:r>
            <a:endParaRPr lang="en-US" dirty="0" smtClean="0"/>
          </a:p>
          <a:p>
            <a:pPr algn="just">
              <a:lnSpc>
                <a:spcPct val="150000"/>
              </a:lnSpc>
            </a:pPr>
            <a:r>
              <a:rPr lang="en-US" dirty="0" smtClean="0"/>
              <a:t>4</a:t>
            </a:r>
            <a:r>
              <a:rPr lang="en-US" dirty="0"/>
              <a:t>. </a:t>
            </a:r>
            <a:r>
              <a:rPr lang="en-US" b="1" dirty="0"/>
              <a:t>Modelling</a:t>
            </a:r>
            <a:r>
              <a:rPr lang="en-US" dirty="0"/>
              <a:t> – This step plays a role in the application of data mining algorithm for the data to obtain a model or pattern. </a:t>
            </a:r>
          </a:p>
        </p:txBody>
      </p:sp>
    </p:spTree>
    <p:extLst>
      <p:ext uri="{BB962C8B-B14F-4D97-AF65-F5344CB8AC3E}">
        <p14:creationId xmlns:p14="http://schemas.microsoft.com/office/powerpoint/2010/main" val="450695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640" y="463640"/>
            <a:ext cx="11346287" cy="5160756"/>
          </a:xfrm>
        </p:spPr>
        <p:txBody>
          <a:bodyPr/>
          <a:lstStyle/>
          <a:p>
            <a:pPr algn="just">
              <a:lnSpc>
                <a:spcPct val="150000"/>
              </a:lnSpc>
            </a:pPr>
            <a:r>
              <a:rPr lang="en-US" dirty="0" smtClean="0"/>
              <a:t>5. </a:t>
            </a:r>
            <a:r>
              <a:rPr lang="en-US" b="1" dirty="0" smtClean="0"/>
              <a:t>Evaluate</a:t>
            </a:r>
            <a:r>
              <a:rPr lang="en-US" dirty="0" smtClean="0"/>
              <a:t> </a:t>
            </a:r>
            <a:r>
              <a:rPr lang="en-US" dirty="0"/>
              <a:t>– This step involves the evaluation of the data mining results using statistical analysis and </a:t>
            </a:r>
          </a:p>
          <a:p>
            <a:pPr algn="just">
              <a:lnSpc>
                <a:spcPct val="150000"/>
              </a:lnSpc>
            </a:pPr>
            <a:r>
              <a:rPr lang="en-US" dirty="0"/>
              <a:t>visualization methods. The performance of the classifier is determined by evaluating the accuracy </a:t>
            </a:r>
          </a:p>
          <a:p>
            <a:pPr algn="just">
              <a:lnSpc>
                <a:spcPct val="150000"/>
              </a:lnSpc>
            </a:pPr>
            <a:r>
              <a:rPr lang="en-US" dirty="0"/>
              <a:t>of the classifier. The process of classification is a fuzzy issue. </a:t>
            </a:r>
          </a:p>
          <a:p>
            <a:pPr algn="just">
              <a:lnSpc>
                <a:spcPct val="150000"/>
              </a:lnSpc>
            </a:pPr>
            <a:r>
              <a:rPr lang="en-US" dirty="0"/>
              <a:t>6. </a:t>
            </a:r>
            <a:r>
              <a:rPr lang="en-US" b="1" dirty="0"/>
              <a:t>Deployment</a:t>
            </a:r>
            <a:r>
              <a:rPr lang="en-US" dirty="0"/>
              <a:t> – This step involves the deployment of results of the data mining algorithm to </a:t>
            </a:r>
          </a:p>
          <a:p>
            <a:pPr algn="just">
              <a:lnSpc>
                <a:spcPct val="150000"/>
              </a:lnSpc>
            </a:pPr>
            <a:r>
              <a:rPr lang="en-US" dirty="0"/>
              <a:t>improve the existing process or for a new situation.</a:t>
            </a:r>
          </a:p>
        </p:txBody>
      </p:sp>
    </p:spTree>
    <p:extLst>
      <p:ext uri="{BB962C8B-B14F-4D97-AF65-F5344CB8AC3E}">
        <p14:creationId xmlns:p14="http://schemas.microsoft.com/office/powerpoint/2010/main" val="3536714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6" y="170694"/>
            <a:ext cx="10058400" cy="782344"/>
          </a:xfrm>
        </p:spPr>
        <p:txBody>
          <a:bodyPr/>
          <a:lstStyle/>
          <a:p>
            <a:r>
              <a:rPr lang="en-US" dirty="0"/>
              <a:t>MACHINE LEARNING APPLICATIONS </a:t>
            </a:r>
          </a:p>
        </p:txBody>
      </p:sp>
      <p:sp>
        <p:nvSpPr>
          <p:cNvPr id="3" name="Content Placeholder 2"/>
          <p:cNvSpPr>
            <a:spLocks noGrp="1"/>
          </p:cNvSpPr>
          <p:nvPr>
            <p:ph idx="1"/>
          </p:nvPr>
        </p:nvSpPr>
        <p:spPr>
          <a:xfrm>
            <a:off x="221517" y="953038"/>
            <a:ext cx="11833108" cy="5151548"/>
          </a:xfrm>
        </p:spPr>
        <p:txBody>
          <a:bodyPr>
            <a:normAutofit fontScale="92500" lnSpcReduction="10000"/>
          </a:bodyPr>
          <a:lstStyle/>
          <a:p>
            <a:pPr algn="just">
              <a:lnSpc>
                <a:spcPct val="150000"/>
              </a:lnSpc>
            </a:pPr>
            <a:r>
              <a:rPr lang="en-US" dirty="0"/>
              <a:t>1. </a:t>
            </a:r>
            <a:r>
              <a:rPr lang="en-US" b="1" dirty="0"/>
              <a:t>Sentiment analysis </a:t>
            </a:r>
            <a:r>
              <a:rPr lang="en-US" dirty="0"/>
              <a:t>– This is an application of natural language processing (NLP) where the words of documents are converted to sentiments like happy, sad, and angry which are captured by emoticons effectively. For movie reviews or product reviews, five stars or one star are automatically attached using sentiment analysis programs. </a:t>
            </a:r>
            <a:endParaRPr lang="en-US" dirty="0" smtClean="0"/>
          </a:p>
          <a:p>
            <a:pPr algn="just">
              <a:lnSpc>
                <a:spcPct val="150000"/>
              </a:lnSpc>
            </a:pPr>
            <a:r>
              <a:rPr lang="en-US" dirty="0" smtClean="0"/>
              <a:t>2</a:t>
            </a:r>
            <a:r>
              <a:rPr lang="en-US" dirty="0"/>
              <a:t>. </a:t>
            </a:r>
            <a:r>
              <a:rPr lang="en-US" b="1" dirty="0"/>
              <a:t>Recommendation systems </a:t>
            </a:r>
            <a:r>
              <a:rPr lang="en-US" dirty="0"/>
              <a:t>– These are systems that make personalized purchases possible. For example, Amazon recommends users to find related books or books bought by people who have the same taste like you, and Netflix suggests shows or related movies of your taste. The recommendation systems are based on machine learning. </a:t>
            </a:r>
            <a:endParaRPr lang="en-US" dirty="0" smtClean="0"/>
          </a:p>
          <a:p>
            <a:pPr algn="just">
              <a:lnSpc>
                <a:spcPct val="150000"/>
              </a:lnSpc>
            </a:pPr>
            <a:r>
              <a:rPr lang="en-US" dirty="0" smtClean="0"/>
              <a:t>3</a:t>
            </a:r>
            <a:r>
              <a:rPr lang="en-US" dirty="0"/>
              <a:t>. </a:t>
            </a:r>
            <a:r>
              <a:rPr lang="en-US" b="1" dirty="0"/>
              <a:t>Voice assistants </a:t>
            </a:r>
            <a:r>
              <a:rPr lang="en-US" dirty="0"/>
              <a:t>– Products like Amazon Alexa, Microsoft </a:t>
            </a:r>
            <a:r>
              <a:rPr lang="en-US" dirty="0" err="1"/>
              <a:t>Cortana</a:t>
            </a:r>
            <a:r>
              <a:rPr lang="en-US" dirty="0"/>
              <a:t>, Apple Siri, and Google Assistant are all examples of voice assistants. They take speech commands and perform tasks. These </a:t>
            </a:r>
            <a:r>
              <a:rPr lang="en-US" dirty="0" err="1"/>
              <a:t>chatbots</a:t>
            </a:r>
            <a:r>
              <a:rPr lang="en-US" dirty="0"/>
              <a:t> are the result of machine learning technologies. </a:t>
            </a:r>
            <a:endParaRPr lang="en-US" dirty="0" smtClean="0"/>
          </a:p>
          <a:p>
            <a:pPr algn="just">
              <a:lnSpc>
                <a:spcPct val="150000"/>
              </a:lnSpc>
            </a:pPr>
            <a:r>
              <a:rPr lang="en-US" dirty="0" smtClean="0"/>
              <a:t>4</a:t>
            </a:r>
            <a:r>
              <a:rPr lang="en-US" dirty="0"/>
              <a:t>. </a:t>
            </a:r>
            <a:r>
              <a:rPr lang="en-US" b="1" dirty="0"/>
              <a:t>Technologies</a:t>
            </a:r>
            <a:r>
              <a:rPr lang="en-US" dirty="0"/>
              <a:t> like Google Maps and those used by </a:t>
            </a:r>
            <a:r>
              <a:rPr lang="en-US" dirty="0" err="1"/>
              <a:t>Uber</a:t>
            </a:r>
            <a:r>
              <a:rPr lang="en-US" dirty="0"/>
              <a:t> are all examples of machine learning which offer to locate and navigate shortest paths to reduce time. </a:t>
            </a:r>
          </a:p>
        </p:txBody>
      </p:sp>
    </p:spTree>
    <p:extLst>
      <p:ext uri="{BB962C8B-B14F-4D97-AF65-F5344CB8AC3E}">
        <p14:creationId xmlns:p14="http://schemas.microsoft.com/office/powerpoint/2010/main" val="4416477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138</TotalTime>
  <Words>1679</Words>
  <Application>Microsoft Office PowerPoint</Application>
  <PresentationFormat>Widescreen</PresentationFormat>
  <Paragraphs>78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Retrospect</vt:lpstr>
      <vt:lpstr>Module 3: Introduction to Machine Learning</vt:lpstr>
      <vt:lpstr>Supervised Learning </vt:lpstr>
      <vt:lpstr>PowerPoint Presentation</vt:lpstr>
      <vt:lpstr>PowerPoint Presentation</vt:lpstr>
      <vt:lpstr>Regression Models </vt:lpstr>
      <vt:lpstr>PowerPoint Presentation</vt:lpstr>
      <vt:lpstr>Unsupervised Learning </vt:lpstr>
      <vt:lpstr>PowerPoint Presentation</vt:lpstr>
      <vt:lpstr>PowerPoint Presentation</vt:lpstr>
      <vt:lpstr>Semi-supervised Learning</vt:lpstr>
      <vt:lpstr>Reinforcement Learning</vt:lpstr>
      <vt:lpstr>PowerPoint Presentation</vt:lpstr>
      <vt:lpstr>Difference between Supervised and unsupervised Learning </vt:lpstr>
      <vt:lpstr>CHALLENGES OF MACHINE LEARNING </vt:lpstr>
      <vt:lpstr>PowerPoint Presentation</vt:lpstr>
      <vt:lpstr>MACHINE LEARNING PROCESS</vt:lpstr>
      <vt:lpstr>PowerPoint Presentation</vt:lpstr>
      <vt:lpstr>PowerPoint Presentation</vt:lpstr>
      <vt:lpstr>MACHINE LEARNING APPLICATIONS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Introduction to Machine Learning</dc:title>
  <dc:creator>Microsoft account</dc:creator>
  <cp:lastModifiedBy>Microsoft account</cp:lastModifiedBy>
  <cp:revision>23</cp:revision>
  <dcterms:created xsi:type="dcterms:W3CDTF">2026-03-30T16:42:28Z</dcterms:created>
  <dcterms:modified xsi:type="dcterms:W3CDTF">2026-04-01T08:02:39Z</dcterms:modified>
</cp:coreProperties>
</file>