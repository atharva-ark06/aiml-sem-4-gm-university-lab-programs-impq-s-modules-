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58" r:id="rId5"/>
    <p:sldId id="259" r:id="rId6"/>
    <p:sldId id="260" r:id="rId7"/>
    <p:sldId id="261" r:id="rId8"/>
    <p:sldId id="262"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4" r:id="rId29"/>
    <p:sldId id="285" r:id="rId30"/>
    <p:sldId id="282" r:id="rId31"/>
    <p:sldId id="286"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554480-E05C-42CE-AD55-1C486ADF05E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0C06C7-E77F-4DD0-80E6-37C1FB8B1E0C}" type="slidenum">
              <a:rPr lang="en-US" smtClean="0"/>
              <a:t>‹#›</a:t>
            </a:fld>
            <a:endParaRPr lang="en-US"/>
          </a:p>
        </p:txBody>
      </p:sp>
    </p:spTree>
    <p:extLst>
      <p:ext uri="{BB962C8B-B14F-4D97-AF65-F5344CB8AC3E}">
        <p14:creationId xmlns:p14="http://schemas.microsoft.com/office/powerpoint/2010/main" val="3879834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554480-E05C-42CE-AD55-1C486ADF05E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0C06C7-E77F-4DD0-80E6-37C1FB8B1E0C}" type="slidenum">
              <a:rPr lang="en-US" smtClean="0"/>
              <a:t>‹#›</a:t>
            </a:fld>
            <a:endParaRPr lang="en-US"/>
          </a:p>
        </p:txBody>
      </p:sp>
    </p:spTree>
    <p:extLst>
      <p:ext uri="{BB962C8B-B14F-4D97-AF65-F5344CB8AC3E}">
        <p14:creationId xmlns:p14="http://schemas.microsoft.com/office/powerpoint/2010/main" val="4290759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554480-E05C-42CE-AD55-1C486ADF05E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0C06C7-E77F-4DD0-80E6-37C1FB8B1E0C}" type="slidenum">
              <a:rPr lang="en-US" smtClean="0"/>
              <a:t>‹#›</a:t>
            </a:fld>
            <a:endParaRPr lang="en-US"/>
          </a:p>
        </p:txBody>
      </p:sp>
    </p:spTree>
    <p:extLst>
      <p:ext uri="{BB962C8B-B14F-4D97-AF65-F5344CB8AC3E}">
        <p14:creationId xmlns:p14="http://schemas.microsoft.com/office/powerpoint/2010/main" val="424862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554480-E05C-42CE-AD55-1C486ADF05E1}"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0C06C7-E77F-4DD0-80E6-37C1FB8B1E0C}" type="slidenum">
              <a:rPr lang="en-US" smtClean="0"/>
              <a:t>‹#›</a:t>
            </a:fld>
            <a:endParaRPr lang="en-US"/>
          </a:p>
        </p:txBody>
      </p:sp>
    </p:spTree>
    <p:extLst>
      <p:ext uri="{BB962C8B-B14F-4D97-AF65-F5344CB8AC3E}">
        <p14:creationId xmlns:p14="http://schemas.microsoft.com/office/powerpoint/2010/main" val="3894059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554480-E05C-42CE-AD55-1C486ADF05E1}" type="datetimeFigureOut">
              <a:rPr lang="en-US" smtClean="0"/>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0C06C7-E77F-4DD0-80E6-37C1FB8B1E0C}" type="slidenum">
              <a:rPr lang="en-US" smtClean="0"/>
              <a:t>‹#›</a:t>
            </a:fld>
            <a:endParaRPr lang="en-US"/>
          </a:p>
        </p:txBody>
      </p:sp>
    </p:spTree>
    <p:extLst>
      <p:ext uri="{BB962C8B-B14F-4D97-AF65-F5344CB8AC3E}">
        <p14:creationId xmlns:p14="http://schemas.microsoft.com/office/powerpoint/2010/main" val="16071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554480-E05C-42CE-AD55-1C486ADF05E1}"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0C06C7-E77F-4DD0-80E6-37C1FB8B1E0C}" type="slidenum">
              <a:rPr lang="en-US" smtClean="0"/>
              <a:t>‹#›</a:t>
            </a:fld>
            <a:endParaRPr lang="en-US"/>
          </a:p>
        </p:txBody>
      </p:sp>
    </p:spTree>
    <p:extLst>
      <p:ext uri="{BB962C8B-B14F-4D97-AF65-F5344CB8AC3E}">
        <p14:creationId xmlns:p14="http://schemas.microsoft.com/office/powerpoint/2010/main" val="3878245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554480-E05C-42CE-AD55-1C486ADF05E1}" type="datetimeFigureOut">
              <a:rPr lang="en-US" smtClean="0"/>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0C06C7-E77F-4DD0-80E6-37C1FB8B1E0C}" type="slidenum">
              <a:rPr lang="en-US" smtClean="0"/>
              <a:t>‹#›</a:t>
            </a:fld>
            <a:endParaRPr lang="en-US"/>
          </a:p>
        </p:txBody>
      </p:sp>
    </p:spTree>
    <p:extLst>
      <p:ext uri="{BB962C8B-B14F-4D97-AF65-F5344CB8AC3E}">
        <p14:creationId xmlns:p14="http://schemas.microsoft.com/office/powerpoint/2010/main" val="301242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554480-E05C-42CE-AD55-1C486ADF05E1}"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0C06C7-E77F-4DD0-80E6-37C1FB8B1E0C}" type="slidenum">
              <a:rPr lang="en-US" smtClean="0"/>
              <a:t>‹#›</a:t>
            </a:fld>
            <a:endParaRPr lang="en-US"/>
          </a:p>
        </p:txBody>
      </p:sp>
    </p:spTree>
    <p:extLst>
      <p:ext uri="{BB962C8B-B14F-4D97-AF65-F5344CB8AC3E}">
        <p14:creationId xmlns:p14="http://schemas.microsoft.com/office/powerpoint/2010/main" val="3808768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554480-E05C-42CE-AD55-1C486ADF05E1}"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0C06C7-E77F-4DD0-80E6-37C1FB8B1E0C}" type="slidenum">
              <a:rPr lang="en-US" smtClean="0"/>
              <a:t>‹#›</a:t>
            </a:fld>
            <a:endParaRPr lang="en-US"/>
          </a:p>
        </p:txBody>
      </p:sp>
    </p:spTree>
    <p:extLst>
      <p:ext uri="{BB962C8B-B14F-4D97-AF65-F5344CB8AC3E}">
        <p14:creationId xmlns:p14="http://schemas.microsoft.com/office/powerpoint/2010/main" val="143409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554480-E05C-42CE-AD55-1C486ADF05E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0C06C7-E77F-4DD0-80E6-37C1FB8B1E0C}" type="slidenum">
              <a:rPr lang="en-US" smtClean="0"/>
              <a:t>‹#›</a:t>
            </a:fld>
            <a:endParaRPr lang="en-US"/>
          </a:p>
        </p:txBody>
      </p:sp>
    </p:spTree>
    <p:extLst>
      <p:ext uri="{BB962C8B-B14F-4D97-AF65-F5344CB8AC3E}">
        <p14:creationId xmlns:p14="http://schemas.microsoft.com/office/powerpoint/2010/main" val="638307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554480-E05C-42CE-AD55-1C486ADF05E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0C06C7-E77F-4DD0-80E6-37C1FB8B1E0C}" type="slidenum">
              <a:rPr lang="en-US" smtClean="0"/>
              <a:t>‹#›</a:t>
            </a:fld>
            <a:endParaRPr lang="en-US"/>
          </a:p>
        </p:txBody>
      </p:sp>
    </p:spTree>
    <p:extLst>
      <p:ext uri="{BB962C8B-B14F-4D97-AF65-F5344CB8AC3E}">
        <p14:creationId xmlns:p14="http://schemas.microsoft.com/office/powerpoint/2010/main" val="2597034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554480-E05C-42CE-AD55-1C486ADF05E1}" type="datetimeFigureOut">
              <a:rPr lang="en-US" smtClean="0"/>
              <a:t>11/24/2025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0C06C7-E77F-4DD0-80E6-37C1FB8B1E0C}" type="slidenum">
              <a:rPr lang="en-US" smtClean="0"/>
              <a:t>‹#›</a:t>
            </a:fld>
            <a:endParaRPr lang="en-US"/>
          </a:p>
        </p:txBody>
      </p:sp>
    </p:spTree>
    <p:extLst>
      <p:ext uri="{BB962C8B-B14F-4D97-AF65-F5344CB8AC3E}">
        <p14:creationId xmlns:p14="http://schemas.microsoft.com/office/powerpoint/2010/main" val="42751097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09851" y="549158"/>
            <a:ext cx="10022006" cy="1006688"/>
          </a:xfrm>
        </p:spPr>
        <p:txBody>
          <a:bodyPr/>
          <a:lstStyle/>
          <a:p>
            <a:r>
              <a:rPr lang="en-US" b="1" dirty="0"/>
              <a:t>Recurrent Neural </a:t>
            </a:r>
            <a:r>
              <a:rPr lang="en-US" b="1" dirty="0" smtClean="0"/>
              <a:t>Networks</a:t>
            </a:r>
            <a:endParaRPr lang="en-US" dirty="0"/>
          </a:p>
        </p:txBody>
      </p:sp>
      <p:sp>
        <p:nvSpPr>
          <p:cNvPr id="4" name="TextBox 3"/>
          <p:cNvSpPr txBox="1"/>
          <p:nvPr/>
        </p:nvSpPr>
        <p:spPr>
          <a:xfrm>
            <a:off x="909851" y="1992573"/>
            <a:ext cx="8666328" cy="3709349"/>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3200" dirty="0"/>
              <a:t>Introduction to Recurrent Neural </a:t>
            </a:r>
            <a:r>
              <a:rPr lang="en-US" sz="3200" dirty="0" smtClean="0"/>
              <a:t>Networks</a:t>
            </a:r>
          </a:p>
          <a:p>
            <a:pPr marL="285750" indent="-285750" algn="just">
              <a:lnSpc>
                <a:spcPct val="150000"/>
              </a:lnSpc>
              <a:buFont typeface="Arial" panose="020B0604020202020204" pitchFamily="34" charset="0"/>
              <a:buChar char="•"/>
            </a:pPr>
            <a:r>
              <a:rPr lang="en-US" sz="3200" dirty="0" smtClean="0"/>
              <a:t>Architecture of RNNs</a:t>
            </a:r>
          </a:p>
          <a:p>
            <a:pPr marL="285750" indent="-285750" algn="just">
              <a:lnSpc>
                <a:spcPct val="150000"/>
              </a:lnSpc>
              <a:buFont typeface="Arial" panose="020B0604020202020204" pitchFamily="34" charset="0"/>
              <a:buChar char="•"/>
            </a:pPr>
            <a:r>
              <a:rPr lang="en-US" sz="3200" dirty="0" smtClean="0"/>
              <a:t>Applications of RNN</a:t>
            </a:r>
          </a:p>
          <a:p>
            <a:pPr marL="285750" indent="-285750" algn="just">
              <a:lnSpc>
                <a:spcPct val="150000"/>
              </a:lnSpc>
              <a:buFont typeface="Arial" panose="020B0604020202020204" pitchFamily="34" charset="0"/>
              <a:buChar char="•"/>
            </a:pPr>
            <a:r>
              <a:rPr lang="en-US" sz="3200" dirty="0" smtClean="0"/>
              <a:t>Challenges in RNNs (Vanishing Gradient Problem)</a:t>
            </a:r>
          </a:p>
          <a:p>
            <a:pPr marL="285750" indent="-285750" algn="just">
              <a:lnSpc>
                <a:spcPct val="150000"/>
              </a:lnSpc>
              <a:buFont typeface="Arial" panose="020B0604020202020204" pitchFamily="34" charset="0"/>
              <a:buChar char="•"/>
            </a:pPr>
            <a:r>
              <a:rPr lang="en-US" sz="3200" dirty="0"/>
              <a:t>Types Of Recurrent Neural </a:t>
            </a:r>
            <a:r>
              <a:rPr lang="en-US" sz="3200" dirty="0" smtClean="0"/>
              <a:t>Networks</a:t>
            </a:r>
          </a:p>
        </p:txBody>
      </p:sp>
    </p:spTree>
    <p:extLst>
      <p:ext uri="{BB962C8B-B14F-4D97-AF65-F5344CB8AC3E}">
        <p14:creationId xmlns:p14="http://schemas.microsoft.com/office/powerpoint/2010/main" val="956075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7824" y="365314"/>
            <a:ext cx="11485728" cy="6158315"/>
          </a:xfrm>
        </p:spPr>
        <p:txBody>
          <a:bodyPr/>
          <a:lstStyle/>
          <a:p>
            <a:pPr algn="just">
              <a:lnSpc>
                <a:spcPct val="150000"/>
              </a:lnSpc>
            </a:pPr>
            <a:r>
              <a:rPr lang="en-US" dirty="0"/>
              <a:t>A recurrent neural network (RNN) is </a:t>
            </a:r>
            <a:r>
              <a:rPr lang="en-US" dirty="0" smtClean="0"/>
              <a:t>a type of neural network specifically designed to process sequential data, like text, speech, or time series, by retaining information from previous steps in the sequence to influence the current step</a:t>
            </a:r>
            <a:endParaRPr lang="en-US" dirty="0"/>
          </a:p>
        </p:txBody>
      </p:sp>
      <p:pic>
        <p:nvPicPr>
          <p:cNvPr id="4" name="Picture 3"/>
          <p:cNvPicPr>
            <a:picLocks noChangeAspect="1"/>
          </p:cNvPicPr>
          <p:nvPr/>
        </p:nvPicPr>
        <p:blipFill rotWithShape="1">
          <a:blip r:embed="rId2"/>
          <a:srcRect l="19511" t="32237" r="32134" b="44341"/>
          <a:stretch/>
        </p:blipFill>
        <p:spPr>
          <a:xfrm>
            <a:off x="1132764" y="3316406"/>
            <a:ext cx="9389659" cy="2838734"/>
          </a:xfrm>
          <a:prstGeom prst="rect">
            <a:avLst/>
          </a:prstGeom>
        </p:spPr>
      </p:pic>
    </p:spTree>
    <p:extLst>
      <p:ext uri="{BB962C8B-B14F-4D97-AF65-F5344CB8AC3E}">
        <p14:creationId xmlns:p14="http://schemas.microsoft.com/office/powerpoint/2010/main" val="39903914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498142" y="404883"/>
            <a:ext cx="11116101" cy="5791200"/>
          </a:xfrm>
          <a:prstGeom prst="rect">
            <a:avLst/>
          </a:prstGeom>
        </p:spPr>
      </p:pic>
    </p:spTree>
    <p:extLst>
      <p:ext uri="{BB962C8B-B14F-4D97-AF65-F5344CB8AC3E}">
        <p14:creationId xmlns:p14="http://schemas.microsoft.com/office/powerpoint/2010/main" val="2489360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1193" y="395785"/>
            <a:ext cx="11491415" cy="6196084"/>
          </a:xfrm>
        </p:spPr>
        <p:txBody>
          <a:bodyPr/>
          <a:lstStyle/>
          <a:p>
            <a:pPr algn="just">
              <a:lnSpc>
                <a:spcPct val="150000"/>
              </a:lnSpc>
            </a:pPr>
            <a:r>
              <a:rPr lang="en-US" dirty="0"/>
              <a:t>Recurrent Neural Networks (RNNs) differ from regular neural networks in how they process information. While standard neural networks pass information in one direction i.e. from input to output, RNNs feed information back into the network at each step</a:t>
            </a:r>
            <a:r>
              <a:rPr lang="en-US" dirty="0" smtClean="0"/>
              <a:t>.</a:t>
            </a:r>
          </a:p>
          <a:p>
            <a:pPr algn="just">
              <a:lnSpc>
                <a:spcPct val="150000"/>
              </a:lnSpc>
            </a:pPr>
            <a:r>
              <a:rPr lang="en-US" dirty="0"/>
              <a:t>Imagine reading a sentence and you try to predict the next word, you don’t rely only on the current word but also remember the words that came before. RNNs work similarly by “remembering” past information and passing the output from one step as input to the next</a:t>
            </a:r>
          </a:p>
        </p:txBody>
      </p:sp>
    </p:spTree>
    <p:extLst>
      <p:ext uri="{BB962C8B-B14F-4D97-AF65-F5344CB8AC3E}">
        <p14:creationId xmlns:p14="http://schemas.microsoft.com/office/powerpoint/2010/main" val="21772688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994" y="187705"/>
            <a:ext cx="10515600" cy="931412"/>
          </a:xfrm>
        </p:spPr>
        <p:txBody>
          <a:bodyPr>
            <a:normAutofit/>
          </a:bodyPr>
          <a:lstStyle/>
          <a:p>
            <a:pPr fontAlgn="base"/>
            <a:r>
              <a:rPr lang="en-US" b="1" dirty="0"/>
              <a:t>Key Components of </a:t>
            </a:r>
            <a:r>
              <a:rPr lang="en-US" b="1" dirty="0" smtClean="0"/>
              <a:t>RNNs</a:t>
            </a:r>
            <a:endParaRPr lang="en-US" dirty="0"/>
          </a:p>
        </p:txBody>
      </p:sp>
      <p:sp>
        <p:nvSpPr>
          <p:cNvPr id="3" name="Content Placeholder 2"/>
          <p:cNvSpPr>
            <a:spLocks noGrp="1"/>
          </p:cNvSpPr>
          <p:nvPr>
            <p:ph idx="1"/>
          </p:nvPr>
        </p:nvSpPr>
        <p:spPr>
          <a:xfrm>
            <a:off x="415120" y="1238771"/>
            <a:ext cx="7132092" cy="5230267"/>
          </a:xfrm>
        </p:spPr>
        <p:txBody>
          <a:bodyPr/>
          <a:lstStyle/>
          <a:p>
            <a:pPr marL="0" indent="0" algn="just">
              <a:buNone/>
            </a:pPr>
            <a:r>
              <a:rPr lang="en-US" dirty="0" smtClean="0"/>
              <a:t>There are mainly two components of RNNs </a:t>
            </a:r>
          </a:p>
          <a:p>
            <a:pPr marL="0" indent="0" algn="just">
              <a:buNone/>
            </a:pPr>
            <a:r>
              <a:rPr lang="en-US" dirty="0" smtClean="0"/>
              <a:t>1. </a:t>
            </a:r>
            <a:r>
              <a:rPr lang="en-US" b="1" dirty="0"/>
              <a:t>Recurrent Neurons</a:t>
            </a:r>
          </a:p>
          <a:p>
            <a:pPr algn="just"/>
            <a:r>
              <a:rPr lang="en-US" dirty="0"/>
              <a:t>The fundamental processing unit in RNN is a Recurrent Unit</a:t>
            </a:r>
            <a:r>
              <a:rPr lang="en-US" b="1" dirty="0"/>
              <a:t>.</a:t>
            </a:r>
            <a:r>
              <a:rPr lang="en-US" dirty="0"/>
              <a:t> </a:t>
            </a:r>
            <a:endParaRPr lang="en-US" dirty="0" smtClean="0"/>
          </a:p>
          <a:p>
            <a:pPr algn="just"/>
            <a:r>
              <a:rPr lang="en-US" dirty="0" smtClean="0"/>
              <a:t>They </a:t>
            </a:r>
            <a:r>
              <a:rPr lang="en-US" dirty="0"/>
              <a:t>hold a hidden state that maintains information about previous inputs in a sequence. </a:t>
            </a:r>
            <a:endParaRPr lang="en-US" dirty="0" smtClean="0"/>
          </a:p>
          <a:p>
            <a:pPr algn="just"/>
            <a:r>
              <a:rPr lang="en-US" dirty="0" smtClean="0"/>
              <a:t>Recurrent </a:t>
            </a:r>
            <a:r>
              <a:rPr lang="en-US" dirty="0"/>
              <a:t>units can "remember" information from prior steps by feeding back their hidden state, allowing them to capture dependencies </a:t>
            </a:r>
            <a:r>
              <a:rPr lang="en-US" dirty="0" smtClean="0"/>
              <a:t>across time</a:t>
            </a:r>
            <a:r>
              <a:rPr lang="en-US" dirty="0"/>
              <a:t>.</a:t>
            </a:r>
            <a:r>
              <a:rPr lang="en-US" dirty="0" smtClean="0"/>
              <a:t/>
            </a:r>
            <a:br>
              <a:rPr lang="en-US" dirty="0" smtClean="0"/>
            </a:br>
            <a:endParaRPr lang="en-US" dirty="0"/>
          </a:p>
        </p:txBody>
      </p:sp>
      <p:pic>
        <p:nvPicPr>
          <p:cNvPr id="1026"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1737" y="1433015"/>
            <a:ext cx="3098042" cy="4490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48588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8641" y="228836"/>
            <a:ext cx="11567615" cy="6390327"/>
          </a:xfrm>
        </p:spPr>
        <p:txBody>
          <a:bodyPr/>
          <a:lstStyle/>
          <a:p>
            <a:pPr marL="0" indent="0" algn="just">
              <a:lnSpc>
                <a:spcPct val="150000"/>
              </a:lnSpc>
              <a:buNone/>
            </a:pPr>
            <a:r>
              <a:rPr lang="en-US" b="1" dirty="0" smtClean="0"/>
              <a:t>2. RNN Unfolding</a:t>
            </a:r>
          </a:p>
          <a:p>
            <a:pPr algn="just">
              <a:lnSpc>
                <a:spcPct val="150000"/>
              </a:lnSpc>
            </a:pPr>
            <a:r>
              <a:rPr lang="en-US" dirty="0"/>
              <a:t>RNN unfolding or unrolling is the process of expanding the recurrent structure over time steps. </a:t>
            </a:r>
            <a:endParaRPr lang="en-US" dirty="0" smtClean="0"/>
          </a:p>
          <a:p>
            <a:pPr algn="just">
              <a:lnSpc>
                <a:spcPct val="150000"/>
              </a:lnSpc>
            </a:pPr>
            <a:r>
              <a:rPr lang="en-US" dirty="0" smtClean="0"/>
              <a:t>During </a:t>
            </a:r>
            <a:r>
              <a:rPr lang="en-US" dirty="0"/>
              <a:t>unfolding each step of the sequence is represented as a separate layer in a series illustrating how information flows across each time step</a:t>
            </a:r>
            <a:r>
              <a:rPr lang="en-US" dirty="0" smtClean="0"/>
              <a:t>.</a:t>
            </a:r>
          </a:p>
          <a:p>
            <a:pPr algn="just">
              <a:lnSpc>
                <a:spcPct val="150000"/>
              </a:lnSpc>
            </a:pPr>
            <a:r>
              <a:rPr lang="en-US" dirty="0" smtClean="0"/>
              <a:t>Backpropagation through time (BPTT)</a:t>
            </a:r>
            <a:r>
              <a:rPr lang="en-US" dirty="0"/>
              <a:t> a learning process where errors are propagated across time steps to adjust the network’s weights enhancing the RNN’s ability to learn dependencies within sequential data.</a:t>
            </a:r>
          </a:p>
        </p:txBody>
      </p:sp>
    </p:spTree>
    <p:extLst>
      <p:ext uri="{BB962C8B-B14F-4D97-AF65-F5344CB8AC3E}">
        <p14:creationId xmlns:p14="http://schemas.microsoft.com/office/powerpoint/2010/main" val="13414148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t="34488" r="25797"/>
          <a:stretch/>
        </p:blipFill>
        <p:spPr>
          <a:xfrm>
            <a:off x="880279" y="682388"/>
            <a:ext cx="10001821" cy="4776716"/>
          </a:xfrm>
          <a:prstGeom prst="rect">
            <a:avLst/>
          </a:prstGeom>
        </p:spPr>
      </p:pic>
    </p:spTree>
    <p:extLst>
      <p:ext uri="{BB962C8B-B14F-4D97-AF65-F5344CB8AC3E}">
        <p14:creationId xmlns:p14="http://schemas.microsoft.com/office/powerpoint/2010/main" val="13502486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4476" t="18460" r="14196" b="13638"/>
          <a:stretch/>
        </p:blipFill>
        <p:spPr>
          <a:xfrm>
            <a:off x="709684" y="477670"/>
            <a:ext cx="10781732" cy="5923129"/>
          </a:xfrm>
          <a:prstGeom prst="rect">
            <a:avLst/>
          </a:prstGeom>
        </p:spPr>
      </p:pic>
    </p:spTree>
    <p:extLst>
      <p:ext uri="{BB962C8B-B14F-4D97-AF65-F5344CB8AC3E}">
        <p14:creationId xmlns:p14="http://schemas.microsoft.com/office/powerpoint/2010/main" val="13834079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7134" t="21806" r="19441" b="18952"/>
          <a:stretch/>
        </p:blipFill>
        <p:spPr>
          <a:xfrm>
            <a:off x="300251" y="259307"/>
            <a:ext cx="11655188" cy="6264323"/>
          </a:xfrm>
          <a:prstGeom prst="rect">
            <a:avLst/>
          </a:prstGeom>
        </p:spPr>
      </p:pic>
    </p:spTree>
    <p:extLst>
      <p:ext uri="{BB962C8B-B14F-4D97-AF65-F5344CB8AC3E}">
        <p14:creationId xmlns:p14="http://schemas.microsoft.com/office/powerpoint/2010/main" val="27845079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642" y="201353"/>
            <a:ext cx="10515600" cy="726696"/>
          </a:xfrm>
        </p:spPr>
        <p:txBody>
          <a:bodyPr/>
          <a:lstStyle/>
          <a:p>
            <a:r>
              <a:rPr lang="en-US" dirty="0"/>
              <a:t>Architecture of </a:t>
            </a:r>
            <a:r>
              <a:rPr lang="en-US" dirty="0" smtClean="0"/>
              <a:t>RNNs</a:t>
            </a:r>
            <a:endParaRPr lang="en-US" dirty="0"/>
          </a:p>
        </p:txBody>
      </p:sp>
      <p:sp>
        <p:nvSpPr>
          <p:cNvPr id="3" name="Content Placeholder 2"/>
          <p:cNvSpPr>
            <a:spLocks noGrp="1"/>
          </p:cNvSpPr>
          <p:nvPr>
            <p:ph idx="1"/>
          </p:nvPr>
        </p:nvSpPr>
        <p:spPr>
          <a:xfrm>
            <a:off x="278641" y="1050878"/>
            <a:ext cx="11663149" cy="5677468"/>
          </a:xfrm>
        </p:spPr>
        <p:txBody>
          <a:bodyPr/>
          <a:lstStyle/>
          <a:p>
            <a:pPr algn="just">
              <a:lnSpc>
                <a:spcPct val="100000"/>
              </a:lnSpc>
            </a:pPr>
            <a:r>
              <a:rPr lang="en-US" dirty="0"/>
              <a:t>In RNNs the hidden state </a:t>
            </a:r>
            <a:r>
              <a:rPr lang="en-US" dirty="0" smtClean="0"/>
              <a:t>Hi </a:t>
            </a:r>
            <a:r>
              <a:rPr lang="en-US" dirty="0"/>
              <a:t>is calculated for every input </a:t>
            </a:r>
            <a:r>
              <a:rPr lang="en-US" dirty="0" smtClean="0"/>
              <a:t>Xi​​ </a:t>
            </a:r>
            <a:r>
              <a:rPr lang="en-US" dirty="0"/>
              <a:t>to retain sequential dependencies</a:t>
            </a:r>
            <a:r>
              <a:rPr lang="en-US" dirty="0" smtClean="0"/>
              <a:t>.</a:t>
            </a:r>
          </a:p>
          <a:p>
            <a:pPr algn="just">
              <a:lnSpc>
                <a:spcPct val="100000"/>
              </a:lnSpc>
            </a:pPr>
            <a:r>
              <a:rPr lang="en-US" b="1" dirty="0"/>
              <a:t>Input Layer</a:t>
            </a:r>
          </a:p>
          <a:p>
            <a:pPr lvl="1" algn="just">
              <a:lnSpc>
                <a:spcPct val="100000"/>
              </a:lnSpc>
            </a:pPr>
            <a:r>
              <a:rPr lang="en-US" dirty="0"/>
              <a:t>Takes sequential data as input</a:t>
            </a:r>
            <a:r>
              <a:rPr lang="en-US" dirty="0" smtClean="0"/>
              <a:t>.</a:t>
            </a:r>
          </a:p>
          <a:p>
            <a:pPr algn="just">
              <a:lnSpc>
                <a:spcPct val="100000"/>
              </a:lnSpc>
            </a:pPr>
            <a:r>
              <a:rPr lang="en-US" b="1" dirty="0"/>
              <a:t>Hidden Layer with Recurrent Connections</a:t>
            </a:r>
          </a:p>
          <a:p>
            <a:pPr lvl="1" algn="just">
              <a:lnSpc>
                <a:spcPct val="100000"/>
              </a:lnSpc>
            </a:pPr>
            <a:r>
              <a:rPr lang="en-US" dirty="0"/>
              <a:t>Core part of the RNN</a:t>
            </a:r>
            <a:r>
              <a:rPr lang="en-US" dirty="0" smtClean="0"/>
              <a:t>.</a:t>
            </a:r>
          </a:p>
          <a:p>
            <a:pPr lvl="1" algn="just">
              <a:lnSpc>
                <a:spcPct val="100000"/>
              </a:lnSpc>
            </a:pPr>
            <a:endParaRPr lang="en-US" dirty="0"/>
          </a:p>
        </p:txBody>
      </p:sp>
      <p:pic>
        <p:nvPicPr>
          <p:cNvPr id="4" name="Picture 3"/>
          <p:cNvPicPr>
            <a:picLocks noChangeAspect="1"/>
          </p:cNvPicPr>
          <p:nvPr/>
        </p:nvPicPr>
        <p:blipFill rotWithShape="1">
          <a:blip r:embed="rId2"/>
          <a:srcRect l="18042" t="59988" r="50070" b="9505"/>
          <a:stretch/>
        </p:blipFill>
        <p:spPr>
          <a:xfrm>
            <a:off x="1146411" y="4088855"/>
            <a:ext cx="6032311" cy="2543956"/>
          </a:xfrm>
          <a:prstGeom prst="rect">
            <a:avLst/>
          </a:prstGeom>
        </p:spPr>
      </p:pic>
    </p:spTree>
    <p:extLst>
      <p:ext uri="{BB962C8B-B14F-4D97-AF65-F5344CB8AC3E}">
        <p14:creationId xmlns:p14="http://schemas.microsoft.com/office/powerpoint/2010/main" val="39512773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7697" y="242483"/>
            <a:ext cx="11813275" cy="6226555"/>
          </a:xfrm>
        </p:spPr>
        <p:txBody>
          <a:bodyPr/>
          <a:lstStyle/>
          <a:p>
            <a:pPr>
              <a:lnSpc>
                <a:spcPct val="150000"/>
              </a:lnSpc>
            </a:pPr>
            <a:r>
              <a:rPr lang="en-US" b="1" dirty="0"/>
              <a:t>Output Calculation</a:t>
            </a:r>
            <a:r>
              <a:rPr lang="en-US" dirty="0" smtClean="0"/>
              <a:t>: </a:t>
            </a:r>
            <a:r>
              <a:rPr lang="en-US" dirty="0"/>
              <a:t>The output </a:t>
            </a:r>
            <a:r>
              <a:rPr lang="en-US" dirty="0" smtClean="0"/>
              <a:t>Y</a:t>
            </a:r>
            <a:r>
              <a:rPr lang="en-US" i="1" dirty="0"/>
              <a:t> </a:t>
            </a:r>
            <a:r>
              <a:rPr lang="en-US" dirty="0" smtClean="0"/>
              <a:t>is </a:t>
            </a:r>
            <a:r>
              <a:rPr lang="en-US" dirty="0"/>
              <a:t>calculated by applying O</a:t>
            </a:r>
            <a:r>
              <a:rPr lang="en-US" i="1" dirty="0"/>
              <a:t>O</a:t>
            </a:r>
            <a:r>
              <a:rPr lang="en-US" dirty="0"/>
              <a:t> an activation function to the weighted hidden state where </a:t>
            </a:r>
            <a:r>
              <a:rPr lang="en-US" dirty="0" smtClean="0"/>
              <a:t>V</a:t>
            </a:r>
            <a:r>
              <a:rPr lang="en-US" dirty="0"/>
              <a:t> and </a:t>
            </a:r>
            <a:r>
              <a:rPr lang="en-US" dirty="0" smtClean="0"/>
              <a:t>C</a:t>
            </a:r>
            <a:r>
              <a:rPr lang="en-US" i="1" dirty="0"/>
              <a:t> </a:t>
            </a:r>
            <a:r>
              <a:rPr lang="en-US" dirty="0" smtClean="0"/>
              <a:t>represent </a:t>
            </a:r>
            <a:r>
              <a:rPr lang="en-US" dirty="0"/>
              <a:t>weights and bias.</a:t>
            </a:r>
            <a:endParaRPr lang="en-US" dirty="0" smtClean="0"/>
          </a:p>
          <a:p>
            <a:pPr marL="0" indent="0">
              <a:lnSpc>
                <a:spcPct val="150000"/>
              </a:lnSpc>
              <a:buNone/>
            </a:pPr>
            <a:endParaRPr lang="en-US" dirty="0"/>
          </a:p>
          <a:p>
            <a:pPr>
              <a:lnSpc>
                <a:spcPct val="150000"/>
              </a:lnSpc>
            </a:pPr>
            <a:r>
              <a:rPr lang="en-US" b="1" dirty="0"/>
              <a:t>Overall </a:t>
            </a:r>
            <a:r>
              <a:rPr lang="en-US" b="1" dirty="0" smtClean="0"/>
              <a:t>Function</a:t>
            </a:r>
            <a:r>
              <a:rPr lang="en-US" dirty="0" smtClean="0"/>
              <a:t>: This </a:t>
            </a:r>
            <a:r>
              <a:rPr lang="en-US" dirty="0"/>
              <a:t>function defines the entire RNN operation where the state matrix </a:t>
            </a:r>
            <a:r>
              <a:rPr lang="en-US" dirty="0" smtClean="0"/>
              <a:t>S</a:t>
            </a:r>
            <a:r>
              <a:rPr lang="en-US" dirty="0"/>
              <a:t> holds each element </a:t>
            </a:r>
            <a:r>
              <a:rPr lang="en-US" dirty="0" err="1" smtClean="0"/>
              <a:t>si</a:t>
            </a:r>
            <a:r>
              <a:rPr lang="en-US" dirty="0"/>
              <a:t> representing the network's state at each time step </a:t>
            </a:r>
            <a:r>
              <a:rPr lang="en-US" dirty="0" err="1" smtClean="0"/>
              <a:t>i</a:t>
            </a:r>
            <a:endParaRPr lang="en-US" dirty="0"/>
          </a:p>
        </p:txBody>
      </p:sp>
      <p:pic>
        <p:nvPicPr>
          <p:cNvPr id="4" name="Picture 3"/>
          <p:cNvPicPr>
            <a:picLocks noChangeAspect="1"/>
          </p:cNvPicPr>
          <p:nvPr/>
        </p:nvPicPr>
        <p:blipFill rotWithShape="1">
          <a:blip r:embed="rId2"/>
          <a:srcRect l="18777" t="35583" r="63601" b="55757"/>
          <a:stretch/>
        </p:blipFill>
        <p:spPr>
          <a:xfrm>
            <a:off x="2702256" y="2060811"/>
            <a:ext cx="2292825" cy="600502"/>
          </a:xfrm>
          <a:prstGeom prst="rect">
            <a:avLst/>
          </a:prstGeom>
        </p:spPr>
      </p:pic>
      <p:pic>
        <p:nvPicPr>
          <p:cNvPr id="5" name="Picture 4"/>
          <p:cNvPicPr>
            <a:picLocks noChangeAspect="1"/>
          </p:cNvPicPr>
          <p:nvPr/>
        </p:nvPicPr>
        <p:blipFill rotWithShape="1">
          <a:blip r:embed="rId2"/>
          <a:srcRect l="18777" t="60973" r="50804" b="28202"/>
          <a:stretch/>
        </p:blipFill>
        <p:spPr>
          <a:xfrm>
            <a:off x="2442948" y="5334685"/>
            <a:ext cx="3957852" cy="750628"/>
          </a:xfrm>
          <a:prstGeom prst="rect">
            <a:avLst/>
          </a:prstGeom>
        </p:spPr>
      </p:pic>
    </p:spTree>
    <p:extLst>
      <p:ext uri="{BB962C8B-B14F-4D97-AF65-F5344CB8AC3E}">
        <p14:creationId xmlns:p14="http://schemas.microsoft.com/office/powerpoint/2010/main" val="7668706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7547" y="3753134"/>
            <a:ext cx="11477766" cy="2893325"/>
          </a:xfrm>
        </p:spPr>
        <p:txBody>
          <a:bodyPr>
            <a:normAutofit fontScale="92500"/>
          </a:bodyPr>
          <a:lstStyle/>
          <a:p>
            <a:pPr algn="just">
              <a:lnSpc>
                <a:spcPct val="150000"/>
              </a:lnSpc>
            </a:pPr>
            <a:r>
              <a:rPr lang="en-US" sz="2400" dirty="0"/>
              <a:t>At each time step RNNs process units with a fixed activation function. </a:t>
            </a:r>
            <a:endParaRPr lang="en-US" sz="2400" dirty="0" smtClean="0"/>
          </a:p>
          <a:p>
            <a:pPr algn="just">
              <a:lnSpc>
                <a:spcPct val="150000"/>
              </a:lnSpc>
            </a:pPr>
            <a:r>
              <a:rPr lang="en-US" sz="2400" dirty="0" smtClean="0"/>
              <a:t>These </a:t>
            </a:r>
            <a:r>
              <a:rPr lang="en-US" sz="2400" dirty="0"/>
              <a:t>units have an internal hidden state that acts as memory that retains information from previous time steps. </a:t>
            </a:r>
            <a:endParaRPr lang="en-US" sz="2400" dirty="0" smtClean="0"/>
          </a:p>
          <a:p>
            <a:pPr algn="just">
              <a:lnSpc>
                <a:spcPct val="150000"/>
              </a:lnSpc>
            </a:pPr>
            <a:r>
              <a:rPr lang="en-US" sz="2400" dirty="0" smtClean="0"/>
              <a:t>This </a:t>
            </a:r>
            <a:r>
              <a:rPr lang="en-US" sz="2400" dirty="0"/>
              <a:t>memory allows the network to store past knowledge and adapt based on new inputs.</a:t>
            </a:r>
          </a:p>
        </p:txBody>
      </p:sp>
      <p:pic>
        <p:nvPicPr>
          <p:cNvPr id="1026" name="Picture 2" descr="recurrent_neural_networ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4413" y="212677"/>
            <a:ext cx="9657677" cy="3335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73801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402" y="295346"/>
            <a:ext cx="11458433" cy="1001191"/>
          </a:xfrm>
        </p:spPr>
        <p:txBody>
          <a:bodyPr>
            <a:normAutofit/>
          </a:bodyPr>
          <a:lstStyle/>
          <a:p>
            <a:pPr fontAlgn="base"/>
            <a:r>
              <a:rPr lang="en-US" b="1" dirty="0"/>
              <a:t>Types Of Recurrent Neural </a:t>
            </a:r>
            <a:r>
              <a:rPr lang="en-US" b="1" dirty="0" smtClean="0"/>
              <a:t>Networks</a:t>
            </a:r>
            <a:endParaRPr lang="en-US" dirty="0"/>
          </a:p>
        </p:txBody>
      </p:sp>
      <p:sp>
        <p:nvSpPr>
          <p:cNvPr id="3" name="Content Placeholder 2"/>
          <p:cNvSpPr>
            <a:spLocks noGrp="1"/>
          </p:cNvSpPr>
          <p:nvPr>
            <p:ph idx="1"/>
          </p:nvPr>
        </p:nvSpPr>
        <p:spPr>
          <a:xfrm>
            <a:off x="354842" y="1473959"/>
            <a:ext cx="10998958" cy="5076966"/>
          </a:xfrm>
        </p:spPr>
        <p:txBody>
          <a:bodyPr>
            <a:noAutofit/>
          </a:bodyPr>
          <a:lstStyle/>
          <a:p>
            <a:pPr algn="just">
              <a:lnSpc>
                <a:spcPct val="170000"/>
              </a:lnSpc>
            </a:pPr>
            <a:r>
              <a:rPr lang="en-US" sz="3200" dirty="0"/>
              <a:t>There are four types of RNNs based on the number of inputs and outputs in the </a:t>
            </a:r>
            <a:r>
              <a:rPr lang="en-US" sz="3200" dirty="0" smtClean="0"/>
              <a:t>network</a:t>
            </a:r>
          </a:p>
          <a:p>
            <a:pPr lvl="1" algn="just">
              <a:lnSpc>
                <a:spcPct val="170000"/>
              </a:lnSpc>
            </a:pPr>
            <a:r>
              <a:rPr lang="en-US" sz="2800" b="1" dirty="0"/>
              <a:t>One-to-One RNN</a:t>
            </a:r>
          </a:p>
          <a:p>
            <a:pPr lvl="1" algn="just">
              <a:lnSpc>
                <a:spcPct val="170000"/>
              </a:lnSpc>
            </a:pPr>
            <a:r>
              <a:rPr lang="en-US" sz="2800" b="1" dirty="0"/>
              <a:t>One-to-Many RNN</a:t>
            </a:r>
          </a:p>
          <a:p>
            <a:pPr lvl="1" algn="just">
              <a:lnSpc>
                <a:spcPct val="170000"/>
              </a:lnSpc>
            </a:pPr>
            <a:r>
              <a:rPr lang="en-US" sz="2800" b="1" dirty="0"/>
              <a:t>Many-to-One RNN</a:t>
            </a:r>
          </a:p>
          <a:p>
            <a:pPr lvl="1" algn="just">
              <a:lnSpc>
                <a:spcPct val="170000"/>
              </a:lnSpc>
            </a:pPr>
            <a:r>
              <a:rPr lang="en-US" sz="2800" b="1" dirty="0"/>
              <a:t>Many-to-Many RNN</a:t>
            </a:r>
          </a:p>
          <a:p>
            <a:pPr marL="457200" lvl="1" indent="0" algn="just">
              <a:lnSpc>
                <a:spcPct val="170000"/>
              </a:lnSpc>
              <a:buNone/>
            </a:pPr>
            <a:r>
              <a:rPr lang="en-US" sz="2800" dirty="0"/>
              <a:t/>
            </a:r>
            <a:br>
              <a:rPr lang="en-US" sz="2800" dirty="0"/>
            </a:br>
            <a:endParaRPr lang="en-US" sz="2800" dirty="0"/>
          </a:p>
        </p:txBody>
      </p:sp>
    </p:spTree>
    <p:extLst>
      <p:ext uri="{BB962C8B-B14F-4D97-AF65-F5344CB8AC3E}">
        <p14:creationId xmlns:p14="http://schemas.microsoft.com/office/powerpoint/2010/main" val="22930860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376" y="477672"/>
            <a:ext cx="10903424" cy="5699291"/>
          </a:xfrm>
        </p:spPr>
        <p:txBody>
          <a:bodyPr/>
          <a:lstStyle/>
          <a:p>
            <a:pPr marL="228600" lvl="1" algn="just">
              <a:lnSpc>
                <a:spcPct val="150000"/>
              </a:lnSpc>
              <a:spcBef>
                <a:spcPts val="1000"/>
              </a:spcBef>
            </a:pPr>
            <a:r>
              <a:rPr lang="en-US" sz="2800" b="1" dirty="0"/>
              <a:t>One-to-One RNN</a:t>
            </a:r>
          </a:p>
          <a:p>
            <a:pPr lvl="1" algn="just">
              <a:lnSpc>
                <a:spcPct val="150000"/>
              </a:lnSpc>
            </a:pPr>
            <a:r>
              <a:rPr lang="en-US" dirty="0"/>
              <a:t>This is the simplest type of neural network architecture where there is a single input and a single output. </a:t>
            </a:r>
            <a:endParaRPr lang="en-US" dirty="0" smtClean="0"/>
          </a:p>
          <a:p>
            <a:pPr lvl="1" algn="just">
              <a:lnSpc>
                <a:spcPct val="150000"/>
              </a:lnSpc>
            </a:pPr>
            <a:r>
              <a:rPr lang="en-US" dirty="0" smtClean="0"/>
              <a:t>It </a:t>
            </a:r>
            <a:r>
              <a:rPr lang="en-US" dirty="0"/>
              <a:t>is used for straightforward classification tasks such as binary classification where no sequential data is involved</a:t>
            </a:r>
            <a:r>
              <a:rPr lang="en-US" dirty="0" smtClean="0"/>
              <a:t>.</a:t>
            </a:r>
          </a:p>
          <a:p>
            <a:pPr marL="457200" lvl="1" indent="0" algn="just">
              <a:lnSpc>
                <a:spcPct val="150000"/>
              </a:lnSpc>
              <a:buNone/>
            </a:pPr>
            <a:endParaRPr lang="en-US" dirty="0"/>
          </a:p>
        </p:txBody>
      </p:sp>
      <p:pic>
        <p:nvPicPr>
          <p:cNvPr id="5" name="Picture 4"/>
          <p:cNvPicPr>
            <a:picLocks noChangeAspect="1"/>
          </p:cNvPicPr>
          <p:nvPr/>
        </p:nvPicPr>
        <p:blipFill>
          <a:blip r:embed="rId2"/>
          <a:stretch>
            <a:fillRect/>
          </a:stretch>
        </p:blipFill>
        <p:spPr>
          <a:xfrm>
            <a:off x="3616373" y="3755835"/>
            <a:ext cx="2857500" cy="2266950"/>
          </a:xfrm>
          <a:prstGeom prst="rect">
            <a:avLst/>
          </a:prstGeom>
        </p:spPr>
      </p:pic>
    </p:spTree>
    <p:extLst>
      <p:ext uri="{BB962C8B-B14F-4D97-AF65-F5344CB8AC3E}">
        <p14:creationId xmlns:p14="http://schemas.microsoft.com/office/powerpoint/2010/main" val="2837358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8641" y="310724"/>
            <a:ext cx="11676797" cy="6117372"/>
          </a:xfrm>
        </p:spPr>
        <p:txBody>
          <a:bodyPr>
            <a:normAutofit/>
          </a:bodyPr>
          <a:lstStyle/>
          <a:p>
            <a:r>
              <a:rPr lang="en-US" sz="2400" b="1" dirty="0"/>
              <a:t>One-to-Many RNN</a:t>
            </a:r>
          </a:p>
          <a:p>
            <a:pPr lvl="1">
              <a:lnSpc>
                <a:spcPct val="150000"/>
              </a:lnSpc>
            </a:pPr>
            <a:r>
              <a:rPr lang="en-US" dirty="0"/>
              <a:t>In a One-to-Many RNN the network processes a single input to produce multiple outputs over time. </a:t>
            </a:r>
            <a:endParaRPr lang="en-US" dirty="0" smtClean="0"/>
          </a:p>
          <a:p>
            <a:pPr lvl="1">
              <a:lnSpc>
                <a:spcPct val="150000"/>
              </a:lnSpc>
            </a:pPr>
            <a:r>
              <a:rPr lang="en-US" dirty="0" smtClean="0"/>
              <a:t>This </a:t>
            </a:r>
            <a:r>
              <a:rPr lang="en-US" dirty="0"/>
              <a:t>is useful in tasks where one input triggers a sequence of predictions (outputs). </a:t>
            </a:r>
            <a:endParaRPr lang="en-US" dirty="0" smtClean="0"/>
          </a:p>
          <a:p>
            <a:pPr lvl="1">
              <a:lnSpc>
                <a:spcPct val="150000"/>
              </a:lnSpc>
            </a:pPr>
            <a:r>
              <a:rPr lang="en-US" dirty="0" smtClean="0"/>
              <a:t>For </a:t>
            </a:r>
            <a:r>
              <a:rPr lang="en-US" dirty="0"/>
              <a:t>example in image captioning a single image can be used as input to generate a sequence of words as a caption</a:t>
            </a:r>
            <a:r>
              <a:rPr lang="en-US" dirty="0" smtClean="0"/>
              <a:t>.</a:t>
            </a:r>
          </a:p>
          <a:p>
            <a:pPr lvl="1">
              <a:lnSpc>
                <a:spcPct val="150000"/>
              </a:lnSpc>
            </a:pPr>
            <a:endParaRPr lang="en-US" dirty="0"/>
          </a:p>
        </p:txBody>
      </p:sp>
      <p:pic>
        <p:nvPicPr>
          <p:cNvPr id="4" name="Picture 3"/>
          <p:cNvPicPr>
            <a:picLocks noChangeAspect="1"/>
          </p:cNvPicPr>
          <p:nvPr/>
        </p:nvPicPr>
        <p:blipFill>
          <a:blip r:embed="rId2"/>
          <a:stretch>
            <a:fillRect/>
          </a:stretch>
        </p:blipFill>
        <p:spPr>
          <a:xfrm>
            <a:off x="3548418" y="3714892"/>
            <a:ext cx="3985146" cy="2481192"/>
          </a:xfrm>
          <a:prstGeom prst="rect">
            <a:avLst/>
          </a:prstGeom>
        </p:spPr>
      </p:pic>
    </p:spTree>
    <p:extLst>
      <p:ext uri="{BB962C8B-B14F-4D97-AF65-F5344CB8AC3E}">
        <p14:creationId xmlns:p14="http://schemas.microsoft.com/office/powerpoint/2010/main" val="34833178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9460" y="351667"/>
            <a:ext cx="11745036" cy="6226554"/>
          </a:xfrm>
        </p:spPr>
        <p:txBody>
          <a:bodyPr/>
          <a:lstStyle/>
          <a:p>
            <a:pPr algn="just">
              <a:lnSpc>
                <a:spcPct val="150000"/>
              </a:lnSpc>
            </a:pPr>
            <a:r>
              <a:rPr lang="en-US" b="1" dirty="0"/>
              <a:t>Many-to-One </a:t>
            </a:r>
            <a:r>
              <a:rPr lang="en-US" b="1" dirty="0" smtClean="0"/>
              <a:t>RNN</a:t>
            </a:r>
            <a:endParaRPr lang="en-US" dirty="0" smtClean="0"/>
          </a:p>
          <a:p>
            <a:pPr lvl="1" algn="just" fontAlgn="base">
              <a:lnSpc>
                <a:spcPct val="150000"/>
              </a:lnSpc>
            </a:pPr>
            <a:r>
              <a:rPr lang="en-US" dirty="0"/>
              <a:t>The Many-to-One RNN receives a sequence of inputs and generates a single output</a:t>
            </a:r>
            <a:r>
              <a:rPr lang="en-US" dirty="0" smtClean="0"/>
              <a:t>.</a:t>
            </a:r>
          </a:p>
          <a:p>
            <a:pPr lvl="1" algn="just" fontAlgn="base">
              <a:lnSpc>
                <a:spcPct val="150000"/>
              </a:lnSpc>
            </a:pPr>
            <a:r>
              <a:rPr lang="en-US" dirty="0" smtClean="0"/>
              <a:t>This </a:t>
            </a:r>
            <a:r>
              <a:rPr lang="en-US" dirty="0"/>
              <a:t>type is useful when the overall context of the input sequence is needed to make one prediction. </a:t>
            </a:r>
            <a:endParaRPr lang="en-US" dirty="0" smtClean="0"/>
          </a:p>
          <a:p>
            <a:pPr lvl="1" algn="just" fontAlgn="base">
              <a:lnSpc>
                <a:spcPct val="150000"/>
              </a:lnSpc>
            </a:pPr>
            <a:r>
              <a:rPr lang="en-US" dirty="0" smtClean="0"/>
              <a:t>In </a:t>
            </a:r>
            <a:r>
              <a:rPr lang="en-US" dirty="0"/>
              <a:t>sentiment analysis the model receives a sequence of words (like a sentence) and produces a single output like positive, negative or neutral</a:t>
            </a:r>
            <a:r>
              <a:rPr lang="en-US" dirty="0" smtClean="0"/>
              <a:t>.</a:t>
            </a:r>
          </a:p>
          <a:p>
            <a:pPr marL="457200" lvl="1" indent="0" algn="just" fontAlgn="base">
              <a:lnSpc>
                <a:spcPct val="150000"/>
              </a:lnSpc>
              <a:buNone/>
            </a:pPr>
            <a:endParaRPr lang="en-US" dirty="0"/>
          </a:p>
          <a:p>
            <a:pPr marL="457200" lvl="1" indent="0" algn="just" fontAlgn="base">
              <a:lnSpc>
                <a:spcPct val="150000"/>
              </a:lnSpc>
              <a:buNone/>
            </a:pPr>
            <a:endParaRPr lang="en-US" dirty="0"/>
          </a:p>
          <a:p>
            <a:pPr marL="0" indent="0" algn="just">
              <a:lnSpc>
                <a:spcPct val="150000"/>
              </a:lnSpc>
              <a:buNone/>
            </a:pPr>
            <a:endParaRPr lang="en-US" dirty="0"/>
          </a:p>
        </p:txBody>
      </p:sp>
      <p:pic>
        <p:nvPicPr>
          <p:cNvPr id="5" name="Picture 4"/>
          <p:cNvPicPr>
            <a:picLocks noChangeAspect="1"/>
          </p:cNvPicPr>
          <p:nvPr/>
        </p:nvPicPr>
        <p:blipFill>
          <a:blip r:embed="rId2"/>
          <a:stretch>
            <a:fillRect/>
          </a:stretch>
        </p:blipFill>
        <p:spPr>
          <a:xfrm>
            <a:off x="3166281" y="4311271"/>
            <a:ext cx="4312692" cy="2266950"/>
          </a:xfrm>
          <a:prstGeom prst="rect">
            <a:avLst/>
          </a:prstGeom>
        </p:spPr>
      </p:pic>
    </p:spTree>
    <p:extLst>
      <p:ext uri="{BB962C8B-B14F-4D97-AF65-F5344CB8AC3E}">
        <p14:creationId xmlns:p14="http://schemas.microsoft.com/office/powerpoint/2010/main" val="7098786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4050" y="228837"/>
            <a:ext cx="11458433" cy="6458566"/>
          </a:xfrm>
        </p:spPr>
        <p:txBody>
          <a:bodyPr/>
          <a:lstStyle/>
          <a:p>
            <a:pPr algn="just">
              <a:lnSpc>
                <a:spcPct val="150000"/>
              </a:lnSpc>
            </a:pPr>
            <a:r>
              <a:rPr lang="en-US" b="1" dirty="0"/>
              <a:t>Many-to-Many </a:t>
            </a:r>
            <a:r>
              <a:rPr lang="en-US" b="1" dirty="0" smtClean="0"/>
              <a:t>RNN</a:t>
            </a:r>
          </a:p>
          <a:p>
            <a:pPr lvl="1" algn="just">
              <a:lnSpc>
                <a:spcPct val="150000"/>
              </a:lnSpc>
            </a:pPr>
            <a:r>
              <a:rPr lang="en-US" dirty="0"/>
              <a:t>The Many-to-Many RNN type processes a sequence of inputs and generates a sequence of outputs. </a:t>
            </a:r>
            <a:endParaRPr lang="en-US" dirty="0" smtClean="0"/>
          </a:p>
          <a:p>
            <a:pPr lvl="1" algn="just">
              <a:lnSpc>
                <a:spcPct val="150000"/>
              </a:lnSpc>
            </a:pPr>
            <a:r>
              <a:rPr lang="en-US" dirty="0" smtClean="0"/>
              <a:t>In </a:t>
            </a:r>
            <a:r>
              <a:rPr lang="en-US" dirty="0"/>
              <a:t>language translation task a sequence of words in one language is given as input and a corresponding </a:t>
            </a:r>
            <a:r>
              <a:rPr lang="en-US" dirty="0" smtClean="0"/>
              <a:t>sequence </a:t>
            </a:r>
            <a:r>
              <a:rPr lang="en-US" dirty="0"/>
              <a:t>in another language is generated as output</a:t>
            </a:r>
            <a:r>
              <a:rPr lang="en-US" dirty="0" smtClean="0"/>
              <a:t>.</a:t>
            </a:r>
          </a:p>
          <a:p>
            <a:pPr marL="457200" lvl="1" indent="0" algn="just">
              <a:lnSpc>
                <a:spcPct val="150000"/>
              </a:lnSpc>
              <a:buNone/>
            </a:pPr>
            <a:endParaRPr lang="en-US" dirty="0"/>
          </a:p>
        </p:txBody>
      </p:sp>
      <p:pic>
        <p:nvPicPr>
          <p:cNvPr id="4" name="Picture 3"/>
          <p:cNvPicPr>
            <a:picLocks noChangeAspect="1"/>
          </p:cNvPicPr>
          <p:nvPr/>
        </p:nvPicPr>
        <p:blipFill>
          <a:blip r:embed="rId2"/>
          <a:stretch>
            <a:fillRect/>
          </a:stretch>
        </p:blipFill>
        <p:spPr>
          <a:xfrm>
            <a:off x="3207223" y="3673948"/>
            <a:ext cx="4763069" cy="2876977"/>
          </a:xfrm>
          <a:prstGeom prst="rect">
            <a:avLst/>
          </a:prstGeom>
        </p:spPr>
      </p:pic>
    </p:spTree>
    <p:extLst>
      <p:ext uri="{BB962C8B-B14F-4D97-AF65-F5344CB8AC3E}">
        <p14:creationId xmlns:p14="http://schemas.microsoft.com/office/powerpoint/2010/main" val="33257153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472" y="214999"/>
            <a:ext cx="10515600" cy="685753"/>
          </a:xfrm>
        </p:spPr>
        <p:txBody>
          <a:bodyPr>
            <a:normAutofit fontScale="90000"/>
          </a:bodyPr>
          <a:lstStyle/>
          <a:p>
            <a:r>
              <a:rPr lang="en-US" b="1" dirty="0"/>
              <a:t>Variants of Recurrent Neural Networks </a:t>
            </a:r>
            <a:endParaRPr lang="en-US" dirty="0"/>
          </a:p>
        </p:txBody>
      </p:sp>
      <p:sp>
        <p:nvSpPr>
          <p:cNvPr id="3" name="Content Placeholder 2"/>
          <p:cNvSpPr>
            <a:spLocks noGrp="1"/>
          </p:cNvSpPr>
          <p:nvPr>
            <p:ph idx="1"/>
          </p:nvPr>
        </p:nvSpPr>
        <p:spPr>
          <a:xfrm>
            <a:off x="401472" y="996287"/>
            <a:ext cx="11594910" cy="5663820"/>
          </a:xfrm>
        </p:spPr>
        <p:txBody>
          <a:bodyPr/>
          <a:lstStyle/>
          <a:p>
            <a:pPr algn="just">
              <a:lnSpc>
                <a:spcPct val="150000"/>
              </a:lnSpc>
            </a:pPr>
            <a:r>
              <a:rPr lang="en-US" b="1" dirty="0"/>
              <a:t>Vanilla RNN</a:t>
            </a:r>
          </a:p>
          <a:p>
            <a:pPr lvl="1" algn="just">
              <a:lnSpc>
                <a:spcPct val="150000"/>
              </a:lnSpc>
            </a:pPr>
            <a:r>
              <a:rPr lang="en-US" dirty="0"/>
              <a:t>This simplest form of RNN consists of a single hidden layer where weights are shared across time steps. </a:t>
            </a:r>
            <a:endParaRPr lang="en-US" dirty="0" smtClean="0"/>
          </a:p>
          <a:p>
            <a:pPr lvl="1" algn="just">
              <a:lnSpc>
                <a:spcPct val="150000"/>
              </a:lnSpc>
            </a:pPr>
            <a:r>
              <a:rPr lang="en-US" dirty="0" smtClean="0"/>
              <a:t>Vanilla </a:t>
            </a:r>
            <a:r>
              <a:rPr lang="en-US" dirty="0"/>
              <a:t>RNNs are suitable for learning short-term dependencies but are limited by the vanishing gradient problem, which hampers long-sequence learning</a:t>
            </a:r>
            <a:r>
              <a:rPr lang="en-US" dirty="0" smtClean="0"/>
              <a:t>.</a:t>
            </a:r>
          </a:p>
          <a:p>
            <a:pPr algn="just">
              <a:lnSpc>
                <a:spcPct val="150000"/>
              </a:lnSpc>
            </a:pPr>
            <a:r>
              <a:rPr lang="en-US" b="1" dirty="0"/>
              <a:t>Bidirectional RNNs</a:t>
            </a:r>
          </a:p>
          <a:p>
            <a:pPr lvl="1" algn="just">
              <a:lnSpc>
                <a:spcPct val="150000"/>
              </a:lnSpc>
            </a:pPr>
            <a:r>
              <a:rPr lang="en-US" dirty="0"/>
              <a:t>A Bidirectional Recurrent Neural Network (BRNN) is an extension of the traditional RNN that processes sequential data in both forward and backward directions</a:t>
            </a:r>
          </a:p>
        </p:txBody>
      </p:sp>
    </p:spTree>
    <p:extLst>
      <p:ext uri="{BB962C8B-B14F-4D97-AF65-F5344CB8AC3E}">
        <p14:creationId xmlns:p14="http://schemas.microsoft.com/office/powerpoint/2010/main" val="16904838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8364" y="272955"/>
            <a:ext cx="11135436" cy="6291618"/>
          </a:xfrm>
        </p:spPr>
        <p:txBody>
          <a:bodyPr>
            <a:normAutofit/>
          </a:bodyPr>
          <a:lstStyle/>
          <a:p>
            <a:pPr algn="just">
              <a:lnSpc>
                <a:spcPct val="150000"/>
              </a:lnSpc>
            </a:pPr>
            <a:r>
              <a:rPr lang="en-US" dirty="0"/>
              <a:t>The key difference is that a BRNN also has a backward hidden layer which processes the sequence in reverse, updating the hidden state based on the current input and </a:t>
            </a:r>
            <a:r>
              <a:rPr lang="en-US" dirty="0" smtClean="0"/>
              <a:t>the </a:t>
            </a:r>
            <a:r>
              <a:rPr lang="en-US" dirty="0"/>
              <a:t>hidden state of the next time step</a:t>
            </a:r>
            <a:r>
              <a:rPr lang="en-US" dirty="0" smtClean="0"/>
              <a:t>.</a:t>
            </a:r>
          </a:p>
          <a:p>
            <a:pPr algn="just">
              <a:lnSpc>
                <a:spcPct val="150000"/>
              </a:lnSpc>
            </a:pPr>
            <a:r>
              <a:rPr lang="en-US" dirty="0"/>
              <a:t>BRNNs improve accuracy by considering both the past and future context. This is because the two hidden layers </a:t>
            </a:r>
            <a:r>
              <a:rPr lang="en-US" dirty="0" err="1"/>
              <a:t>i.e</a:t>
            </a:r>
            <a:r>
              <a:rPr lang="en-US" dirty="0"/>
              <a:t> forward and backward complement each other and predictions are made using the combined outputs of both layers</a:t>
            </a:r>
            <a:r>
              <a:rPr lang="en-US" dirty="0" smtClean="0"/>
              <a:t>.</a:t>
            </a:r>
          </a:p>
          <a:p>
            <a:pPr algn="just">
              <a:lnSpc>
                <a:spcPct val="150000"/>
              </a:lnSpc>
            </a:pPr>
            <a:r>
              <a:rPr lang="en-US" dirty="0"/>
              <a:t>Example:</a:t>
            </a:r>
          </a:p>
          <a:p>
            <a:pPr algn="just">
              <a:lnSpc>
                <a:spcPct val="150000"/>
              </a:lnSpc>
            </a:pPr>
            <a:r>
              <a:rPr lang="en-US" dirty="0"/>
              <a:t>Consider the sentence: "I like apple. It is very healthy."</a:t>
            </a:r>
          </a:p>
        </p:txBody>
      </p:sp>
    </p:spTree>
    <p:extLst>
      <p:ext uri="{BB962C8B-B14F-4D97-AF65-F5344CB8AC3E}">
        <p14:creationId xmlns:p14="http://schemas.microsoft.com/office/powerpoint/2010/main" val="26604062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Bi-directional Recurrent Neural Net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672" y="159792"/>
            <a:ext cx="11081982" cy="6438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37226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3899" y="409432"/>
            <a:ext cx="11505062" cy="6196083"/>
          </a:xfrm>
        </p:spPr>
        <p:txBody>
          <a:bodyPr>
            <a:normAutofit/>
          </a:bodyPr>
          <a:lstStyle/>
          <a:p>
            <a:pPr marL="0" indent="0" algn="just">
              <a:lnSpc>
                <a:spcPct val="150000"/>
              </a:lnSpc>
              <a:buNone/>
            </a:pPr>
            <a:r>
              <a:rPr lang="en-US" sz="3200" b="1" dirty="0"/>
              <a:t>Working of Bidirectional Recurrent Neural </a:t>
            </a:r>
            <a:r>
              <a:rPr lang="en-US" sz="3200" b="1" dirty="0" smtClean="0"/>
              <a:t>Networks</a:t>
            </a:r>
          </a:p>
          <a:p>
            <a:pPr algn="just">
              <a:lnSpc>
                <a:spcPct val="150000"/>
              </a:lnSpc>
            </a:pPr>
            <a:r>
              <a:rPr lang="en-US" sz="3200" b="1" dirty="0"/>
              <a:t>Inputting a Sequence</a:t>
            </a:r>
            <a:r>
              <a:rPr lang="en-US" sz="3200" dirty="0"/>
              <a:t>: A sequence of data points each represented as a vector with the same dimensionality is fed into the </a:t>
            </a:r>
            <a:r>
              <a:rPr lang="en-US" sz="3200" dirty="0" smtClean="0"/>
              <a:t>BRNN</a:t>
            </a:r>
            <a:r>
              <a:rPr lang="en-US" sz="3200" b="1" dirty="0" smtClean="0"/>
              <a:t>.</a:t>
            </a:r>
          </a:p>
          <a:p>
            <a:pPr algn="just" fontAlgn="base">
              <a:lnSpc>
                <a:spcPct val="150000"/>
              </a:lnSpc>
            </a:pPr>
            <a:r>
              <a:rPr lang="en-US" sz="3200" b="1" dirty="0"/>
              <a:t>Dual Processing</a:t>
            </a:r>
            <a:r>
              <a:rPr lang="en-US" sz="3200" dirty="0"/>
              <a:t>: BRNNs process data in two directions:</a:t>
            </a:r>
          </a:p>
          <a:p>
            <a:pPr lvl="1" algn="just" fontAlgn="base">
              <a:lnSpc>
                <a:spcPct val="150000"/>
              </a:lnSpc>
            </a:pPr>
            <a:r>
              <a:rPr lang="en-US" sz="2800" b="1" dirty="0"/>
              <a:t>Forward direction</a:t>
            </a:r>
            <a:r>
              <a:rPr lang="en-US" sz="2800" dirty="0"/>
              <a:t>: The hidden state at each time step is determined by the current input and the previous hidden state.</a:t>
            </a:r>
          </a:p>
          <a:p>
            <a:pPr lvl="1" algn="just" fontAlgn="base">
              <a:lnSpc>
                <a:spcPct val="150000"/>
              </a:lnSpc>
            </a:pPr>
            <a:r>
              <a:rPr lang="en-US" sz="2800" b="1" dirty="0"/>
              <a:t>Backward direction</a:t>
            </a:r>
            <a:r>
              <a:rPr lang="en-US" sz="2800" dirty="0"/>
              <a:t>: The hidden state at each time step is influenced by the current input and the next hidden state</a:t>
            </a:r>
            <a:r>
              <a:rPr lang="en-US" sz="2800" dirty="0" smtClean="0"/>
              <a:t>.</a:t>
            </a:r>
          </a:p>
          <a:p>
            <a:pPr marL="0" indent="0" algn="just" fontAlgn="base">
              <a:lnSpc>
                <a:spcPct val="150000"/>
              </a:lnSpc>
              <a:buNone/>
            </a:pPr>
            <a:endParaRPr lang="en-US" sz="3200" dirty="0"/>
          </a:p>
          <a:p>
            <a:pPr algn="just">
              <a:lnSpc>
                <a:spcPct val="150000"/>
              </a:lnSpc>
            </a:pPr>
            <a:endParaRPr lang="en-US" sz="3200" b="1" dirty="0"/>
          </a:p>
          <a:p>
            <a:pPr algn="just">
              <a:lnSpc>
                <a:spcPct val="150000"/>
              </a:lnSpc>
            </a:pPr>
            <a:endParaRPr lang="en-US" sz="3200" dirty="0"/>
          </a:p>
        </p:txBody>
      </p:sp>
    </p:spTree>
    <p:extLst>
      <p:ext uri="{BB962C8B-B14F-4D97-AF65-F5344CB8AC3E}">
        <p14:creationId xmlns:p14="http://schemas.microsoft.com/office/powerpoint/2010/main" val="1272239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6880" y="447200"/>
            <a:ext cx="11676797" cy="6158315"/>
          </a:xfrm>
        </p:spPr>
        <p:txBody>
          <a:bodyPr/>
          <a:lstStyle/>
          <a:p>
            <a:pPr algn="just" fontAlgn="base">
              <a:lnSpc>
                <a:spcPct val="150000"/>
              </a:lnSpc>
            </a:pPr>
            <a:r>
              <a:rPr lang="en-US" b="1" dirty="0"/>
              <a:t>Computing the Hidden State</a:t>
            </a:r>
            <a:r>
              <a:rPr lang="en-US" dirty="0"/>
              <a:t>: A non-linear activation function is applied to the weighted sum of the input and the previous hidden state creating a memory mechanism that allows the network to retain information from earlier steps.</a:t>
            </a:r>
          </a:p>
          <a:p>
            <a:pPr algn="just" fontAlgn="base">
              <a:lnSpc>
                <a:spcPct val="150000"/>
              </a:lnSpc>
            </a:pPr>
            <a:r>
              <a:rPr lang="en-US" b="1" dirty="0"/>
              <a:t>Determining the Output</a:t>
            </a:r>
            <a:r>
              <a:rPr lang="en-US" dirty="0"/>
              <a:t>: A non-linear activation function is applied to the weighted sum of the hidden state and output weights to compute the output at each step. This output can either be:</a:t>
            </a:r>
          </a:p>
          <a:p>
            <a:pPr lvl="1" algn="just" fontAlgn="base">
              <a:lnSpc>
                <a:spcPct val="150000"/>
              </a:lnSpc>
            </a:pPr>
            <a:r>
              <a:rPr lang="en-US" dirty="0"/>
              <a:t>The final output of the network.</a:t>
            </a:r>
          </a:p>
          <a:p>
            <a:pPr lvl="1" algn="just" fontAlgn="base">
              <a:lnSpc>
                <a:spcPct val="150000"/>
              </a:lnSpc>
            </a:pPr>
            <a:r>
              <a:rPr lang="en-US" dirty="0"/>
              <a:t>An input to another layer for further processing.</a:t>
            </a:r>
          </a:p>
          <a:p>
            <a:pPr algn="just">
              <a:lnSpc>
                <a:spcPct val="150000"/>
              </a:lnSpc>
            </a:pPr>
            <a:endParaRPr lang="en-US" dirty="0"/>
          </a:p>
        </p:txBody>
      </p:sp>
    </p:spTree>
    <p:extLst>
      <p:ext uri="{BB962C8B-B14F-4D97-AF65-F5344CB8AC3E}">
        <p14:creationId xmlns:p14="http://schemas.microsoft.com/office/powerpoint/2010/main" val="30173467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936" y="160409"/>
            <a:ext cx="10630468" cy="672105"/>
          </a:xfrm>
        </p:spPr>
        <p:txBody>
          <a:bodyPr>
            <a:normAutofit fontScale="90000"/>
          </a:bodyPr>
          <a:lstStyle/>
          <a:p>
            <a:pPr algn="ctr">
              <a:lnSpc>
                <a:spcPct val="150000"/>
              </a:lnSpc>
            </a:pPr>
            <a:r>
              <a:rPr lang="en-US" b="1" dirty="0"/>
              <a:t>LSTM (Long Short-Term Memory)</a:t>
            </a:r>
            <a:endParaRPr lang="en-US" b="1" dirty="0"/>
          </a:p>
        </p:txBody>
      </p:sp>
      <p:sp>
        <p:nvSpPr>
          <p:cNvPr id="3" name="Content Placeholder 2"/>
          <p:cNvSpPr>
            <a:spLocks noGrp="1"/>
          </p:cNvSpPr>
          <p:nvPr>
            <p:ph idx="1"/>
          </p:nvPr>
        </p:nvSpPr>
        <p:spPr>
          <a:xfrm>
            <a:off x="204716" y="968991"/>
            <a:ext cx="11709779" cy="5595582"/>
          </a:xfrm>
        </p:spPr>
        <p:txBody>
          <a:bodyPr/>
          <a:lstStyle/>
          <a:p>
            <a:pPr algn="just">
              <a:lnSpc>
                <a:spcPct val="150000"/>
              </a:lnSpc>
            </a:pPr>
            <a:r>
              <a:rPr lang="en-US" dirty="0"/>
              <a:t>LSTM (Long Short-Term Memory) is </a:t>
            </a:r>
            <a:r>
              <a:rPr lang="en-US" dirty="0"/>
              <a:t>a type of recurrent neural network (RNN) in deep learning that is specifically designed to handle sequential data by using a memory cell </a:t>
            </a:r>
            <a:r>
              <a:rPr lang="en-US" dirty="0" smtClean="0"/>
              <a:t>and </a:t>
            </a:r>
            <a:r>
              <a:rPr lang="en-US" dirty="0"/>
              <a:t>a system of gates to selectively remember or forget information over long </a:t>
            </a:r>
            <a:r>
              <a:rPr lang="en-US" dirty="0" smtClean="0"/>
              <a:t>periods.</a:t>
            </a:r>
          </a:p>
          <a:p>
            <a:pPr algn="just" fontAlgn="base"/>
            <a:r>
              <a:rPr lang="en-US" dirty="0"/>
              <a:t>LSTM architectures involves the memory cell which is controlled by three gates:</a:t>
            </a:r>
          </a:p>
          <a:p>
            <a:pPr lvl="1" algn="just" fontAlgn="base">
              <a:lnSpc>
                <a:spcPct val="150000"/>
              </a:lnSpc>
            </a:pPr>
            <a:r>
              <a:rPr lang="en-US" b="1" dirty="0"/>
              <a:t>Input gate</a:t>
            </a:r>
            <a:r>
              <a:rPr lang="en-US" dirty="0"/>
              <a:t>: Controls what information is added to the memory cell.</a:t>
            </a:r>
          </a:p>
          <a:p>
            <a:pPr lvl="1" algn="just" fontAlgn="base">
              <a:lnSpc>
                <a:spcPct val="150000"/>
              </a:lnSpc>
            </a:pPr>
            <a:r>
              <a:rPr lang="en-US" b="1" dirty="0"/>
              <a:t>Forget gate</a:t>
            </a:r>
            <a:r>
              <a:rPr lang="en-US" dirty="0"/>
              <a:t>: Determines what information is removed from the memory cell.</a:t>
            </a:r>
          </a:p>
          <a:p>
            <a:pPr lvl="1" algn="just" fontAlgn="base">
              <a:lnSpc>
                <a:spcPct val="150000"/>
              </a:lnSpc>
            </a:pPr>
            <a:r>
              <a:rPr lang="en-US" b="1" dirty="0"/>
              <a:t>Output gate</a:t>
            </a:r>
            <a:r>
              <a:rPr lang="en-US" dirty="0"/>
              <a:t>: Controls what information is output from the memory cell.</a:t>
            </a:r>
          </a:p>
          <a:p>
            <a:pPr algn="just">
              <a:lnSpc>
                <a:spcPct val="150000"/>
              </a:lnSpc>
            </a:pPr>
            <a:endParaRPr lang="en-US" dirty="0"/>
          </a:p>
        </p:txBody>
      </p:sp>
    </p:spTree>
    <p:extLst>
      <p:ext uri="{BB962C8B-B14F-4D97-AF65-F5344CB8AC3E}">
        <p14:creationId xmlns:p14="http://schemas.microsoft.com/office/powerpoint/2010/main" val="250225527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580028" y="417619"/>
            <a:ext cx="10815853" cy="5450918"/>
          </a:xfrm>
          <a:prstGeom prst="rect">
            <a:avLst/>
          </a:prstGeom>
        </p:spPr>
      </p:pic>
    </p:spTree>
    <p:extLst>
      <p:ext uri="{BB962C8B-B14F-4D97-AF65-F5344CB8AC3E}">
        <p14:creationId xmlns:p14="http://schemas.microsoft.com/office/powerpoint/2010/main" val="36362128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429905" y="513154"/>
            <a:ext cx="11092904" cy="5546452"/>
          </a:xfrm>
          <a:prstGeom prst="rect">
            <a:avLst/>
          </a:prstGeom>
        </p:spPr>
      </p:pic>
    </p:spTree>
    <p:extLst>
      <p:ext uri="{BB962C8B-B14F-4D97-AF65-F5344CB8AC3E}">
        <p14:creationId xmlns:p14="http://schemas.microsoft.com/office/powerpoint/2010/main" val="32203216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528" y="297075"/>
            <a:ext cx="11622206" cy="6267497"/>
          </a:xfrm>
        </p:spPr>
        <p:txBody>
          <a:bodyPr/>
          <a:lstStyle/>
          <a:p>
            <a:pPr algn="just">
              <a:lnSpc>
                <a:spcPct val="150000"/>
              </a:lnSpc>
            </a:pPr>
            <a:r>
              <a:rPr lang="en-US" b="1" dirty="0"/>
              <a:t>Memory Cell:</a:t>
            </a:r>
            <a:r>
              <a:rPr lang="en-US" dirty="0"/>
              <a:t> This is the core of the LSTM. It has two states that are passed from one time step to the next</a:t>
            </a:r>
            <a:r>
              <a:rPr lang="en-US" dirty="0" smtClean="0"/>
              <a:t>:</a:t>
            </a:r>
          </a:p>
          <a:p>
            <a:pPr lvl="1" algn="just">
              <a:lnSpc>
                <a:spcPct val="150000"/>
              </a:lnSpc>
            </a:pPr>
            <a:r>
              <a:rPr lang="en-US" b="1" dirty="0" smtClean="0"/>
              <a:t>Cell </a:t>
            </a:r>
            <a:r>
              <a:rPr lang="en-US" b="1" dirty="0"/>
              <a:t>State:</a:t>
            </a:r>
            <a:r>
              <a:rPr lang="en-US" dirty="0"/>
              <a:t> Carries the "long-term memory," a running summary of all past information.</a:t>
            </a:r>
          </a:p>
          <a:p>
            <a:pPr lvl="1" algn="just">
              <a:lnSpc>
                <a:spcPct val="150000"/>
              </a:lnSpc>
            </a:pPr>
            <a:r>
              <a:rPr lang="en-US" b="1" dirty="0"/>
              <a:t>Hidden State:</a:t>
            </a:r>
            <a:r>
              <a:rPr lang="en-US" dirty="0"/>
              <a:t> Carries the "short-term memory," which is the output of the last time step. </a:t>
            </a:r>
          </a:p>
          <a:p>
            <a:pPr marL="0" indent="0" algn="just">
              <a:lnSpc>
                <a:spcPct val="150000"/>
              </a:lnSpc>
              <a:buNone/>
            </a:pPr>
            <a:endParaRPr lang="en-US" dirty="0"/>
          </a:p>
          <a:p>
            <a:pPr lvl="1" algn="just">
              <a:lnSpc>
                <a:spcPct val="150000"/>
              </a:lnSpc>
            </a:pPr>
            <a:endParaRPr lang="en-US" dirty="0"/>
          </a:p>
        </p:txBody>
      </p:sp>
    </p:spTree>
    <p:extLst>
      <p:ext uri="{BB962C8B-B14F-4D97-AF65-F5344CB8AC3E}">
        <p14:creationId xmlns:p14="http://schemas.microsoft.com/office/powerpoint/2010/main" val="328986341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2954" y="286603"/>
            <a:ext cx="8993875" cy="6277969"/>
          </a:xfrm>
        </p:spPr>
        <p:txBody>
          <a:bodyPr>
            <a:normAutofit lnSpcReduction="10000"/>
          </a:bodyPr>
          <a:lstStyle/>
          <a:p>
            <a:pPr algn="just">
              <a:lnSpc>
                <a:spcPct val="150000"/>
              </a:lnSpc>
            </a:pPr>
            <a:r>
              <a:rPr lang="en-US" dirty="0" smtClean="0"/>
              <a:t>Forget Gate :</a:t>
            </a:r>
          </a:p>
          <a:p>
            <a:pPr lvl="1" algn="just">
              <a:lnSpc>
                <a:spcPct val="150000"/>
              </a:lnSpc>
            </a:pPr>
            <a:r>
              <a:rPr lang="en-US" dirty="0"/>
              <a:t>The information that is no longer useful in the cell state is removed with the forget gate. </a:t>
            </a:r>
            <a:endParaRPr lang="en-US" dirty="0" smtClean="0"/>
          </a:p>
          <a:p>
            <a:pPr lvl="1" algn="just">
              <a:lnSpc>
                <a:spcPct val="150000"/>
              </a:lnSpc>
            </a:pPr>
            <a:r>
              <a:rPr lang="en-US" dirty="0" smtClean="0"/>
              <a:t>Two </a:t>
            </a:r>
            <a:r>
              <a:rPr lang="en-US" dirty="0"/>
              <a:t>inputs </a:t>
            </a:r>
            <a:r>
              <a:rPr lang="en-US" dirty="0" err="1" smtClean="0"/>
              <a:t>xt</a:t>
            </a:r>
            <a:r>
              <a:rPr lang="en-US" dirty="0" smtClean="0"/>
              <a:t>​</a:t>
            </a:r>
            <a:r>
              <a:rPr lang="en-US" dirty="0"/>
              <a:t> (input at the particular time) and </a:t>
            </a:r>
            <a:r>
              <a:rPr lang="en-US" i="1" dirty="0" smtClean="0"/>
              <a:t>ht</a:t>
            </a:r>
            <a:r>
              <a:rPr lang="en-US" dirty="0"/>
              <a:t>−1​ (previous cell output) are fed to the gate and multiplied with weight matrices followed by the addition of bias. </a:t>
            </a:r>
            <a:endParaRPr lang="en-US" dirty="0" smtClean="0"/>
          </a:p>
          <a:p>
            <a:pPr lvl="1" algn="just">
              <a:lnSpc>
                <a:spcPct val="150000"/>
              </a:lnSpc>
            </a:pPr>
            <a:r>
              <a:rPr lang="en-US" dirty="0" smtClean="0"/>
              <a:t>The </a:t>
            </a:r>
            <a:r>
              <a:rPr lang="en-US" dirty="0"/>
              <a:t>resultant is passed through sigmoid activation function which gives output in range of [0,1]. </a:t>
            </a:r>
            <a:endParaRPr lang="en-US" dirty="0" smtClean="0"/>
          </a:p>
          <a:p>
            <a:pPr lvl="1" algn="just">
              <a:lnSpc>
                <a:spcPct val="150000"/>
              </a:lnSpc>
            </a:pPr>
            <a:r>
              <a:rPr lang="en-US" dirty="0" smtClean="0"/>
              <a:t>If </a:t>
            </a:r>
            <a:r>
              <a:rPr lang="en-US" dirty="0"/>
              <a:t>for a particular cell state the output is 0 or near to 0, the piece of information is forgotten and for output of 1 or near to 1, the information is retained for future use</a:t>
            </a:r>
            <a:r>
              <a:rPr lang="en-US" dirty="0" smtClean="0"/>
              <a:t>.</a:t>
            </a:r>
          </a:p>
          <a:p>
            <a:pPr algn="just">
              <a:lnSpc>
                <a:spcPct val="150000"/>
              </a:lnSpc>
            </a:pPr>
            <a:endParaRPr lang="en-US" dirty="0" smtClean="0"/>
          </a:p>
        </p:txBody>
      </p:sp>
      <p:pic>
        <p:nvPicPr>
          <p:cNvPr id="4" name="Picture 3"/>
          <p:cNvPicPr>
            <a:picLocks noChangeAspect="1"/>
          </p:cNvPicPr>
          <p:nvPr/>
        </p:nvPicPr>
        <p:blipFill>
          <a:blip r:embed="rId2"/>
          <a:stretch>
            <a:fillRect/>
          </a:stretch>
        </p:blipFill>
        <p:spPr>
          <a:xfrm>
            <a:off x="9867331" y="286603"/>
            <a:ext cx="2051714" cy="5923128"/>
          </a:xfrm>
          <a:prstGeom prst="rect">
            <a:avLst/>
          </a:prstGeom>
        </p:spPr>
      </p:pic>
    </p:spTree>
    <p:extLst>
      <p:ext uri="{BB962C8B-B14F-4D97-AF65-F5344CB8AC3E}">
        <p14:creationId xmlns:p14="http://schemas.microsoft.com/office/powerpoint/2010/main" val="24859609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0745" y="244025"/>
            <a:ext cx="8890551" cy="6388787"/>
          </a:xfrm>
        </p:spPr>
        <p:txBody>
          <a:bodyPr>
            <a:normAutofit lnSpcReduction="10000"/>
          </a:bodyPr>
          <a:lstStyle/>
          <a:p>
            <a:pPr algn="just">
              <a:lnSpc>
                <a:spcPct val="150000"/>
              </a:lnSpc>
            </a:pPr>
            <a:r>
              <a:rPr lang="en-US" dirty="0" smtClean="0"/>
              <a:t>Input Gate : </a:t>
            </a:r>
          </a:p>
          <a:p>
            <a:pPr lvl="1" algn="just">
              <a:lnSpc>
                <a:spcPct val="150000"/>
              </a:lnSpc>
            </a:pPr>
            <a:r>
              <a:rPr lang="en-US" dirty="0" smtClean="0"/>
              <a:t>The </a:t>
            </a:r>
            <a:r>
              <a:rPr lang="en-US" dirty="0"/>
              <a:t>addition of useful information to the cell state is done by the input gate. </a:t>
            </a:r>
            <a:endParaRPr lang="en-US" dirty="0" smtClean="0"/>
          </a:p>
          <a:p>
            <a:pPr lvl="1" algn="just">
              <a:lnSpc>
                <a:spcPct val="150000"/>
              </a:lnSpc>
            </a:pPr>
            <a:r>
              <a:rPr lang="en-US" dirty="0" smtClean="0"/>
              <a:t>First </a:t>
            </a:r>
            <a:r>
              <a:rPr lang="en-US" dirty="0"/>
              <a:t>the information is regulated using the sigmoid function and filter the values to be remembered similar to the forget gate using inputs </a:t>
            </a:r>
            <a:r>
              <a:rPr lang="en-US" i="1" dirty="0" smtClean="0"/>
              <a:t>ht</a:t>
            </a:r>
            <a:r>
              <a:rPr lang="en-US" dirty="0"/>
              <a:t>−1</a:t>
            </a:r>
            <a:r>
              <a:rPr lang="en-US" dirty="0" smtClean="0"/>
              <a:t>​ and</a:t>
            </a:r>
            <a:r>
              <a:rPr lang="en-US" dirty="0"/>
              <a:t> </a:t>
            </a:r>
            <a:r>
              <a:rPr lang="en-US" i="1" dirty="0" err="1" smtClean="0"/>
              <a:t>xt</a:t>
            </a:r>
            <a:r>
              <a:rPr lang="en-US" dirty="0"/>
              <a:t>​</a:t>
            </a:r>
            <a:r>
              <a:rPr lang="en-US" dirty="0" smtClean="0"/>
              <a:t>.</a:t>
            </a:r>
          </a:p>
          <a:p>
            <a:pPr lvl="1" algn="just">
              <a:lnSpc>
                <a:spcPct val="150000"/>
              </a:lnSpc>
            </a:pPr>
            <a:r>
              <a:rPr lang="en-US" dirty="0" smtClean="0"/>
              <a:t>Then</a:t>
            </a:r>
            <a:r>
              <a:rPr lang="en-US" dirty="0"/>
              <a:t>, a vector is created using</a:t>
            </a:r>
            <a:r>
              <a:rPr lang="en-US" i="1" dirty="0"/>
              <a:t> </a:t>
            </a:r>
            <a:r>
              <a:rPr lang="en-US" i="1" dirty="0" err="1"/>
              <a:t>tanh</a:t>
            </a:r>
            <a:r>
              <a:rPr lang="en-US" i="1" dirty="0"/>
              <a:t> </a:t>
            </a:r>
            <a:r>
              <a:rPr lang="en-US" dirty="0"/>
              <a:t>function that gives an output from -1 to +1 which contains all the possible values from ht−</a:t>
            </a:r>
            <a:r>
              <a:rPr lang="en-US" dirty="0" smtClean="0"/>
              <a:t>1​</a:t>
            </a:r>
            <a:r>
              <a:rPr lang="en-US" dirty="0"/>
              <a:t> and </a:t>
            </a:r>
            <a:r>
              <a:rPr lang="en-US" dirty="0" err="1" smtClean="0"/>
              <a:t>xt</a:t>
            </a:r>
            <a:r>
              <a:rPr lang="en-US" dirty="0" smtClean="0"/>
              <a:t>​</a:t>
            </a:r>
            <a:r>
              <a:rPr lang="en-US" dirty="0"/>
              <a:t>. </a:t>
            </a:r>
            <a:endParaRPr lang="en-US" dirty="0" smtClean="0"/>
          </a:p>
          <a:p>
            <a:pPr lvl="1" algn="just">
              <a:lnSpc>
                <a:spcPct val="150000"/>
              </a:lnSpc>
            </a:pPr>
            <a:r>
              <a:rPr lang="en-US" dirty="0" smtClean="0"/>
              <a:t>At </a:t>
            </a:r>
            <a:r>
              <a:rPr lang="en-US" dirty="0"/>
              <a:t>last the values of the vector and the regulated values are multiplied to obtain the useful information. </a:t>
            </a:r>
            <a:endParaRPr lang="en-US" dirty="0"/>
          </a:p>
        </p:txBody>
      </p:sp>
      <p:pic>
        <p:nvPicPr>
          <p:cNvPr id="5" name="Picture 4"/>
          <p:cNvPicPr>
            <a:picLocks noChangeAspect="1"/>
          </p:cNvPicPr>
          <p:nvPr/>
        </p:nvPicPr>
        <p:blipFill>
          <a:blip r:embed="rId2"/>
          <a:stretch>
            <a:fillRect/>
          </a:stretch>
        </p:blipFill>
        <p:spPr>
          <a:xfrm>
            <a:off x="9539643" y="244025"/>
            <a:ext cx="2388500" cy="6252309"/>
          </a:xfrm>
          <a:prstGeom prst="rect">
            <a:avLst/>
          </a:prstGeom>
        </p:spPr>
      </p:pic>
    </p:spTree>
    <p:extLst>
      <p:ext uri="{BB962C8B-B14F-4D97-AF65-F5344CB8AC3E}">
        <p14:creationId xmlns:p14="http://schemas.microsoft.com/office/powerpoint/2010/main" val="2753826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2956" y="327546"/>
            <a:ext cx="8679976" cy="6250675"/>
          </a:xfrm>
        </p:spPr>
        <p:txBody>
          <a:bodyPr/>
          <a:lstStyle/>
          <a:p>
            <a:pPr marL="0" indent="0" algn="just">
              <a:buNone/>
            </a:pPr>
            <a:r>
              <a:rPr lang="en-US" b="1" dirty="0"/>
              <a:t>Output </a:t>
            </a:r>
            <a:r>
              <a:rPr lang="en-US" b="1" dirty="0" smtClean="0"/>
              <a:t>gate</a:t>
            </a:r>
          </a:p>
          <a:p>
            <a:pPr algn="just"/>
            <a:r>
              <a:rPr lang="en-US" dirty="0"/>
              <a:t>The output gate is responsible for deciding what part of the current cell state should be sent as the hidden state (output) for this time step</a:t>
            </a:r>
            <a:r>
              <a:rPr lang="en-US" dirty="0" smtClean="0"/>
              <a:t>.</a:t>
            </a:r>
          </a:p>
          <a:p>
            <a:pPr algn="just"/>
            <a:r>
              <a:rPr lang="en-US" dirty="0" smtClean="0"/>
              <a:t>First</a:t>
            </a:r>
            <a:r>
              <a:rPr lang="en-US" dirty="0"/>
              <a:t>, the gate uses a sigmoid function to determine which information from the current cell state will be output. </a:t>
            </a:r>
            <a:endParaRPr lang="en-US" dirty="0" smtClean="0"/>
          </a:p>
          <a:p>
            <a:pPr algn="just"/>
            <a:r>
              <a:rPr lang="en-US" dirty="0" smtClean="0"/>
              <a:t>This </a:t>
            </a:r>
            <a:r>
              <a:rPr lang="en-US" dirty="0"/>
              <a:t>is done using the previous hidden state ht−</a:t>
            </a:r>
            <a:r>
              <a:rPr lang="en-US" dirty="0" smtClean="0"/>
              <a:t>1​​ </a:t>
            </a:r>
            <a:r>
              <a:rPr lang="en-US" dirty="0"/>
              <a:t>and the current input </a:t>
            </a:r>
            <a:r>
              <a:rPr lang="en-US" dirty="0" err="1" smtClean="0"/>
              <a:t>xt</a:t>
            </a:r>
            <a:endParaRPr lang="en-US" dirty="0" smtClean="0"/>
          </a:p>
          <a:p>
            <a:pPr algn="just"/>
            <a:r>
              <a:rPr lang="en-US" dirty="0"/>
              <a:t>Next, the current cell state </a:t>
            </a:r>
            <a:r>
              <a:rPr lang="en-US" dirty="0" smtClean="0"/>
              <a:t>Ct </a:t>
            </a:r>
            <a:r>
              <a:rPr lang="en-US" dirty="0"/>
              <a:t>is passed through a </a:t>
            </a:r>
            <a:r>
              <a:rPr lang="en-US" dirty="0" err="1"/>
              <a:t>tanh</a:t>
            </a:r>
            <a:r>
              <a:rPr lang="en-US" dirty="0"/>
              <a:t> activation to scale its values between −</a:t>
            </a:r>
            <a:r>
              <a:rPr lang="en-US" dirty="0" smtClean="0"/>
              <a:t>1</a:t>
            </a:r>
            <a:r>
              <a:rPr lang="en-US" dirty="0"/>
              <a:t> and </a:t>
            </a:r>
            <a:r>
              <a:rPr lang="en-US" dirty="0" smtClean="0"/>
              <a:t>+1.</a:t>
            </a:r>
          </a:p>
          <a:p>
            <a:pPr algn="just"/>
            <a:r>
              <a:rPr lang="en-US" dirty="0" smtClean="0"/>
              <a:t>Finally</a:t>
            </a:r>
            <a:r>
              <a:rPr lang="en-US" dirty="0"/>
              <a:t>, this transformed cell state is multiplied element-wise with </a:t>
            </a:r>
            <a:r>
              <a:rPr lang="en-US" dirty="0" err="1" smtClean="0"/>
              <a:t>ot</a:t>
            </a:r>
            <a:r>
              <a:rPr lang="en-US" dirty="0" smtClean="0"/>
              <a:t> </a:t>
            </a:r>
            <a:r>
              <a:rPr lang="en-US" dirty="0"/>
              <a:t>to produce the hidden state </a:t>
            </a:r>
            <a:r>
              <a:rPr lang="en-US" dirty="0" err="1" smtClean="0"/>
              <a:t>ht</a:t>
            </a:r>
            <a:r>
              <a:rPr lang="en-US" dirty="0"/>
              <a:t/>
            </a:r>
            <a:br>
              <a:rPr lang="en-US" dirty="0"/>
            </a:br>
            <a:endParaRPr lang="en-US" b="1" dirty="0"/>
          </a:p>
          <a:p>
            <a:pPr algn="just"/>
            <a:endParaRPr lang="en-US" dirty="0"/>
          </a:p>
        </p:txBody>
      </p:sp>
      <p:pic>
        <p:nvPicPr>
          <p:cNvPr id="5" name="Picture 4"/>
          <p:cNvPicPr>
            <a:picLocks noChangeAspect="1"/>
          </p:cNvPicPr>
          <p:nvPr/>
        </p:nvPicPr>
        <p:blipFill>
          <a:blip r:embed="rId2"/>
          <a:stretch>
            <a:fillRect/>
          </a:stretch>
        </p:blipFill>
        <p:spPr>
          <a:xfrm>
            <a:off x="9239535" y="327546"/>
            <a:ext cx="2729552" cy="6250675"/>
          </a:xfrm>
          <a:prstGeom prst="rect">
            <a:avLst/>
          </a:prstGeom>
        </p:spPr>
      </p:pic>
    </p:spTree>
    <p:extLst>
      <p:ext uri="{BB962C8B-B14F-4D97-AF65-F5344CB8AC3E}">
        <p14:creationId xmlns:p14="http://schemas.microsoft.com/office/powerpoint/2010/main" val="41561724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528" y="297074"/>
            <a:ext cx="11622206" cy="6226555"/>
          </a:xfrm>
        </p:spPr>
        <p:txBody>
          <a:bodyPr>
            <a:normAutofit fontScale="77500" lnSpcReduction="20000"/>
          </a:bodyPr>
          <a:lstStyle/>
          <a:p>
            <a:pPr algn="just">
              <a:lnSpc>
                <a:spcPct val="150000"/>
              </a:lnSpc>
            </a:pPr>
            <a:r>
              <a:rPr lang="en-US" sz="3100" b="1" dirty="0"/>
              <a:t>Example: Sentence completion</a:t>
            </a:r>
          </a:p>
          <a:p>
            <a:pPr marL="0" indent="0" algn="just">
              <a:lnSpc>
                <a:spcPct val="150000"/>
              </a:lnSpc>
              <a:buNone/>
            </a:pPr>
            <a:r>
              <a:rPr lang="en-US" dirty="0"/>
              <a:t>Imagine an LSTM is trained to complete sentences.</a:t>
            </a:r>
          </a:p>
          <a:p>
            <a:pPr algn="just">
              <a:lnSpc>
                <a:spcPct val="150000"/>
              </a:lnSpc>
            </a:pPr>
            <a:r>
              <a:rPr lang="en-US" b="1" dirty="0" smtClean="0"/>
              <a:t>Input</a:t>
            </a:r>
            <a:r>
              <a:rPr lang="en-US" b="1" dirty="0"/>
              <a:t>:</a:t>
            </a:r>
            <a:r>
              <a:rPr lang="en-US" dirty="0"/>
              <a:t> "The cat sat on the..."</a:t>
            </a:r>
          </a:p>
          <a:p>
            <a:pPr algn="just">
              <a:lnSpc>
                <a:spcPct val="150000"/>
              </a:lnSpc>
            </a:pPr>
            <a:r>
              <a:rPr lang="en-US" b="1" dirty="0"/>
              <a:t>Processing:</a:t>
            </a:r>
            <a:endParaRPr lang="en-US" dirty="0"/>
          </a:p>
          <a:p>
            <a:pPr lvl="1" algn="just">
              <a:lnSpc>
                <a:spcPct val="150000"/>
              </a:lnSpc>
            </a:pPr>
            <a:r>
              <a:rPr lang="en-US" dirty="0"/>
              <a:t>The LSTM processes each word one by one. When it sees "The," it might store this as a potential subject.</a:t>
            </a:r>
          </a:p>
          <a:p>
            <a:pPr lvl="1" algn="just">
              <a:lnSpc>
                <a:spcPct val="150000"/>
              </a:lnSpc>
            </a:pPr>
            <a:r>
              <a:rPr lang="en-US" dirty="0"/>
              <a:t>When it sees "cat," it knows this is the subject. It uses the forget gate to decide if it needs to hold onto information about the previous word ("The").</a:t>
            </a:r>
          </a:p>
          <a:p>
            <a:pPr lvl="1" algn="just">
              <a:lnSpc>
                <a:spcPct val="150000"/>
              </a:lnSpc>
            </a:pPr>
            <a:r>
              <a:rPr lang="en-US" dirty="0"/>
              <a:t>When it sees "sat," it can use the information from the "cat" to decide that a singular subject is followed by a singular verb. It stores this context in its memory cell.</a:t>
            </a:r>
          </a:p>
          <a:p>
            <a:pPr algn="just">
              <a:lnSpc>
                <a:spcPct val="150000"/>
              </a:lnSpc>
            </a:pPr>
            <a:r>
              <a:rPr lang="en-US" b="1" dirty="0"/>
              <a:t>Prediction:</a:t>
            </a:r>
            <a:r>
              <a:rPr lang="en-US" dirty="0"/>
              <a:t> The LSTM is ready to predict the next word. Based on the "long-term memory" of a singular subject ("cat") and the "short-term memory" of the last word ("sat"), it is likely to predict a location, such as "mat," "chair," or "sofa". </a:t>
            </a:r>
          </a:p>
          <a:p>
            <a:pPr algn="just">
              <a:lnSpc>
                <a:spcPct val="150000"/>
              </a:lnSpc>
            </a:pPr>
            <a:endParaRPr lang="en-US" dirty="0"/>
          </a:p>
        </p:txBody>
      </p:sp>
    </p:spTree>
    <p:extLst>
      <p:ext uri="{BB962C8B-B14F-4D97-AF65-F5344CB8AC3E}">
        <p14:creationId xmlns:p14="http://schemas.microsoft.com/office/powerpoint/2010/main" val="137067905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346" y="215000"/>
            <a:ext cx="10515600" cy="644809"/>
          </a:xfrm>
        </p:spPr>
        <p:txBody>
          <a:bodyPr>
            <a:normAutofit fontScale="90000"/>
          </a:bodyPr>
          <a:lstStyle/>
          <a:p>
            <a:r>
              <a:rPr lang="en-US" b="1" dirty="0"/>
              <a:t>Gated Recurrent Units (GRUs) </a:t>
            </a:r>
            <a:endParaRPr lang="en-US" b="1" dirty="0"/>
          </a:p>
        </p:txBody>
      </p:sp>
      <p:sp>
        <p:nvSpPr>
          <p:cNvPr id="3" name="Content Placeholder 2"/>
          <p:cNvSpPr>
            <a:spLocks noGrp="1"/>
          </p:cNvSpPr>
          <p:nvPr>
            <p:ph idx="1"/>
          </p:nvPr>
        </p:nvSpPr>
        <p:spPr>
          <a:xfrm>
            <a:off x="401472" y="1074997"/>
            <a:ext cx="11513024" cy="5516871"/>
          </a:xfrm>
        </p:spPr>
        <p:txBody>
          <a:bodyPr>
            <a:normAutofit fontScale="85000" lnSpcReduction="20000"/>
          </a:bodyPr>
          <a:lstStyle/>
          <a:p>
            <a:pPr algn="just">
              <a:lnSpc>
                <a:spcPct val="150000"/>
              </a:lnSpc>
            </a:pPr>
            <a:r>
              <a:rPr lang="en-US" dirty="0"/>
              <a:t>The core idea behind GRUs is to use gating mechanisms to selectively update the hidden state at each time step allowing them to remember important information while discarding irrelevant details. </a:t>
            </a:r>
            <a:endParaRPr lang="en-US" dirty="0" smtClean="0"/>
          </a:p>
          <a:p>
            <a:pPr algn="just" fontAlgn="base">
              <a:lnSpc>
                <a:spcPct val="150000"/>
              </a:lnSpc>
            </a:pPr>
            <a:r>
              <a:rPr lang="en-US" dirty="0" smtClean="0"/>
              <a:t>GRUs </a:t>
            </a:r>
            <a:r>
              <a:rPr lang="en-US" dirty="0"/>
              <a:t>aim to simplify the LSTM architecture by merging some of its components and focusing on just two main gates: the update gate and the reset gate</a:t>
            </a:r>
            <a:r>
              <a:rPr lang="en-US" dirty="0" smtClean="0"/>
              <a:t>.</a:t>
            </a:r>
            <a:r>
              <a:rPr lang="en-US" dirty="0"/>
              <a:t> The GRU consists of two main gates:</a:t>
            </a:r>
          </a:p>
          <a:p>
            <a:pPr algn="just" fontAlgn="base">
              <a:lnSpc>
                <a:spcPct val="150000"/>
              </a:lnSpc>
            </a:pPr>
            <a:r>
              <a:rPr lang="en-US" b="1" dirty="0"/>
              <a:t>Update Gate </a:t>
            </a:r>
            <a:r>
              <a:rPr lang="en-US" dirty="0"/>
              <a:t>(</a:t>
            </a:r>
            <a:r>
              <a:rPr lang="en-US" dirty="0" err="1"/>
              <a:t>zt</a:t>
            </a:r>
            <a:r>
              <a:rPr lang="en-US" i="1" dirty="0" err="1"/>
              <a:t>zt</a:t>
            </a:r>
            <a:r>
              <a:rPr lang="en-US" dirty="0"/>
              <a:t>​​): This gate decides how much information from previous hidden state should be retained for the next time step.</a:t>
            </a:r>
          </a:p>
          <a:p>
            <a:pPr algn="just" fontAlgn="base">
              <a:lnSpc>
                <a:spcPct val="150000"/>
              </a:lnSpc>
            </a:pPr>
            <a:r>
              <a:rPr lang="en-US" b="1" dirty="0"/>
              <a:t>Reset Gate</a:t>
            </a:r>
            <a:r>
              <a:rPr lang="en-US" dirty="0"/>
              <a:t> (</a:t>
            </a:r>
            <a:r>
              <a:rPr lang="en-US" dirty="0" err="1"/>
              <a:t>rt</a:t>
            </a:r>
            <a:r>
              <a:rPr lang="en-US" i="1" dirty="0" err="1"/>
              <a:t>rt</a:t>
            </a:r>
            <a:r>
              <a:rPr lang="en-US" dirty="0"/>
              <a:t>​​): This gate determines how much of the past hidden state should be forgotten.</a:t>
            </a:r>
          </a:p>
          <a:p>
            <a:pPr algn="just">
              <a:lnSpc>
                <a:spcPct val="150000"/>
              </a:lnSpc>
            </a:pPr>
            <a:endParaRPr lang="en-US" dirty="0"/>
          </a:p>
        </p:txBody>
      </p:sp>
    </p:spTree>
    <p:extLst>
      <p:ext uri="{BB962C8B-B14F-4D97-AF65-F5344CB8AC3E}">
        <p14:creationId xmlns:p14="http://schemas.microsoft.com/office/powerpoint/2010/main" val="22741081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l="47618" t="26717" b="22313"/>
          <a:stretch/>
        </p:blipFill>
        <p:spPr>
          <a:xfrm>
            <a:off x="307975" y="473360"/>
            <a:ext cx="3384646" cy="5859201"/>
          </a:xfrm>
          <a:prstGeom prst="rect">
            <a:avLst/>
          </a:prstGeom>
        </p:spPr>
      </p:pic>
      <p:sp>
        <p:nvSpPr>
          <p:cNvPr id="4" name="AutoShape 2" descr="What-are-GRUs_.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3999775" y="473360"/>
            <a:ext cx="7942015" cy="5859201"/>
          </a:xfrm>
          <a:prstGeom prst="rect">
            <a:avLst/>
          </a:prstGeom>
        </p:spPr>
      </p:pic>
    </p:spTree>
    <p:extLst>
      <p:ext uri="{BB962C8B-B14F-4D97-AF65-F5344CB8AC3E}">
        <p14:creationId xmlns:p14="http://schemas.microsoft.com/office/powerpoint/2010/main" val="16872176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202570616"/>
              </p:ext>
            </p:extLst>
          </p:nvPr>
        </p:nvGraphicFramePr>
        <p:xfrm>
          <a:off x="313899" y="245661"/>
          <a:ext cx="11423177" cy="6126356"/>
        </p:xfrm>
        <a:graphic>
          <a:graphicData uri="http://schemas.openxmlformats.org/drawingml/2006/table">
            <a:tbl>
              <a:tblPr/>
              <a:tblGrid>
                <a:gridCol w="2175843"/>
                <a:gridCol w="4623667"/>
                <a:gridCol w="4623667"/>
              </a:tblGrid>
              <a:tr h="1212169">
                <a:tc>
                  <a:txBody>
                    <a:bodyPr/>
                    <a:lstStyle/>
                    <a:p>
                      <a:pPr algn="ctr" fontAlgn="base"/>
                      <a:r>
                        <a:rPr lang="en-US" sz="3200" b="1" dirty="0">
                          <a:effectLst/>
                        </a:rPr>
                        <a:t>Feature</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3200" b="1" dirty="0">
                          <a:effectLst/>
                        </a:rPr>
                        <a:t>LSTM (Long Short-Term Memory)</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3200" b="1" dirty="0">
                          <a:effectLst/>
                        </a:rPr>
                        <a:t>GRU (Gated Recurrent Unit)</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r>
              <a:tr h="980405">
                <a:tc>
                  <a:txBody>
                    <a:bodyPr/>
                    <a:lstStyle/>
                    <a:p>
                      <a:pPr algn="l" fontAlgn="base"/>
                      <a:r>
                        <a:rPr lang="en-US" sz="2800" b="1" dirty="0">
                          <a:effectLst/>
                        </a:rPr>
                        <a:t>Gates</a:t>
                      </a:r>
                    </a:p>
                  </a:txBody>
                  <a:tcPr marL="38100" marR="38100" marT="66523" marB="6652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l" fontAlgn="ctr"/>
                      <a:r>
                        <a:rPr lang="en-US" sz="1800" b="1">
                          <a:effectLst/>
                        </a:rPr>
                        <a:t>3 (Input, Forget, Output)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1">
                          <a:effectLst/>
                        </a:rPr>
                        <a:t>2 (Update, Reset)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980405">
                <a:tc>
                  <a:txBody>
                    <a:bodyPr/>
                    <a:lstStyle/>
                    <a:p>
                      <a:pPr algn="l" fontAlgn="base"/>
                      <a:r>
                        <a:rPr lang="en-US" sz="2800" b="1" dirty="0">
                          <a:effectLst/>
                        </a:rPr>
                        <a:t>Cell State</a:t>
                      </a:r>
                    </a:p>
                  </a:txBody>
                  <a:tcPr marL="38100" marR="38100" marT="66523" marB="6652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l" fontAlgn="ctr"/>
                      <a:r>
                        <a:rPr lang="en-US" sz="1800" b="1" dirty="0">
                          <a:effectLst/>
                        </a:rPr>
                        <a:t>Yes it has cell state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1">
                          <a:effectLst/>
                        </a:rPr>
                        <a:t>No (Hidden state only)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980405">
                <a:tc>
                  <a:txBody>
                    <a:bodyPr/>
                    <a:lstStyle/>
                    <a:p>
                      <a:pPr algn="l" fontAlgn="base"/>
                      <a:r>
                        <a:rPr lang="en-US" sz="2800" b="1" dirty="0">
                          <a:effectLst/>
                        </a:rPr>
                        <a:t>Training Speed</a:t>
                      </a:r>
                    </a:p>
                  </a:txBody>
                  <a:tcPr marL="38100" marR="38100" marT="66523" marB="6652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l" fontAlgn="ctr"/>
                      <a:r>
                        <a:rPr lang="en-US" sz="1800" b="1" dirty="0">
                          <a:effectLst/>
                        </a:rPr>
                        <a:t>Slower due to complexity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1">
                          <a:effectLst/>
                        </a:rPr>
                        <a:t>Faster due to simpler architecture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980405">
                <a:tc>
                  <a:txBody>
                    <a:bodyPr/>
                    <a:lstStyle/>
                    <a:p>
                      <a:pPr algn="l" fontAlgn="base"/>
                      <a:r>
                        <a:rPr lang="en-US" sz="2800" b="1" dirty="0">
                          <a:effectLst/>
                        </a:rPr>
                        <a:t>Computational Load</a:t>
                      </a:r>
                    </a:p>
                  </a:txBody>
                  <a:tcPr marL="38100" marR="38100" marT="66523" marB="6652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l" fontAlgn="ctr"/>
                      <a:r>
                        <a:rPr lang="en-US" sz="1800" b="1" dirty="0">
                          <a:effectLst/>
                        </a:rPr>
                        <a:t>Higher due to more gates and parameters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1">
                          <a:effectLst/>
                        </a:rPr>
                        <a:t>Lower due to fewer gates and parameters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980405">
                <a:tc>
                  <a:txBody>
                    <a:bodyPr/>
                    <a:lstStyle/>
                    <a:p>
                      <a:pPr algn="l" fontAlgn="base"/>
                      <a:r>
                        <a:rPr lang="en-US" sz="2800" b="1" dirty="0">
                          <a:effectLst/>
                        </a:rPr>
                        <a:t>Performance</a:t>
                      </a:r>
                    </a:p>
                  </a:txBody>
                  <a:tcPr marL="38100" marR="38100" marT="66523" marB="6652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l" fontAlgn="ctr"/>
                      <a:r>
                        <a:rPr lang="en-US" sz="1800" b="1" dirty="0">
                          <a:effectLst/>
                        </a:rPr>
                        <a:t>Often better in tasks requiring long-term memory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1" dirty="0">
                          <a:effectLst/>
                        </a:rPr>
                        <a:t>Performs similarly in many tasks with less complexity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1418847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3566</TotalTime>
  <Words>1138</Words>
  <Application>Microsoft Office PowerPoint</Application>
  <PresentationFormat>Widescreen</PresentationFormat>
  <Paragraphs>129</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Calibri Light</vt:lpstr>
      <vt:lpstr>Office Theme</vt:lpstr>
      <vt:lpstr>Recurrent Neural Networks</vt:lpstr>
      <vt:lpstr>PowerPoint Presentation</vt:lpstr>
      <vt:lpstr>PowerPoint Presentation</vt:lpstr>
      <vt:lpstr>PowerPoint Presentation</vt:lpstr>
      <vt:lpstr>Key Components of RNNs</vt:lpstr>
      <vt:lpstr>PowerPoint Presentation</vt:lpstr>
      <vt:lpstr>PowerPoint Presentation</vt:lpstr>
      <vt:lpstr>PowerPoint Presentation</vt:lpstr>
      <vt:lpstr>PowerPoint Presentation</vt:lpstr>
      <vt:lpstr>Architecture of RNNs</vt:lpstr>
      <vt:lpstr>PowerPoint Presentation</vt:lpstr>
      <vt:lpstr>PowerPoint Presentation</vt:lpstr>
      <vt:lpstr>Types Of Recurrent Neural Networks</vt:lpstr>
      <vt:lpstr>PowerPoint Presentation</vt:lpstr>
      <vt:lpstr>PowerPoint Presentation</vt:lpstr>
      <vt:lpstr>PowerPoint Presentation</vt:lpstr>
      <vt:lpstr>PowerPoint Presentation</vt:lpstr>
      <vt:lpstr>Variants of Recurrent Neural Networks </vt:lpstr>
      <vt:lpstr>PowerPoint Presentation</vt:lpstr>
      <vt:lpstr>PowerPoint Presentation</vt:lpstr>
      <vt:lpstr>PowerPoint Presentation</vt:lpstr>
      <vt:lpstr>PowerPoint Presentation</vt:lpstr>
      <vt:lpstr>LSTM (Long Short-Term Memory)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Gated Recurrent Units (GRUs) </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Recurrent Neural Networks</dc:title>
  <dc:creator>Microsoft account</dc:creator>
  <cp:lastModifiedBy>Microsoft account</cp:lastModifiedBy>
  <cp:revision>26</cp:revision>
  <dcterms:created xsi:type="dcterms:W3CDTF">2025-11-17T04:03:55Z</dcterms:created>
  <dcterms:modified xsi:type="dcterms:W3CDTF">2025-11-26T07:18:53Z</dcterms:modified>
</cp:coreProperties>
</file>