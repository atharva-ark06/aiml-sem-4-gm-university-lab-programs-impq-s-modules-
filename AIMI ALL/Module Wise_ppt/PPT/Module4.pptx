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6" r:id="rId10"/>
    <p:sldId id="267" r:id="rId11"/>
    <p:sldId id="268" r:id="rId12"/>
    <p:sldId id="269" r:id="rId13"/>
    <p:sldId id="270" r:id="rId14"/>
    <p:sldId id="271" r:id="rId15"/>
    <p:sldId id="264" r:id="rId16"/>
    <p:sldId id="265" r:id="rId17"/>
    <p:sldId id="272" r:id="rId18"/>
    <p:sldId id="274" r:id="rId19"/>
    <p:sldId id="273"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1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2D08BD3-14DF-4BC2-BA46-03F4C2118D7E}"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AF58E9-4AC2-4E8C-82C2-0C941987A992}" type="slidenum">
              <a:rPr lang="en-US" smtClean="0"/>
              <a:t>‹#›</a:t>
            </a:fld>
            <a:endParaRPr lang="en-US"/>
          </a:p>
        </p:txBody>
      </p:sp>
    </p:spTree>
    <p:extLst>
      <p:ext uri="{BB962C8B-B14F-4D97-AF65-F5344CB8AC3E}">
        <p14:creationId xmlns:p14="http://schemas.microsoft.com/office/powerpoint/2010/main" val="2555007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2D08BD3-14DF-4BC2-BA46-03F4C2118D7E}"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AF58E9-4AC2-4E8C-82C2-0C941987A992}" type="slidenum">
              <a:rPr lang="en-US" smtClean="0"/>
              <a:t>‹#›</a:t>
            </a:fld>
            <a:endParaRPr lang="en-US"/>
          </a:p>
        </p:txBody>
      </p:sp>
    </p:spTree>
    <p:extLst>
      <p:ext uri="{BB962C8B-B14F-4D97-AF65-F5344CB8AC3E}">
        <p14:creationId xmlns:p14="http://schemas.microsoft.com/office/powerpoint/2010/main" val="3986879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2D08BD3-14DF-4BC2-BA46-03F4C2118D7E}"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AF58E9-4AC2-4E8C-82C2-0C941987A992}" type="slidenum">
              <a:rPr lang="en-US" smtClean="0"/>
              <a:t>‹#›</a:t>
            </a:fld>
            <a:endParaRPr lang="en-US"/>
          </a:p>
        </p:txBody>
      </p:sp>
    </p:spTree>
    <p:extLst>
      <p:ext uri="{BB962C8B-B14F-4D97-AF65-F5344CB8AC3E}">
        <p14:creationId xmlns:p14="http://schemas.microsoft.com/office/powerpoint/2010/main" val="14213162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2D08BD3-14DF-4BC2-BA46-03F4C2118D7E}" type="datetimeFigureOut">
              <a:rPr lang="en-US" smtClean="0"/>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AF58E9-4AC2-4E8C-82C2-0C941987A992}" type="slidenum">
              <a:rPr lang="en-US" smtClean="0"/>
              <a:t>‹#›</a:t>
            </a:fld>
            <a:endParaRPr lang="en-US"/>
          </a:p>
        </p:txBody>
      </p:sp>
    </p:spTree>
    <p:extLst>
      <p:ext uri="{BB962C8B-B14F-4D97-AF65-F5344CB8AC3E}">
        <p14:creationId xmlns:p14="http://schemas.microsoft.com/office/powerpoint/2010/main" val="322798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2D08BD3-14DF-4BC2-BA46-03F4C2118D7E}" type="datetimeFigureOut">
              <a:rPr lang="en-US" smtClean="0"/>
              <a:t>11/26/2025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2AF58E9-4AC2-4E8C-82C2-0C941987A992}" type="slidenum">
              <a:rPr lang="en-US" smtClean="0"/>
              <a:t>‹#›</a:t>
            </a:fld>
            <a:endParaRPr lang="en-US"/>
          </a:p>
        </p:txBody>
      </p:sp>
    </p:spTree>
    <p:extLst>
      <p:ext uri="{BB962C8B-B14F-4D97-AF65-F5344CB8AC3E}">
        <p14:creationId xmlns:p14="http://schemas.microsoft.com/office/powerpoint/2010/main" val="3574360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2D08BD3-14DF-4BC2-BA46-03F4C2118D7E}" type="datetimeFigureOut">
              <a:rPr lang="en-US" smtClean="0"/>
              <a:t>11/26/2025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2AF58E9-4AC2-4E8C-82C2-0C941987A992}" type="slidenum">
              <a:rPr lang="en-US" smtClean="0"/>
              <a:t>‹#›</a:t>
            </a:fld>
            <a:endParaRPr lang="en-US"/>
          </a:p>
        </p:txBody>
      </p:sp>
    </p:spTree>
    <p:extLst>
      <p:ext uri="{BB962C8B-B14F-4D97-AF65-F5344CB8AC3E}">
        <p14:creationId xmlns:p14="http://schemas.microsoft.com/office/powerpoint/2010/main" val="1973834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D08BD3-14DF-4BC2-BA46-03F4C2118D7E}" type="datetimeFigureOut">
              <a:rPr lang="en-US" smtClean="0"/>
              <a:t>11/26/2025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2AF58E9-4AC2-4E8C-82C2-0C941987A992}" type="slidenum">
              <a:rPr lang="en-US" smtClean="0"/>
              <a:t>‹#›</a:t>
            </a:fld>
            <a:endParaRPr lang="en-US"/>
          </a:p>
        </p:txBody>
      </p:sp>
    </p:spTree>
    <p:extLst>
      <p:ext uri="{BB962C8B-B14F-4D97-AF65-F5344CB8AC3E}">
        <p14:creationId xmlns:p14="http://schemas.microsoft.com/office/powerpoint/2010/main" val="1507942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D08BD3-14DF-4BC2-BA46-03F4C2118D7E}" type="datetimeFigureOut">
              <a:rPr lang="en-US" smtClean="0"/>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AF58E9-4AC2-4E8C-82C2-0C941987A992}" type="slidenum">
              <a:rPr lang="en-US" smtClean="0"/>
              <a:t>‹#›</a:t>
            </a:fld>
            <a:endParaRPr lang="en-US"/>
          </a:p>
        </p:txBody>
      </p:sp>
    </p:spTree>
    <p:extLst>
      <p:ext uri="{BB962C8B-B14F-4D97-AF65-F5344CB8AC3E}">
        <p14:creationId xmlns:p14="http://schemas.microsoft.com/office/powerpoint/2010/main" val="12012715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D08BD3-14DF-4BC2-BA46-03F4C2118D7E}" type="datetimeFigureOut">
              <a:rPr lang="en-US" smtClean="0"/>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AF58E9-4AC2-4E8C-82C2-0C941987A992}" type="slidenum">
              <a:rPr lang="en-US" smtClean="0"/>
              <a:t>‹#›</a:t>
            </a:fld>
            <a:endParaRPr lang="en-US"/>
          </a:p>
        </p:txBody>
      </p:sp>
    </p:spTree>
    <p:extLst>
      <p:ext uri="{BB962C8B-B14F-4D97-AF65-F5344CB8AC3E}">
        <p14:creationId xmlns:p14="http://schemas.microsoft.com/office/powerpoint/2010/main" val="7371682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2D08BD3-14DF-4BC2-BA46-03F4C2118D7E}"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AF58E9-4AC2-4E8C-82C2-0C941987A992}" type="slidenum">
              <a:rPr lang="en-US" smtClean="0"/>
              <a:t>‹#›</a:t>
            </a:fld>
            <a:endParaRPr lang="en-US"/>
          </a:p>
        </p:txBody>
      </p:sp>
    </p:spTree>
    <p:extLst>
      <p:ext uri="{BB962C8B-B14F-4D97-AF65-F5344CB8AC3E}">
        <p14:creationId xmlns:p14="http://schemas.microsoft.com/office/powerpoint/2010/main" val="1379453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2D08BD3-14DF-4BC2-BA46-03F4C2118D7E}"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AF58E9-4AC2-4E8C-82C2-0C941987A992}" type="slidenum">
              <a:rPr lang="en-US" smtClean="0"/>
              <a:t>‹#›</a:t>
            </a:fld>
            <a:endParaRPr lang="en-US"/>
          </a:p>
        </p:txBody>
      </p:sp>
    </p:spTree>
    <p:extLst>
      <p:ext uri="{BB962C8B-B14F-4D97-AF65-F5344CB8AC3E}">
        <p14:creationId xmlns:p14="http://schemas.microsoft.com/office/powerpoint/2010/main" val="7086602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D08BD3-14DF-4BC2-BA46-03F4C2118D7E}" type="datetimeFigureOut">
              <a:rPr lang="en-US" smtClean="0"/>
              <a:t>11/26/2025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AF58E9-4AC2-4E8C-82C2-0C941987A992}" type="slidenum">
              <a:rPr lang="en-US" smtClean="0"/>
              <a:t>‹#›</a:t>
            </a:fld>
            <a:endParaRPr lang="en-US"/>
          </a:p>
        </p:txBody>
      </p:sp>
    </p:spTree>
    <p:extLst>
      <p:ext uri="{BB962C8B-B14F-4D97-AF65-F5344CB8AC3E}">
        <p14:creationId xmlns:p14="http://schemas.microsoft.com/office/powerpoint/2010/main" val="15353769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27797" y="764277"/>
            <a:ext cx="11313993" cy="2906971"/>
          </a:xfrm>
        </p:spPr>
        <p:txBody>
          <a:bodyPr>
            <a:normAutofit fontScale="90000"/>
          </a:bodyPr>
          <a:lstStyle/>
          <a:p>
            <a:pPr>
              <a:lnSpc>
                <a:spcPct val="150000"/>
              </a:lnSpc>
            </a:pPr>
            <a:r>
              <a:rPr lang="en-US" sz="4800" b="1" dirty="0" smtClean="0">
                <a:latin typeface="Times New Roman" panose="02020603050405020304" pitchFamily="18" charset="0"/>
                <a:cs typeface="Times New Roman" panose="02020603050405020304" pitchFamily="18" charset="0"/>
              </a:rPr>
              <a:t>Module 4 </a:t>
            </a:r>
            <a:br>
              <a:rPr lang="en-US" sz="4800" b="1" dirty="0" smtClean="0">
                <a:latin typeface="Times New Roman" panose="02020603050405020304" pitchFamily="18" charset="0"/>
                <a:cs typeface="Times New Roman" panose="02020603050405020304" pitchFamily="18" charset="0"/>
              </a:rPr>
            </a:br>
            <a:r>
              <a:rPr lang="en-US" sz="4800" b="1" dirty="0" smtClean="0">
                <a:latin typeface="Times New Roman" panose="02020603050405020304" pitchFamily="18" charset="0"/>
                <a:cs typeface="Times New Roman" panose="02020603050405020304" pitchFamily="18" charset="0"/>
              </a:rPr>
              <a:t>Convolutional </a:t>
            </a:r>
            <a:r>
              <a:rPr lang="en-US" sz="4800" b="1" dirty="0">
                <a:latin typeface="Times New Roman" panose="02020603050405020304" pitchFamily="18" charset="0"/>
                <a:cs typeface="Times New Roman" panose="02020603050405020304" pitchFamily="18" charset="0"/>
              </a:rPr>
              <a:t>Neural Network (CNN</a:t>
            </a:r>
            <a:r>
              <a:rPr lang="en-US" sz="4800" b="1" dirty="0" smtClean="0">
                <a:latin typeface="Times New Roman" panose="02020603050405020304" pitchFamily="18" charset="0"/>
                <a:cs typeface="Times New Roman" panose="02020603050405020304" pitchFamily="18" charset="0"/>
              </a:rPr>
              <a:t>)</a:t>
            </a:r>
            <a:br>
              <a:rPr lang="en-US" sz="4800" b="1" dirty="0" smtClean="0">
                <a:latin typeface="Times New Roman" panose="02020603050405020304" pitchFamily="18" charset="0"/>
                <a:cs typeface="Times New Roman" panose="02020603050405020304" pitchFamily="18" charset="0"/>
              </a:rPr>
            </a:br>
            <a:endParaRPr lang="en-US" sz="4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899270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615" y="545911"/>
            <a:ext cx="11027391" cy="5936776"/>
          </a:xfrm>
        </p:spPr>
        <p:txBody>
          <a:bodyPr>
            <a:normAutofit/>
          </a:bodyPr>
          <a:lstStyle/>
          <a:p>
            <a:pPr algn="just">
              <a:lnSpc>
                <a:spcPct val="150000"/>
              </a:lnSpc>
            </a:pPr>
            <a:r>
              <a:rPr lang="en-US" dirty="0" smtClean="0"/>
              <a:t>Introduction, Convolution Neural Network</a:t>
            </a:r>
          </a:p>
          <a:p>
            <a:pPr algn="just">
              <a:lnSpc>
                <a:spcPct val="150000"/>
              </a:lnSpc>
            </a:pPr>
            <a:r>
              <a:rPr lang="en-US" dirty="0" smtClean="0"/>
              <a:t>Evolution of Convolution Neural Network</a:t>
            </a:r>
          </a:p>
          <a:p>
            <a:pPr algn="just">
              <a:lnSpc>
                <a:spcPct val="150000"/>
              </a:lnSpc>
            </a:pPr>
            <a:r>
              <a:rPr lang="en-US" dirty="0" smtClean="0"/>
              <a:t>CNN layers, Architecture of CNN</a:t>
            </a:r>
          </a:p>
          <a:p>
            <a:pPr algn="just">
              <a:lnSpc>
                <a:spcPct val="150000"/>
              </a:lnSpc>
            </a:pPr>
            <a:r>
              <a:rPr lang="en-US" dirty="0"/>
              <a:t>Evaluation of CNN Models</a:t>
            </a:r>
          </a:p>
          <a:p>
            <a:pPr algn="just">
              <a:lnSpc>
                <a:spcPct val="150000"/>
              </a:lnSpc>
            </a:pPr>
            <a:r>
              <a:rPr lang="en-US" dirty="0"/>
              <a:t>Types of CNN </a:t>
            </a:r>
          </a:p>
          <a:p>
            <a:pPr algn="just">
              <a:lnSpc>
                <a:spcPct val="150000"/>
              </a:lnSpc>
            </a:pPr>
            <a:r>
              <a:rPr lang="en-US" dirty="0" smtClean="0"/>
              <a:t>Convolution Operation</a:t>
            </a:r>
            <a:endParaRPr lang="en-US" dirty="0"/>
          </a:p>
        </p:txBody>
      </p:sp>
    </p:spTree>
    <p:extLst>
      <p:ext uri="{BB962C8B-B14F-4D97-AF65-F5344CB8AC3E}">
        <p14:creationId xmlns:p14="http://schemas.microsoft.com/office/powerpoint/2010/main" val="352057456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4051" y="174057"/>
            <a:ext cx="3788391" cy="863174"/>
          </a:xfrm>
        </p:spPr>
        <p:txBody>
          <a:bodyPr/>
          <a:lstStyle/>
          <a:p>
            <a:r>
              <a:rPr lang="en-US" dirty="0" smtClean="0"/>
              <a:t>Introduction</a:t>
            </a:r>
            <a:endParaRPr lang="en-US" dirty="0"/>
          </a:p>
        </p:txBody>
      </p:sp>
      <p:sp>
        <p:nvSpPr>
          <p:cNvPr id="3" name="Content Placeholder 2"/>
          <p:cNvSpPr>
            <a:spLocks noGrp="1"/>
          </p:cNvSpPr>
          <p:nvPr>
            <p:ph idx="1"/>
          </p:nvPr>
        </p:nvSpPr>
        <p:spPr>
          <a:xfrm>
            <a:off x="224051" y="1037231"/>
            <a:ext cx="7077500" cy="5390866"/>
          </a:xfrm>
        </p:spPr>
        <p:txBody>
          <a:bodyPr>
            <a:normAutofit fontScale="92500" lnSpcReduction="10000"/>
          </a:bodyPr>
          <a:lstStyle/>
          <a:p>
            <a:pPr marL="0" indent="0" algn="just">
              <a:lnSpc>
                <a:spcPct val="150000"/>
              </a:lnSpc>
              <a:buNone/>
            </a:pPr>
            <a:r>
              <a:rPr lang="en-US" dirty="0" smtClean="0"/>
              <a:t>“CNN are </a:t>
            </a:r>
            <a:r>
              <a:rPr lang="en-US" dirty="0"/>
              <a:t>deep learning models designed to process data with a grid-like topology such as </a:t>
            </a:r>
            <a:r>
              <a:rPr lang="en-US" dirty="0" smtClean="0"/>
              <a:t>images”. </a:t>
            </a:r>
          </a:p>
          <a:p>
            <a:pPr algn="just">
              <a:lnSpc>
                <a:spcPct val="150000"/>
              </a:lnSpc>
            </a:pPr>
            <a:r>
              <a:rPr lang="en-US" dirty="0"/>
              <a:t>This is particularly useful for visual datasets such as images or videos, where data patterns play a crucial role.</a:t>
            </a:r>
            <a:endParaRPr lang="en-US" dirty="0" smtClean="0"/>
          </a:p>
          <a:p>
            <a:pPr algn="just">
              <a:lnSpc>
                <a:spcPct val="150000"/>
              </a:lnSpc>
            </a:pPr>
            <a:r>
              <a:rPr lang="en-US" dirty="0" smtClean="0"/>
              <a:t>They </a:t>
            </a:r>
            <a:r>
              <a:rPr lang="en-US" dirty="0"/>
              <a:t>are the foundation for most modern computer vision applications to detect features within visual data</a:t>
            </a:r>
            <a:r>
              <a:rPr lang="en-US" dirty="0" smtClean="0"/>
              <a:t>.</a:t>
            </a:r>
          </a:p>
          <a:p>
            <a:pPr algn="just">
              <a:lnSpc>
                <a:spcPct val="150000"/>
              </a:lnSpc>
            </a:pPr>
            <a:endParaRPr lang="en-US" dirty="0"/>
          </a:p>
        </p:txBody>
      </p:sp>
      <p:pic>
        <p:nvPicPr>
          <p:cNvPr id="5" name="Picture 4"/>
          <p:cNvPicPr>
            <a:picLocks noChangeAspect="1"/>
          </p:cNvPicPr>
          <p:nvPr/>
        </p:nvPicPr>
        <p:blipFill>
          <a:blip r:embed="rId2"/>
          <a:stretch>
            <a:fillRect/>
          </a:stretch>
        </p:blipFill>
        <p:spPr>
          <a:xfrm>
            <a:off x="7738281" y="1037231"/>
            <a:ext cx="4107976" cy="5418160"/>
          </a:xfrm>
          <a:prstGeom prst="rect">
            <a:avLst/>
          </a:prstGeom>
        </p:spPr>
      </p:pic>
    </p:spTree>
    <p:extLst>
      <p:ext uri="{BB962C8B-B14F-4D97-AF65-F5344CB8AC3E}">
        <p14:creationId xmlns:p14="http://schemas.microsoft.com/office/powerpoint/2010/main" val="161997383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5936" y="160408"/>
            <a:ext cx="11349251" cy="835879"/>
          </a:xfrm>
        </p:spPr>
        <p:txBody>
          <a:bodyPr/>
          <a:lstStyle/>
          <a:p>
            <a:pPr algn="ctr"/>
            <a:r>
              <a:rPr lang="en-US" b="1" dirty="0" smtClean="0"/>
              <a:t>Evolution of Convolution Neural Network</a:t>
            </a:r>
            <a:endParaRPr lang="en-US" b="1" dirty="0"/>
          </a:p>
        </p:txBody>
      </p:sp>
      <p:sp>
        <p:nvSpPr>
          <p:cNvPr id="3" name="Content Placeholder 2"/>
          <p:cNvSpPr>
            <a:spLocks noGrp="1"/>
          </p:cNvSpPr>
          <p:nvPr>
            <p:ph idx="1"/>
          </p:nvPr>
        </p:nvSpPr>
        <p:spPr>
          <a:xfrm>
            <a:off x="177421" y="1173706"/>
            <a:ext cx="11832609" cy="5445457"/>
          </a:xfrm>
        </p:spPr>
        <p:txBody>
          <a:bodyPr>
            <a:normAutofit fontScale="92500" lnSpcReduction="10000"/>
          </a:bodyPr>
          <a:lstStyle/>
          <a:p>
            <a:pPr algn="just">
              <a:lnSpc>
                <a:spcPct val="150000"/>
              </a:lnSpc>
            </a:pPr>
            <a:r>
              <a:rPr lang="en-US" dirty="0"/>
              <a:t>The evolution of Convolutional Neural Networks (CNNs) </a:t>
            </a:r>
            <a:r>
              <a:rPr lang="en-US" dirty="0" smtClean="0"/>
              <a:t>began with early concepts like the </a:t>
            </a:r>
            <a:r>
              <a:rPr lang="en-US" dirty="0" err="1" smtClean="0"/>
              <a:t>Neocognitron</a:t>
            </a:r>
            <a:r>
              <a:rPr lang="en-US" dirty="0" smtClean="0"/>
              <a:t> in the 1980s and was formalized by </a:t>
            </a:r>
            <a:r>
              <a:rPr lang="en-US" dirty="0" err="1" smtClean="0"/>
              <a:t>LeNet</a:t>
            </a:r>
            <a:r>
              <a:rPr lang="en-US" dirty="0" smtClean="0"/>
              <a:t> in 1998 for handwritten digit recognition</a:t>
            </a:r>
            <a:r>
              <a:rPr lang="en-US" dirty="0"/>
              <a:t>. </a:t>
            </a:r>
            <a:endParaRPr lang="en-US" dirty="0" smtClean="0"/>
          </a:p>
          <a:p>
            <a:pPr algn="just">
              <a:lnSpc>
                <a:spcPct val="150000"/>
              </a:lnSpc>
            </a:pPr>
            <a:r>
              <a:rPr lang="en-US" dirty="0" smtClean="0"/>
              <a:t>A </a:t>
            </a:r>
            <a:r>
              <a:rPr lang="en-US" dirty="0"/>
              <a:t>major turning point </a:t>
            </a:r>
            <a:r>
              <a:rPr lang="en-US" dirty="0" smtClean="0"/>
              <a:t>was </a:t>
            </a:r>
            <a:r>
              <a:rPr lang="en-US" dirty="0" err="1" smtClean="0"/>
              <a:t>AlexNet's</a:t>
            </a:r>
            <a:r>
              <a:rPr lang="en-US" dirty="0"/>
              <a:t> </a:t>
            </a:r>
            <a:r>
              <a:rPr lang="en-US" dirty="0" smtClean="0"/>
              <a:t> </a:t>
            </a:r>
            <a:r>
              <a:rPr lang="en-US" dirty="0"/>
              <a:t>victory in the 2012 </a:t>
            </a:r>
            <a:r>
              <a:rPr lang="en-US" dirty="0" err="1"/>
              <a:t>ImageNet</a:t>
            </a:r>
            <a:r>
              <a:rPr lang="en-US" dirty="0"/>
              <a:t> challenge, which showcased the power of deep CNNs and sparked a new wave of development, leading to deeper and more complex architectures like </a:t>
            </a:r>
            <a:r>
              <a:rPr lang="en-US" dirty="0" err="1" smtClean="0"/>
              <a:t>VGGNet</a:t>
            </a:r>
            <a:r>
              <a:rPr lang="en-US" dirty="0" smtClean="0"/>
              <a:t>, </a:t>
            </a:r>
            <a:r>
              <a:rPr lang="en-US" dirty="0" err="1" smtClean="0"/>
              <a:t>GoogLeNet</a:t>
            </a:r>
            <a:r>
              <a:rPr lang="en-US" dirty="0" smtClean="0"/>
              <a:t>, </a:t>
            </a:r>
            <a:r>
              <a:rPr lang="en-US" dirty="0"/>
              <a:t>and </a:t>
            </a:r>
            <a:r>
              <a:rPr lang="en-US" dirty="0" err="1" smtClean="0"/>
              <a:t>ResNet</a:t>
            </a:r>
            <a:r>
              <a:rPr lang="en-US" dirty="0" smtClean="0"/>
              <a:t>. </a:t>
            </a:r>
          </a:p>
          <a:p>
            <a:pPr algn="just">
              <a:lnSpc>
                <a:spcPct val="150000"/>
              </a:lnSpc>
            </a:pPr>
            <a:r>
              <a:rPr lang="en-US" dirty="0" smtClean="0"/>
              <a:t>These </a:t>
            </a:r>
            <a:r>
              <a:rPr lang="en-US" dirty="0"/>
              <a:t>advancements focused on tackling challenges like vanishing gradients and computational cost to improve accuracy and efficiency. </a:t>
            </a:r>
          </a:p>
        </p:txBody>
      </p:sp>
    </p:spTree>
    <p:extLst>
      <p:ext uri="{BB962C8B-B14F-4D97-AF65-F5344CB8AC3E}">
        <p14:creationId xmlns:p14="http://schemas.microsoft.com/office/powerpoint/2010/main" val="404141321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5936" y="215000"/>
            <a:ext cx="11047863" cy="849525"/>
          </a:xfrm>
        </p:spPr>
        <p:txBody>
          <a:bodyPr/>
          <a:lstStyle/>
          <a:p>
            <a:pPr algn="just">
              <a:lnSpc>
                <a:spcPct val="100000"/>
              </a:lnSpc>
            </a:pPr>
            <a:r>
              <a:rPr lang="en-US" b="1" dirty="0" smtClean="0"/>
              <a:t>CNN Layers and Architecture of CNN</a:t>
            </a:r>
            <a:endParaRPr lang="en-US" b="1" dirty="0"/>
          </a:p>
        </p:txBody>
      </p:sp>
      <p:pic>
        <p:nvPicPr>
          <p:cNvPr id="5" name="Content Placeholder 4"/>
          <p:cNvPicPr>
            <a:picLocks noGrp="1" noChangeAspect="1"/>
          </p:cNvPicPr>
          <p:nvPr>
            <p:ph idx="1"/>
          </p:nvPr>
        </p:nvPicPr>
        <p:blipFill>
          <a:blip r:embed="rId2"/>
          <a:stretch>
            <a:fillRect/>
          </a:stretch>
        </p:blipFill>
        <p:spPr>
          <a:xfrm>
            <a:off x="3530042" y="1353675"/>
            <a:ext cx="8357158" cy="5129011"/>
          </a:xfrm>
          <a:prstGeom prst="rect">
            <a:avLst/>
          </a:prstGeom>
        </p:spPr>
      </p:pic>
      <p:sp>
        <p:nvSpPr>
          <p:cNvPr id="6" name="Content Placeholder 2"/>
          <p:cNvSpPr txBox="1">
            <a:spLocks/>
          </p:cNvSpPr>
          <p:nvPr/>
        </p:nvSpPr>
        <p:spPr>
          <a:xfrm>
            <a:off x="409433" y="1353675"/>
            <a:ext cx="2879677" cy="5129011"/>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en-US" dirty="0" smtClean="0"/>
              <a:t>Input Layers</a:t>
            </a:r>
          </a:p>
          <a:p>
            <a:pPr algn="just">
              <a:lnSpc>
                <a:spcPct val="150000"/>
              </a:lnSpc>
            </a:pPr>
            <a:r>
              <a:rPr lang="en-US" dirty="0" smtClean="0"/>
              <a:t>Convolutional Layers</a:t>
            </a:r>
          </a:p>
          <a:p>
            <a:pPr algn="just">
              <a:lnSpc>
                <a:spcPct val="150000"/>
              </a:lnSpc>
            </a:pPr>
            <a:r>
              <a:rPr lang="en-US" dirty="0" smtClean="0"/>
              <a:t>Activation Layer</a:t>
            </a:r>
          </a:p>
          <a:p>
            <a:pPr algn="just">
              <a:lnSpc>
                <a:spcPct val="150000"/>
              </a:lnSpc>
            </a:pPr>
            <a:r>
              <a:rPr lang="en-US" dirty="0" smtClean="0"/>
              <a:t>Pooling layer</a:t>
            </a:r>
          </a:p>
          <a:p>
            <a:pPr algn="just">
              <a:lnSpc>
                <a:spcPct val="150000"/>
              </a:lnSpc>
            </a:pPr>
            <a:r>
              <a:rPr lang="en-US" dirty="0" smtClean="0"/>
              <a:t>Fully Connected Layers</a:t>
            </a:r>
          </a:p>
          <a:p>
            <a:pPr algn="just">
              <a:lnSpc>
                <a:spcPct val="150000"/>
              </a:lnSpc>
            </a:pPr>
            <a:r>
              <a:rPr lang="en-US" dirty="0" smtClean="0"/>
              <a:t>Output Layer</a:t>
            </a:r>
            <a:endParaRPr lang="en-US" dirty="0"/>
          </a:p>
        </p:txBody>
      </p:sp>
    </p:spTree>
    <p:extLst>
      <p:ext uri="{BB962C8B-B14F-4D97-AF65-F5344CB8AC3E}">
        <p14:creationId xmlns:p14="http://schemas.microsoft.com/office/powerpoint/2010/main" val="285751263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9183" y="272955"/>
            <a:ext cx="11914496" cy="6373505"/>
          </a:xfrm>
        </p:spPr>
        <p:txBody>
          <a:bodyPr>
            <a:normAutofit/>
          </a:bodyPr>
          <a:lstStyle/>
          <a:p>
            <a:pPr algn="just">
              <a:lnSpc>
                <a:spcPct val="100000"/>
              </a:lnSpc>
            </a:pPr>
            <a:r>
              <a:rPr lang="en-US" dirty="0" smtClean="0"/>
              <a:t>Input Layers : </a:t>
            </a:r>
          </a:p>
          <a:p>
            <a:pPr lvl="1" algn="just">
              <a:lnSpc>
                <a:spcPct val="100000"/>
              </a:lnSpc>
            </a:pPr>
            <a:r>
              <a:rPr lang="en-US" dirty="0"/>
              <a:t>It’s the layer in which we give input to our model. In CNN, Generally, the input will be an image or a sequence of images</a:t>
            </a:r>
            <a:r>
              <a:rPr lang="en-US" dirty="0" smtClean="0"/>
              <a:t>.</a:t>
            </a:r>
          </a:p>
          <a:p>
            <a:pPr lvl="1" algn="just">
              <a:lnSpc>
                <a:spcPct val="100000"/>
              </a:lnSpc>
            </a:pPr>
            <a:r>
              <a:rPr lang="en-US" dirty="0" smtClean="0"/>
              <a:t>This </a:t>
            </a:r>
            <a:r>
              <a:rPr lang="en-US" dirty="0"/>
              <a:t>layer holds the raw input of the image with </a:t>
            </a:r>
            <a:r>
              <a:rPr lang="en-US" dirty="0" smtClean="0"/>
              <a:t>width, height, </a:t>
            </a:r>
            <a:r>
              <a:rPr lang="en-US" dirty="0"/>
              <a:t>and </a:t>
            </a:r>
            <a:r>
              <a:rPr lang="en-US" dirty="0" smtClean="0"/>
              <a:t>depth.</a:t>
            </a:r>
          </a:p>
          <a:p>
            <a:pPr algn="just">
              <a:lnSpc>
                <a:spcPct val="100000"/>
              </a:lnSpc>
            </a:pPr>
            <a:r>
              <a:rPr lang="en-US" dirty="0" smtClean="0"/>
              <a:t>Convolutional Layers</a:t>
            </a:r>
            <a:r>
              <a:rPr lang="en-US" b="1" dirty="0" smtClean="0"/>
              <a:t>:</a:t>
            </a:r>
            <a:r>
              <a:rPr lang="en-US" b="1" dirty="0"/>
              <a:t> </a:t>
            </a:r>
            <a:endParaRPr lang="en-US" b="1" dirty="0" smtClean="0"/>
          </a:p>
          <a:p>
            <a:pPr lvl="1" algn="just">
              <a:lnSpc>
                <a:spcPct val="100000"/>
              </a:lnSpc>
            </a:pPr>
            <a:r>
              <a:rPr lang="en-US" dirty="0" smtClean="0"/>
              <a:t>This </a:t>
            </a:r>
            <a:r>
              <a:rPr lang="en-US" dirty="0"/>
              <a:t>is the layer, which is used to extract the feature from the input dataset</a:t>
            </a:r>
            <a:r>
              <a:rPr lang="en-US" dirty="0" smtClean="0"/>
              <a:t>.</a:t>
            </a:r>
          </a:p>
          <a:p>
            <a:pPr lvl="1" algn="just">
              <a:lnSpc>
                <a:spcPct val="100000"/>
              </a:lnSpc>
            </a:pPr>
            <a:r>
              <a:rPr lang="en-US" dirty="0" smtClean="0"/>
              <a:t>It is named after the mathematical operation called convolution called as CONVNET.</a:t>
            </a:r>
          </a:p>
          <a:p>
            <a:pPr lvl="1" algn="just">
              <a:lnSpc>
                <a:spcPct val="100000"/>
              </a:lnSpc>
            </a:pPr>
            <a:r>
              <a:rPr lang="en-US" dirty="0" smtClean="0"/>
              <a:t>It has set of Filters called Kernels or Masks.</a:t>
            </a:r>
          </a:p>
          <a:p>
            <a:pPr lvl="1" algn="just">
              <a:lnSpc>
                <a:spcPct val="100000"/>
              </a:lnSpc>
            </a:pPr>
            <a:r>
              <a:rPr lang="en-US" dirty="0" smtClean="0"/>
              <a:t>These filters are convolved with input to give feature map.</a:t>
            </a:r>
          </a:p>
          <a:p>
            <a:pPr lvl="1" algn="just">
              <a:lnSpc>
                <a:spcPct val="100000"/>
              </a:lnSpc>
            </a:pPr>
            <a:r>
              <a:rPr lang="en-US" dirty="0"/>
              <a:t>The filters/kernels are smaller matrices usually 2x2, 3x3, or 5x5 shape. </a:t>
            </a:r>
            <a:endParaRPr lang="en-US" dirty="0" smtClean="0"/>
          </a:p>
          <a:p>
            <a:pPr lvl="1" algn="just">
              <a:lnSpc>
                <a:spcPct val="100000"/>
              </a:lnSpc>
            </a:pPr>
            <a:r>
              <a:rPr lang="en-US" dirty="0"/>
              <a:t>I</a:t>
            </a:r>
            <a:r>
              <a:rPr lang="en-US" dirty="0" smtClean="0"/>
              <a:t>t </a:t>
            </a:r>
            <a:r>
              <a:rPr lang="en-US" dirty="0"/>
              <a:t>slides over the input image data and computes the dot product between kernel weight and the corresponding input image patch. </a:t>
            </a:r>
            <a:endParaRPr lang="en-US" dirty="0" smtClean="0"/>
          </a:p>
          <a:p>
            <a:pPr lvl="1" algn="just">
              <a:lnSpc>
                <a:spcPct val="100000"/>
              </a:lnSpc>
            </a:pPr>
            <a:r>
              <a:rPr lang="en-US" dirty="0" smtClean="0"/>
              <a:t>The </a:t>
            </a:r>
            <a:r>
              <a:rPr lang="en-US" dirty="0"/>
              <a:t>output of this layer is referred as feature maps. </a:t>
            </a:r>
          </a:p>
        </p:txBody>
      </p:sp>
    </p:spTree>
    <p:extLst>
      <p:ext uri="{BB962C8B-B14F-4D97-AF65-F5344CB8AC3E}">
        <p14:creationId xmlns:p14="http://schemas.microsoft.com/office/powerpoint/2010/main" val="397781920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7546" y="313899"/>
            <a:ext cx="11682484" cy="6332562"/>
          </a:xfrm>
        </p:spPr>
        <p:txBody>
          <a:bodyPr>
            <a:normAutofit/>
          </a:bodyPr>
          <a:lstStyle/>
          <a:p>
            <a:pPr algn="just">
              <a:lnSpc>
                <a:spcPct val="150000"/>
              </a:lnSpc>
            </a:pPr>
            <a:r>
              <a:rPr lang="en-US" dirty="0"/>
              <a:t> </a:t>
            </a:r>
            <a:r>
              <a:rPr lang="en-US" dirty="0" smtClean="0"/>
              <a:t>Activation Layer:</a:t>
            </a:r>
          </a:p>
          <a:p>
            <a:pPr lvl="1" algn="just">
              <a:lnSpc>
                <a:spcPct val="150000"/>
              </a:lnSpc>
            </a:pPr>
            <a:r>
              <a:rPr lang="en-US" dirty="0" smtClean="0"/>
              <a:t>By </a:t>
            </a:r>
            <a:r>
              <a:rPr lang="en-US" dirty="0"/>
              <a:t>adding an activation function to the output of the preceding layer, activation layers add nonlinearity to the network. </a:t>
            </a:r>
            <a:endParaRPr lang="en-US" dirty="0" smtClean="0"/>
          </a:p>
          <a:p>
            <a:pPr lvl="1" algn="just">
              <a:lnSpc>
                <a:spcPct val="150000"/>
              </a:lnSpc>
            </a:pPr>
            <a:r>
              <a:rPr lang="en-US" dirty="0" smtClean="0"/>
              <a:t>it </a:t>
            </a:r>
            <a:r>
              <a:rPr lang="en-US" dirty="0"/>
              <a:t>will apply an element-wise activation function to the output of the convolution layer. </a:t>
            </a:r>
            <a:endParaRPr lang="en-US" dirty="0" smtClean="0"/>
          </a:p>
          <a:p>
            <a:pPr lvl="1" algn="just">
              <a:lnSpc>
                <a:spcPct val="150000"/>
              </a:lnSpc>
            </a:pPr>
            <a:r>
              <a:rPr lang="en-US" dirty="0" smtClean="0"/>
              <a:t>Some </a:t>
            </a:r>
            <a:r>
              <a:rPr lang="en-US" dirty="0"/>
              <a:t>common activation functions are RELU: max(0, x),  </a:t>
            </a:r>
            <a:r>
              <a:rPr lang="en-US" dirty="0" err="1"/>
              <a:t>Tanh</a:t>
            </a:r>
            <a:r>
              <a:rPr lang="en-US" dirty="0"/>
              <a:t>, Leaky RELU, etc</a:t>
            </a:r>
            <a:r>
              <a:rPr lang="en-US" dirty="0" smtClean="0"/>
              <a:t>.</a:t>
            </a:r>
          </a:p>
          <a:p>
            <a:pPr algn="just">
              <a:lnSpc>
                <a:spcPct val="150000"/>
              </a:lnSpc>
            </a:pPr>
            <a:r>
              <a:rPr lang="en-US" dirty="0" smtClean="0"/>
              <a:t>Pooling Layer: </a:t>
            </a:r>
          </a:p>
          <a:p>
            <a:pPr lvl="1" algn="just">
              <a:lnSpc>
                <a:spcPct val="150000"/>
              </a:lnSpc>
            </a:pPr>
            <a:r>
              <a:rPr lang="en-US" dirty="0" smtClean="0"/>
              <a:t>This </a:t>
            </a:r>
            <a:r>
              <a:rPr lang="en-US" dirty="0"/>
              <a:t>layer is periodically inserted in the </a:t>
            </a:r>
            <a:r>
              <a:rPr lang="en-US" dirty="0" err="1"/>
              <a:t>covnets</a:t>
            </a:r>
            <a:r>
              <a:rPr lang="en-US" dirty="0"/>
              <a:t> and its main function is to reduce the size of volume which makes the computation fast reduces memory and also prevents </a:t>
            </a:r>
            <a:r>
              <a:rPr lang="en-US" dirty="0" err="1"/>
              <a:t>overfitting</a:t>
            </a:r>
            <a:r>
              <a:rPr lang="en-US" dirty="0"/>
              <a:t>. </a:t>
            </a:r>
            <a:endParaRPr lang="en-US" dirty="0" smtClean="0"/>
          </a:p>
          <a:p>
            <a:pPr lvl="1" algn="just">
              <a:lnSpc>
                <a:spcPct val="150000"/>
              </a:lnSpc>
            </a:pPr>
            <a:r>
              <a:rPr lang="en-US" dirty="0" smtClean="0"/>
              <a:t>Two </a:t>
            </a:r>
            <a:r>
              <a:rPr lang="en-US" dirty="0"/>
              <a:t>common types of pooling layers are </a:t>
            </a:r>
            <a:r>
              <a:rPr lang="en-US" b="1" dirty="0"/>
              <a:t>max pooling</a:t>
            </a:r>
            <a:r>
              <a:rPr lang="en-US" dirty="0"/>
              <a:t> and </a:t>
            </a:r>
            <a:r>
              <a:rPr lang="en-US" b="1" dirty="0"/>
              <a:t>average pooling</a:t>
            </a:r>
            <a:r>
              <a:rPr lang="en-US" dirty="0" smtClean="0"/>
              <a:t>.</a:t>
            </a:r>
          </a:p>
          <a:p>
            <a:pPr marL="0" indent="0" algn="just">
              <a:lnSpc>
                <a:spcPct val="150000"/>
              </a:lnSpc>
              <a:buNone/>
            </a:pPr>
            <a:endParaRPr lang="en-US" dirty="0"/>
          </a:p>
        </p:txBody>
      </p:sp>
    </p:spTree>
    <p:extLst>
      <p:ext uri="{BB962C8B-B14F-4D97-AF65-F5344CB8AC3E}">
        <p14:creationId xmlns:p14="http://schemas.microsoft.com/office/powerpoint/2010/main" val="296689685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2414" y="324370"/>
            <a:ext cx="11335603" cy="6049133"/>
          </a:xfrm>
        </p:spPr>
        <p:txBody>
          <a:bodyPr/>
          <a:lstStyle/>
          <a:p>
            <a:pPr algn="just">
              <a:lnSpc>
                <a:spcPct val="150000"/>
              </a:lnSpc>
            </a:pPr>
            <a:r>
              <a:rPr lang="en-US" b="1" dirty="0" smtClean="0"/>
              <a:t>Fully Connected Layers: </a:t>
            </a:r>
            <a:r>
              <a:rPr lang="en-US" dirty="0" smtClean="0"/>
              <a:t>It takes the input from the previous layer and computes the final classification or regression task.</a:t>
            </a:r>
          </a:p>
          <a:p>
            <a:pPr algn="just">
              <a:lnSpc>
                <a:spcPct val="150000"/>
              </a:lnSpc>
            </a:pPr>
            <a:r>
              <a:rPr lang="en-US" b="1" dirty="0" smtClean="0"/>
              <a:t>Output Layer:</a:t>
            </a:r>
            <a:r>
              <a:rPr lang="en-US" dirty="0" smtClean="0"/>
              <a:t> The output from the fully connected layers is then fed into a logistic function for classification tasks like sigmoid or </a:t>
            </a:r>
            <a:r>
              <a:rPr lang="en-US" dirty="0" err="1" smtClean="0"/>
              <a:t>softmax</a:t>
            </a:r>
            <a:r>
              <a:rPr lang="en-US" dirty="0" smtClean="0"/>
              <a:t> which converts the output of each class into the probability score of each class.</a:t>
            </a:r>
          </a:p>
          <a:p>
            <a:pPr>
              <a:lnSpc>
                <a:spcPct val="150000"/>
              </a:lnSpc>
            </a:pPr>
            <a:endParaRPr lang="en-US" dirty="0"/>
          </a:p>
        </p:txBody>
      </p:sp>
    </p:spTree>
    <p:extLst>
      <p:ext uri="{BB962C8B-B14F-4D97-AF65-F5344CB8AC3E}">
        <p14:creationId xmlns:p14="http://schemas.microsoft.com/office/powerpoint/2010/main" val="372812884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6603" y="382137"/>
            <a:ext cx="11067197" cy="5794826"/>
          </a:xfrm>
        </p:spPr>
        <p:txBody>
          <a:bodyPr/>
          <a:lstStyle/>
          <a:p>
            <a:pPr marL="0" indent="0" algn="just">
              <a:lnSpc>
                <a:spcPct val="150000"/>
              </a:lnSpc>
              <a:buNone/>
            </a:pPr>
            <a:r>
              <a:rPr lang="en-US" b="1" dirty="0"/>
              <a:t>Convolutional </a:t>
            </a:r>
            <a:r>
              <a:rPr lang="en-US" b="1" dirty="0" smtClean="0"/>
              <a:t>Layer :</a:t>
            </a:r>
          </a:p>
          <a:p>
            <a:pPr algn="just">
              <a:lnSpc>
                <a:spcPct val="150000"/>
              </a:lnSpc>
            </a:pPr>
            <a:r>
              <a:rPr lang="en-US" dirty="0"/>
              <a:t>Convolutional </a:t>
            </a:r>
            <a:r>
              <a:rPr lang="en-US" dirty="0" smtClean="0"/>
              <a:t>Layer </a:t>
            </a:r>
            <a:r>
              <a:rPr lang="en-US" dirty="0"/>
              <a:t>apply convolution operation to the input data which involves a filter (or kernel) that slides over the input data, performing element-wise multiplications and summing the results to produce a feature map. </a:t>
            </a:r>
          </a:p>
        </p:txBody>
      </p:sp>
    </p:spTree>
    <p:extLst>
      <p:ext uri="{BB962C8B-B14F-4D97-AF65-F5344CB8AC3E}">
        <p14:creationId xmlns:p14="http://schemas.microsoft.com/office/powerpoint/2010/main" val="31755919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4842" y="313899"/>
            <a:ext cx="11655188" cy="6264322"/>
          </a:xfrm>
        </p:spPr>
        <p:txBody>
          <a:bodyPr>
            <a:normAutofit fontScale="92500" lnSpcReduction="20000"/>
          </a:bodyPr>
          <a:lstStyle/>
          <a:p>
            <a:pPr marL="0" indent="0" algn="just" fontAlgn="base">
              <a:lnSpc>
                <a:spcPct val="150000"/>
              </a:lnSpc>
              <a:buNone/>
            </a:pPr>
            <a:r>
              <a:rPr lang="en-US" b="1" dirty="0"/>
              <a:t>Key Components of a Convolution Layer</a:t>
            </a:r>
          </a:p>
          <a:p>
            <a:pPr marL="0" indent="0" algn="just" fontAlgn="base">
              <a:lnSpc>
                <a:spcPct val="150000"/>
              </a:lnSpc>
              <a:buNone/>
            </a:pPr>
            <a:r>
              <a:rPr lang="en-US" b="1" dirty="0"/>
              <a:t>1. Filters(Kernels):</a:t>
            </a:r>
            <a:endParaRPr lang="en-US" dirty="0"/>
          </a:p>
          <a:p>
            <a:pPr lvl="1" algn="just" fontAlgn="base">
              <a:lnSpc>
                <a:spcPct val="150000"/>
              </a:lnSpc>
            </a:pPr>
            <a:r>
              <a:rPr lang="en-US" dirty="0"/>
              <a:t>Small matrices that extract specific features from the input.</a:t>
            </a:r>
          </a:p>
          <a:p>
            <a:pPr lvl="1" algn="just" fontAlgn="base">
              <a:lnSpc>
                <a:spcPct val="150000"/>
              </a:lnSpc>
            </a:pPr>
            <a:r>
              <a:rPr lang="en-US" dirty="0"/>
              <a:t>For example, one filter might detect horizontal edges while another detects vertical edges.</a:t>
            </a:r>
          </a:p>
          <a:p>
            <a:pPr lvl="1" algn="just" fontAlgn="base">
              <a:lnSpc>
                <a:spcPct val="150000"/>
              </a:lnSpc>
            </a:pPr>
            <a:r>
              <a:rPr lang="en-US" dirty="0"/>
              <a:t>The values of filters are learned and updated during training.</a:t>
            </a:r>
          </a:p>
          <a:p>
            <a:pPr marL="0" indent="0" algn="just" fontAlgn="base">
              <a:lnSpc>
                <a:spcPct val="150000"/>
              </a:lnSpc>
              <a:buNone/>
            </a:pPr>
            <a:r>
              <a:rPr lang="en-US" b="1" dirty="0"/>
              <a:t>2. Stride:</a:t>
            </a:r>
            <a:endParaRPr lang="en-US" dirty="0"/>
          </a:p>
          <a:p>
            <a:pPr lvl="1" algn="just" fontAlgn="base">
              <a:lnSpc>
                <a:spcPct val="150000"/>
              </a:lnSpc>
            </a:pPr>
            <a:r>
              <a:rPr lang="en-US" dirty="0"/>
              <a:t>Refers to the step size with which the filter moves across the input data.</a:t>
            </a:r>
          </a:p>
          <a:p>
            <a:pPr lvl="1" algn="just" fontAlgn="base">
              <a:lnSpc>
                <a:spcPct val="150000"/>
              </a:lnSpc>
            </a:pPr>
            <a:r>
              <a:rPr lang="en-US" dirty="0"/>
              <a:t>Larger strides result in smaller output feature maps and faster computation.</a:t>
            </a:r>
          </a:p>
          <a:p>
            <a:pPr marL="0" indent="0" algn="just" fontAlgn="base">
              <a:lnSpc>
                <a:spcPct val="150000"/>
              </a:lnSpc>
              <a:buNone/>
            </a:pPr>
            <a:r>
              <a:rPr lang="en-US" b="1" dirty="0"/>
              <a:t>3. Padding:</a:t>
            </a:r>
            <a:endParaRPr lang="en-US" dirty="0"/>
          </a:p>
          <a:p>
            <a:pPr lvl="1" algn="just" fontAlgn="base">
              <a:lnSpc>
                <a:spcPct val="150000"/>
              </a:lnSpc>
            </a:pPr>
            <a:r>
              <a:rPr lang="en-US" dirty="0" err="1"/>
              <a:t>Zeros</a:t>
            </a:r>
            <a:r>
              <a:rPr lang="en-US" dirty="0"/>
              <a:t> or other values may be added around the input to control the spatial dimensions of the output.</a:t>
            </a:r>
          </a:p>
          <a:p>
            <a:pPr algn="just">
              <a:lnSpc>
                <a:spcPct val="150000"/>
              </a:lnSpc>
            </a:pPr>
            <a:endParaRPr lang="en-US" dirty="0"/>
          </a:p>
        </p:txBody>
      </p:sp>
    </p:spTree>
    <p:extLst>
      <p:ext uri="{BB962C8B-B14F-4D97-AF65-F5344CB8AC3E}">
        <p14:creationId xmlns:p14="http://schemas.microsoft.com/office/powerpoint/2010/main" val="84858330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4024" y="395785"/>
            <a:ext cx="10889776" cy="5781178"/>
          </a:xfrm>
        </p:spPr>
        <p:txBody>
          <a:bodyPr/>
          <a:lstStyle/>
          <a:p>
            <a:pPr marL="0" indent="0">
              <a:buNone/>
            </a:pPr>
            <a:r>
              <a:rPr lang="en-US" b="1" dirty="0" smtClean="0"/>
              <a:t>4. Activation </a:t>
            </a:r>
            <a:r>
              <a:rPr lang="en-US" b="1" dirty="0"/>
              <a:t>Function:</a:t>
            </a:r>
          </a:p>
          <a:p>
            <a:pPr algn="just">
              <a:lnSpc>
                <a:spcPct val="150000"/>
              </a:lnSpc>
            </a:pPr>
            <a:r>
              <a:rPr lang="en-US" dirty="0" smtClean="0"/>
              <a:t>After </a:t>
            </a:r>
            <a:r>
              <a:rPr lang="en-US" dirty="0"/>
              <a:t>convolution, a non-linear function like </a:t>
            </a:r>
            <a:r>
              <a:rPr lang="en-US" dirty="0" err="1"/>
              <a:t>ReLU</a:t>
            </a:r>
            <a:r>
              <a:rPr lang="en-US" dirty="0"/>
              <a:t> (Rectified Linear Unit) is often applied allowing the network to learn complex relationships in data.</a:t>
            </a:r>
          </a:p>
        </p:txBody>
      </p:sp>
    </p:spTree>
    <p:extLst>
      <p:ext uri="{BB962C8B-B14F-4D97-AF65-F5344CB8AC3E}">
        <p14:creationId xmlns:p14="http://schemas.microsoft.com/office/powerpoint/2010/main" val="427108144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8641" y="242485"/>
            <a:ext cx="11567615" cy="6199258"/>
          </a:xfrm>
        </p:spPr>
        <p:txBody>
          <a:bodyPr>
            <a:normAutofit fontScale="92500"/>
          </a:bodyPr>
          <a:lstStyle/>
          <a:p>
            <a:pPr marL="0" indent="0" algn="just">
              <a:lnSpc>
                <a:spcPct val="150000"/>
              </a:lnSpc>
              <a:buNone/>
            </a:pPr>
            <a:r>
              <a:rPr lang="en-US" sz="2400" b="1" dirty="0"/>
              <a:t>Pooling </a:t>
            </a:r>
            <a:r>
              <a:rPr lang="en-US" sz="2400" b="1" dirty="0" smtClean="0"/>
              <a:t>Layer :</a:t>
            </a:r>
          </a:p>
          <a:p>
            <a:pPr algn="just">
              <a:lnSpc>
                <a:spcPct val="150000"/>
              </a:lnSpc>
            </a:pPr>
            <a:r>
              <a:rPr lang="en-US" sz="2400" dirty="0"/>
              <a:t>Pooling layer is used in CNNs to reduce the spatial dimensions (width and height) of the input feature maps while retaining the most important information</a:t>
            </a:r>
            <a:r>
              <a:rPr lang="en-US" sz="2400" dirty="0" smtClean="0"/>
              <a:t>.</a:t>
            </a:r>
          </a:p>
          <a:p>
            <a:pPr algn="just" fontAlgn="base">
              <a:lnSpc>
                <a:spcPct val="150000"/>
              </a:lnSpc>
            </a:pPr>
            <a:r>
              <a:rPr lang="en-US" sz="2400" b="1" dirty="0"/>
              <a:t>Types of Pooling Layers</a:t>
            </a:r>
          </a:p>
          <a:p>
            <a:pPr marL="0" indent="0" algn="just" fontAlgn="base">
              <a:lnSpc>
                <a:spcPct val="150000"/>
              </a:lnSpc>
              <a:buNone/>
            </a:pPr>
            <a:r>
              <a:rPr lang="en-US" sz="2400" b="1" dirty="0" smtClean="0"/>
              <a:t>1. Max </a:t>
            </a:r>
            <a:r>
              <a:rPr lang="en-US" sz="2400" b="1" dirty="0"/>
              <a:t>Pooling</a:t>
            </a:r>
          </a:p>
          <a:p>
            <a:pPr lvl="1" algn="just" fontAlgn="base">
              <a:lnSpc>
                <a:spcPct val="150000"/>
              </a:lnSpc>
            </a:pPr>
            <a:r>
              <a:rPr lang="en-US" dirty="0"/>
              <a:t>Max pooling selects the maximum element from the region of the feature map covered by the filter. </a:t>
            </a:r>
            <a:endParaRPr lang="en-US" dirty="0" smtClean="0"/>
          </a:p>
          <a:p>
            <a:pPr lvl="1" algn="just" fontAlgn="base">
              <a:lnSpc>
                <a:spcPct val="150000"/>
              </a:lnSpc>
            </a:pPr>
            <a:r>
              <a:rPr lang="en-US" dirty="0" smtClean="0"/>
              <a:t>Thus</a:t>
            </a:r>
            <a:r>
              <a:rPr lang="en-US" dirty="0"/>
              <a:t>, the output after max-pooling layer would be a feature map containing the most prominent features of the previous feature map. </a:t>
            </a:r>
          </a:p>
          <a:p>
            <a:pPr lvl="1" algn="just" fontAlgn="base">
              <a:lnSpc>
                <a:spcPct val="150000"/>
              </a:lnSpc>
            </a:pPr>
            <a:r>
              <a:rPr lang="en-US" dirty="0"/>
              <a:t>Max pooling layer preserves the most important features (edges, textures, etc.) and provides better performance in most cases.</a:t>
            </a:r>
          </a:p>
          <a:p>
            <a:pPr algn="just">
              <a:lnSpc>
                <a:spcPct val="150000"/>
              </a:lnSpc>
            </a:pPr>
            <a:endParaRPr lang="en-US" sz="2400" b="1" dirty="0"/>
          </a:p>
        </p:txBody>
      </p:sp>
    </p:spTree>
    <p:extLst>
      <p:ext uri="{BB962C8B-B14F-4D97-AF65-F5344CB8AC3E}">
        <p14:creationId xmlns:p14="http://schemas.microsoft.com/office/powerpoint/2010/main" val="197677997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5660" y="300251"/>
            <a:ext cx="11655188" cy="6264322"/>
          </a:xfrm>
        </p:spPr>
        <p:txBody>
          <a:bodyPr/>
          <a:lstStyle/>
          <a:p>
            <a:pPr marL="0" indent="0" algn="just" fontAlgn="base">
              <a:lnSpc>
                <a:spcPct val="150000"/>
              </a:lnSpc>
              <a:buNone/>
            </a:pPr>
            <a:r>
              <a:rPr lang="en-US" b="1" dirty="0"/>
              <a:t>2. Average Pooling</a:t>
            </a:r>
          </a:p>
          <a:p>
            <a:pPr algn="just" fontAlgn="base">
              <a:lnSpc>
                <a:spcPct val="150000"/>
              </a:lnSpc>
            </a:pPr>
            <a:r>
              <a:rPr lang="en-US" dirty="0"/>
              <a:t>Average pooling computes the average of the elements present in the region of feature map covered by the filter. </a:t>
            </a:r>
            <a:endParaRPr lang="en-US" dirty="0" smtClean="0"/>
          </a:p>
          <a:p>
            <a:pPr algn="just" fontAlgn="base">
              <a:lnSpc>
                <a:spcPct val="150000"/>
              </a:lnSpc>
            </a:pPr>
            <a:r>
              <a:rPr lang="en-US" dirty="0" smtClean="0"/>
              <a:t>Thus</a:t>
            </a:r>
            <a:r>
              <a:rPr lang="en-US" dirty="0"/>
              <a:t>, while max pooling gives the most prominent feature in a particular patch of the feature map, average pooling gives the average of features present in a patch. </a:t>
            </a:r>
          </a:p>
          <a:p>
            <a:pPr algn="just" fontAlgn="base">
              <a:lnSpc>
                <a:spcPct val="150000"/>
              </a:lnSpc>
            </a:pPr>
            <a:r>
              <a:rPr lang="en-US" dirty="0"/>
              <a:t>Average pooling provides a more generalized representation of the input. </a:t>
            </a:r>
            <a:endParaRPr lang="en-US" dirty="0" smtClean="0"/>
          </a:p>
          <a:p>
            <a:pPr algn="just" fontAlgn="base">
              <a:lnSpc>
                <a:spcPct val="150000"/>
              </a:lnSpc>
            </a:pPr>
            <a:r>
              <a:rPr lang="en-US" dirty="0" smtClean="0"/>
              <a:t>It </a:t>
            </a:r>
            <a:r>
              <a:rPr lang="en-US" dirty="0"/>
              <a:t>is useful in the cases where preserving the overall context is important.</a:t>
            </a:r>
          </a:p>
          <a:p>
            <a:pPr algn="just">
              <a:lnSpc>
                <a:spcPct val="150000"/>
              </a:lnSpc>
            </a:pPr>
            <a:endParaRPr lang="en-US" dirty="0"/>
          </a:p>
        </p:txBody>
      </p:sp>
    </p:spTree>
    <p:extLst>
      <p:ext uri="{BB962C8B-B14F-4D97-AF65-F5344CB8AC3E}">
        <p14:creationId xmlns:p14="http://schemas.microsoft.com/office/powerpoint/2010/main" val="209593308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creenshot-from-2017-08-15-17-22-4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7672" y="272955"/>
            <a:ext cx="11313994" cy="61414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086319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3899" y="242296"/>
            <a:ext cx="11039901" cy="590217"/>
          </a:xfrm>
        </p:spPr>
        <p:txBody>
          <a:bodyPr>
            <a:normAutofit fontScale="90000"/>
          </a:bodyPr>
          <a:lstStyle/>
          <a:p>
            <a:r>
              <a:rPr lang="en-US" b="1" dirty="0" smtClean="0"/>
              <a:t/>
            </a:r>
            <a:br>
              <a:rPr lang="en-US" b="1" dirty="0" smtClean="0"/>
            </a:br>
            <a:r>
              <a:rPr lang="en-US" b="1" dirty="0" smtClean="0"/>
              <a:t>Applications</a:t>
            </a:r>
            <a:br>
              <a:rPr lang="en-US" b="1" dirty="0" smtClean="0"/>
            </a:br>
            <a:endParaRPr lang="en-US" dirty="0"/>
          </a:p>
        </p:txBody>
      </p:sp>
      <p:sp>
        <p:nvSpPr>
          <p:cNvPr id="3" name="Content Placeholder 2"/>
          <p:cNvSpPr>
            <a:spLocks noGrp="1"/>
          </p:cNvSpPr>
          <p:nvPr>
            <p:ph idx="1"/>
          </p:nvPr>
        </p:nvSpPr>
        <p:spPr>
          <a:xfrm>
            <a:off x="428767" y="941696"/>
            <a:ext cx="11540320" cy="5516870"/>
          </a:xfrm>
        </p:spPr>
        <p:txBody>
          <a:bodyPr>
            <a:normAutofit fontScale="92500"/>
          </a:bodyPr>
          <a:lstStyle/>
          <a:p>
            <a:pPr algn="just" fontAlgn="base">
              <a:lnSpc>
                <a:spcPct val="150000"/>
              </a:lnSpc>
            </a:pPr>
            <a:r>
              <a:rPr lang="en-US" sz="2400" b="1" dirty="0" smtClean="0"/>
              <a:t>Image </a:t>
            </a:r>
            <a:r>
              <a:rPr lang="en-US" sz="2400" b="1" dirty="0"/>
              <a:t>classification:</a:t>
            </a:r>
            <a:r>
              <a:rPr lang="en-US" sz="2400" dirty="0"/>
              <a:t> CNNs are the state-of-the-art models for image classification. They can be used to classify images into different categories such as cats and dogs.</a:t>
            </a:r>
          </a:p>
          <a:p>
            <a:pPr algn="just" fontAlgn="base">
              <a:lnSpc>
                <a:spcPct val="150000"/>
              </a:lnSpc>
            </a:pPr>
            <a:r>
              <a:rPr lang="en-US" sz="2400" b="1" dirty="0"/>
              <a:t>Object detection:</a:t>
            </a:r>
            <a:r>
              <a:rPr lang="en-US" sz="2400" dirty="0"/>
              <a:t> It can be used to detect objects in images such as people, cars and buildings. They can also be used to localize objects in images which means that they can identify the location of an object in an image.</a:t>
            </a:r>
          </a:p>
          <a:p>
            <a:pPr algn="just" fontAlgn="base">
              <a:lnSpc>
                <a:spcPct val="150000"/>
              </a:lnSpc>
            </a:pPr>
            <a:r>
              <a:rPr lang="en-US" sz="2400" b="1" dirty="0"/>
              <a:t>Image segmentation:</a:t>
            </a:r>
            <a:r>
              <a:rPr lang="en-US" sz="2400" dirty="0"/>
              <a:t> It can be used to segment images which means that they can identify and label different objects in an image. This is useful for applications such as medical imaging and robotics.</a:t>
            </a:r>
          </a:p>
          <a:p>
            <a:pPr algn="just" fontAlgn="base">
              <a:lnSpc>
                <a:spcPct val="150000"/>
              </a:lnSpc>
            </a:pPr>
            <a:r>
              <a:rPr lang="en-US" sz="2400" b="1" dirty="0"/>
              <a:t>Video analysis:</a:t>
            </a:r>
            <a:r>
              <a:rPr lang="en-US" sz="2400" dirty="0"/>
              <a:t> It can be used to analyze videos such as tracking objects in a video or detecting events in a video. This is useful for applications such as video surveillance and traffic monitoring.</a:t>
            </a:r>
          </a:p>
          <a:p>
            <a:pPr algn="just">
              <a:lnSpc>
                <a:spcPct val="150000"/>
              </a:lnSpc>
            </a:pPr>
            <a:endParaRPr lang="en-US" sz="2400" dirty="0"/>
          </a:p>
        </p:txBody>
      </p:sp>
    </p:spTree>
    <p:extLst>
      <p:ext uri="{BB962C8B-B14F-4D97-AF65-F5344CB8AC3E}">
        <p14:creationId xmlns:p14="http://schemas.microsoft.com/office/powerpoint/2010/main" val="12978274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3231" y="283427"/>
            <a:ext cx="11745037" cy="6417623"/>
          </a:xfrm>
        </p:spPr>
        <p:txBody>
          <a:bodyPr>
            <a:normAutofit fontScale="92500" lnSpcReduction="20000"/>
          </a:bodyPr>
          <a:lstStyle/>
          <a:p>
            <a:pPr algn="just" fontAlgn="base">
              <a:lnSpc>
                <a:spcPct val="160000"/>
              </a:lnSpc>
            </a:pPr>
            <a:r>
              <a:rPr lang="en-US" b="1" dirty="0"/>
              <a:t>Advantages</a:t>
            </a:r>
          </a:p>
          <a:p>
            <a:pPr lvl="1" algn="just" fontAlgn="base">
              <a:lnSpc>
                <a:spcPct val="160000"/>
              </a:lnSpc>
            </a:pPr>
            <a:r>
              <a:rPr lang="en-US" b="1" dirty="0"/>
              <a:t>High Accuracy</a:t>
            </a:r>
            <a:r>
              <a:rPr lang="en-US" dirty="0"/>
              <a:t>: They can achieve high accuracy in various image recognition tasks.</a:t>
            </a:r>
          </a:p>
          <a:p>
            <a:pPr lvl="1" algn="just" fontAlgn="base">
              <a:lnSpc>
                <a:spcPct val="160000"/>
              </a:lnSpc>
            </a:pPr>
            <a:r>
              <a:rPr lang="en-US" b="1" dirty="0"/>
              <a:t>Efficiency</a:t>
            </a:r>
            <a:r>
              <a:rPr lang="en-US" dirty="0"/>
              <a:t>: They are efficient, especially when implemented on GPUs.</a:t>
            </a:r>
          </a:p>
          <a:p>
            <a:pPr lvl="1" algn="just" fontAlgn="base">
              <a:lnSpc>
                <a:spcPct val="160000"/>
              </a:lnSpc>
            </a:pPr>
            <a:r>
              <a:rPr lang="en-US" b="1" dirty="0"/>
              <a:t>Robustness</a:t>
            </a:r>
            <a:r>
              <a:rPr lang="en-US" dirty="0"/>
              <a:t>: They are robust to noise and variations in input data.</a:t>
            </a:r>
          </a:p>
          <a:p>
            <a:pPr lvl="1" algn="just" fontAlgn="base">
              <a:lnSpc>
                <a:spcPct val="160000"/>
              </a:lnSpc>
            </a:pPr>
            <a:r>
              <a:rPr lang="en-US" b="1" dirty="0"/>
              <a:t>Adaptability</a:t>
            </a:r>
            <a:r>
              <a:rPr lang="en-US" dirty="0"/>
              <a:t>: It can be adapted to different tasks by modifying their architecture.</a:t>
            </a:r>
          </a:p>
          <a:p>
            <a:pPr algn="just" fontAlgn="base">
              <a:lnSpc>
                <a:spcPct val="160000"/>
              </a:lnSpc>
            </a:pPr>
            <a:r>
              <a:rPr lang="en-US" b="1" dirty="0"/>
              <a:t>Disadvantages</a:t>
            </a:r>
          </a:p>
          <a:p>
            <a:pPr lvl="1" algn="just" fontAlgn="base">
              <a:lnSpc>
                <a:spcPct val="160000"/>
              </a:lnSpc>
            </a:pPr>
            <a:r>
              <a:rPr lang="en-US" b="1" dirty="0"/>
              <a:t>Complexity</a:t>
            </a:r>
            <a:r>
              <a:rPr lang="en-US" dirty="0"/>
              <a:t>: It can be complex and difficult to train, especially for large datasets.</a:t>
            </a:r>
          </a:p>
          <a:p>
            <a:pPr lvl="1" algn="just" fontAlgn="base">
              <a:lnSpc>
                <a:spcPct val="160000"/>
              </a:lnSpc>
            </a:pPr>
            <a:r>
              <a:rPr lang="en-US" b="1" dirty="0"/>
              <a:t>Resource-Intensive</a:t>
            </a:r>
            <a:r>
              <a:rPr lang="en-US" dirty="0"/>
              <a:t>: It require significant computational resources for training and deployment.</a:t>
            </a:r>
          </a:p>
          <a:p>
            <a:pPr lvl="1" algn="just" fontAlgn="base">
              <a:lnSpc>
                <a:spcPct val="160000"/>
              </a:lnSpc>
            </a:pPr>
            <a:r>
              <a:rPr lang="en-US" b="1" dirty="0"/>
              <a:t>Data Requirements</a:t>
            </a:r>
            <a:r>
              <a:rPr lang="en-US" dirty="0"/>
              <a:t>: They need large amounts of labeled data for training.</a:t>
            </a:r>
          </a:p>
          <a:p>
            <a:pPr lvl="1" algn="just" fontAlgn="base">
              <a:lnSpc>
                <a:spcPct val="160000"/>
              </a:lnSpc>
            </a:pPr>
            <a:r>
              <a:rPr lang="en-US" b="1" dirty="0"/>
              <a:t>Interpretability</a:t>
            </a:r>
            <a:r>
              <a:rPr lang="en-US" dirty="0"/>
              <a:t>: They can be difficult to interpret making it challenging to understand their predictions.</a:t>
            </a:r>
          </a:p>
          <a:p>
            <a:pPr algn="just">
              <a:lnSpc>
                <a:spcPct val="160000"/>
              </a:lnSpc>
            </a:pPr>
            <a:endParaRPr lang="en-US" dirty="0"/>
          </a:p>
        </p:txBody>
      </p:sp>
    </p:spTree>
    <p:extLst>
      <p:ext uri="{BB962C8B-B14F-4D97-AF65-F5344CB8AC3E}">
        <p14:creationId xmlns:p14="http://schemas.microsoft.com/office/powerpoint/2010/main" val="262979016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755" y="228648"/>
            <a:ext cx="10515600" cy="835877"/>
          </a:xfrm>
        </p:spPr>
        <p:txBody>
          <a:bodyPr>
            <a:normAutofit/>
          </a:bodyPr>
          <a:lstStyle/>
          <a:p>
            <a:r>
              <a:rPr lang="en-US" b="1" dirty="0"/>
              <a:t>Evaluation of CNN </a:t>
            </a:r>
            <a:r>
              <a:rPr lang="en-US" b="1" dirty="0" smtClean="0"/>
              <a:t>Models</a:t>
            </a:r>
            <a:endParaRPr lang="en-US" b="1" dirty="0"/>
          </a:p>
        </p:txBody>
      </p:sp>
      <p:pic>
        <p:nvPicPr>
          <p:cNvPr id="1026" name="Picture 2" descr="How to Evaluate Deep Learning Models: Key Metrics Explained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36979" y="1065213"/>
            <a:ext cx="10863618" cy="5457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968567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5936" y="351666"/>
            <a:ext cx="11553967" cy="6158315"/>
          </a:xfrm>
        </p:spPr>
        <p:txBody>
          <a:bodyPr/>
          <a:lstStyle/>
          <a:p>
            <a:pPr algn="just"/>
            <a:r>
              <a:rPr lang="en-US" dirty="0"/>
              <a:t>A </a:t>
            </a:r>
            <a:r>
              <a:rPr lang="en-US" b="1" dirty="0"/>
              <a:t>confusion matrix</a:t>
            </a:r>
            <a:r>
              <a:rPr lang="en-US" dirty="0"/>
              <a:t> is a </a:t>
            </a:r>
            <a:r>
              <a:rPr lang="en-US" b="1" dirty="0"/>
              <a:t>performance evaluation table</a:t>
            </a:r>
            <a:r>
              <a:rPr lang="en-US" dirty="0"/>
              <a:t> used to assess how well a classification model (like a CNN) performs on a </a:t>
            </a:r>
            <a:r>
              <a:rPr lang="en-US" b="1" dirty="0"/>
              <a:t>set of test data</a:t>
            </a:r>
            <a:r>
              <a:rPr lang="en-US" dirty="0"/>
              <a:t> where the true labels are </a:t>
            </a:r>
            <a:r>
              <a:rPr lang="en-US" dirty="0" smtClean="0"/>
              <a:t>known</a:t>
            </a:r>
          </a:p>
          <a:p>
            <a:pPr algn="just"/>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447310727"/>
              </p:ext>
            </p:extLst>
          </p:nvPr>
        </p:nvGraphicFramePr>
        <p:xfrm>
          <a:off x="668739" y="1924334"/>
          <a:ext cx="11027391" cy="4585646"/>
        </p:xfrm>
        <a:graphic>
          <a:graphicData uri="http://schemas.openxmlformats.org/drawingml/2006/table">
            <a:tbl>
              <a:tblPr/>
              <a:tblGrid>
                <a:gridCol w="3675797"/>
                <a:gridCol w="3675797"/>
                <a:gridCol w="3675797"/>
              </a:tblGrid>
              <a:tr h="573206">
                <a:tc>
                  <a:txBody>
                    <a:bodyPr/>
                    <a:lstStyle/>
                    <a:p>
                      <a:pPr algn="just"/>
                      <a:r>
                        <a:rPr lang="en-US" b="1" dirty="0"/>
                        <a:t>Term</a:t>
                      </a:r>
                    </a:p>
                  </a:txBody>
                  <a:tcPr anchor="ctr">
                    <a:lnL>
                      <a:noFill/>
                    </a:lnL>
                    <a:lnR>
                      <a:noFill/>
                    </a:lnR>
                    <a:lnT>
                      <a:noFill/>
                    </a:lnT>
                    <a:lnB>
                      <a:noFill/>
                    </a:lnB>
                  </a:tcPr>
                </a:tc>
                <a:tc>
                  <a:txBody>
                    <a:bodyPr/>
                    <a:lstStyle/>
                    <a:p>
                      <a:pPr algn="just"/>
                      <a:r>
                        <a:rPr lang="en-US" b="1"/>
                        <a:t>Meaning</a:t>
                      </a:r>
                    </a:p>
                  </a:txBody>
                  <a:tcPr anchor="ctr">
                    <a:lnL>
                      <a:noFill/>
                    </a:lnL>
                    <a:lnR>
                      <a:noFill/>
                    </a:lnR>
                    <a:lnT>
                      <a:noFill/>
                    </a:lnT>
                    <a:lnB>
                      <a:noFill/>
                    </a:lnB>
                  </a:tcPr>
                </a:tc>
                <a:tc>
                  <a:txBody>
                    <a:bodyPr/>
                    <a:lstStyle/>
                    <a:p>
                      <a:pPr algn="just"/>
                      <a:r>
                        <a:rPr lang="en-US" b="1"/>
                        <a:t>Example (Cat vs Not Cat)</a:t>
                      </a:r>
                    </a:p>
                  </a:txBody>
                  <a:tcPr anchor="ctr">
                    <a:lnL>
                      <a:noFill/>
                    </a:lnL>
                    <a:lnR>
                      <a:noFill/>
                    </a:lnR>
                    <a:lnT>
                      <a:noFill/>
                    </a:lnT>
                    <a:lnB>
                      <a:noFill/>
                    </a:lnB>
                  </a:tcPr>
                </a:tc>
              </a:tr>
              <a:tr h="1003110">
                <a:tc>
                  <a:txBody>
                    <a:bodyPr/>
                    <a:lstStyle/>
                    <a:p>
                      <a:pPr algn="just"/>
                      <a:r>
                        <a:rPr lang="en-US" b="1" dirty="0"/>
                        <a:t>TP (True Positive)</a:t>
                      </a:r>
                    </a:p>
                  </a:txBody>
                  <a:tcPr anchor="ctr">
                    <a:lnL>
                      <a:noFill/>
                    </a:lnL>
                    <a:lnR>
                      <a:noFill/>
                    </a:lnR>
                    <a:lnT>
                      <a:noFill/>
                    </a:lnT>
                    <a:lnB>
                      <a:noFill/>
                    </a:lnB>
                  </a:tcPr>
                </a:tc>
                <a:tc>
                  <a:txBody>
                    <a:bodyPr/>
                    <a:lstStyle/>
                    <a:p>
                      <a:pPr algn="just"/>
                      <a:r>
                        <a:rPr lang="en-US" b="1" dirty="0"/>
                        <a:t>Model predicts </a:t>
                      </a:r>
                      <a:r>
                        <a:rPr lang="en-US" b="1" i="1" dirty="0"/>
                        <a:t>Cat</a:t>
                      </a:r>
                      <a:r>
                        <a:rPr lang="en-US" b="1" dirty="0"/>
                        <a:t>, and it’s actually </a:t>
                      </a:r>
                      <a:r>
                        <a:rPr lang="en-US" b="1" i="1" dirty="0"/>
                        <a:t>Cat</a:t>
                      </a:r>
                      <a:r>
                        <a:rPr lang="en-US" b="1" dirty="0"/>
                        <a:t>.</a:t>
                      </a:r>
                    </a:p>
                  </a:txBody>
                  <a:tcPr anchor="ctr">
                    <a:lnL>
                      <a:noFill/>
                    </a:lnL>
                    <a:lnR>
                      <a:noFill/>
                    </a:lnR>
                    <a:lnT>
                      <a:noFill/>
                    </a:lnT>
                    <a:lnB>
                      <a:noFill/>
                    </a:lnB>
                  </a:tcPr>
                </a:tc>
                <a:tc>
                  <a:txBody>
                    <a:bodyPr/>
                    <a:lstStyle/>
                    <a:p>
                      <a:pPr algn="just"/>
                      <a:r>
                        <a:rPr lang="en-US" b="1"/>
                        <a:t>Correctly detected a cat.</a:t>
                      </a:r>
                    </a:p>
                  </a:txBody>
                  <a:tcPr anchor="ctr">
                    <a:lnL>
                      <a:noFill/>
                    </a:lnL>
                    <a:lnR>
                      <a:noFill/>
                    </a:lnR>
                    <a:lnT>
                      <a:noFill/>
                    </a:lnT>
                    <a:lnB>
                      <a:noFill/>
                    </a:lnB>
                  </a:tcPr>
                </a:tc>
              </a:tr>
              <a:tr h="1003110">
                <a:tc>
                  <a:txBody>
                    <a:bodyPr/>
                    <a:lstStyle/>
                    <a:p>
                      <a:pPr algn="just"/>
                      <a:r>
                        <a:rPr lang="en-US" b="1"/>
                        <a:t>TN (True Negative)</a:t>
                      </a:r>
                    </a:p>
                  </a:txBody>
                  <a:tcPr anchor="ctr">
                    <a:lnL>
                      <a:noFill/>
                    </a:lnL>
                    <a:lnR>
                      <a:noFill/>
                    </a:lnR>
                    <a:lnT>
                      <a:noFill/>
                    </a:lnT>
                    <a:lnB>
                      <a:noFill/>
                    </a:lnB>
                  </a:tcPr>
                </a:tc>
                <a:tc>
                  <a:txBody>
                    <a:bodyPr/>
                    <a:lstStyle/>
                    <a:p>
                      <a:pPr algn="just"/>
                      <a:r>
                        <a:rPr lang="en-US" b="1" dirty="0"/>
                        <a:t>Model predicts </a:t>
                      </a:r>
                      <a:r>
                        <a:rPr lang="en-US" b="1" i="1" dirty="0"/>
                        <a:t>Not Cat</a:t>
                      </a:r>
                      <a:r>
                        <a:rPr lang="en-US" b="1" dirty="0"/>
                        <a:t>, and it’s actually </a:t>
                      </a:r>
                      <a:r>
                        <a:rPr lang="en-US" b="1" i="1" dirty="0"/>
                        <a:t>Not Cat</a:t>
                      </a:r>
                      <a:r>
                        <a:rPr lang="en-US" b="1" dirty="0"/>
                        <a:t>.</a:t>
                      </a:r>
                    </a:p>
                  </a:txBody>
                  <a:tcPr anchor="ctr">
                    <a:lnL>
                      <a:noFill/>
                    </a:lnL>
                    <a:lnR>
                      <a:noFill/>
                    </a:lnR>
                    <a:lnT>
                      <a:noFill/>
                    </a:lnT>
                    <a:lnB>
                      <a:noFill/>
                    </a:lnB>
                  </a:tcPr>
                </a:tc>
                <a:tc>
                  <a:txBody>
                    <a:bodyPr/>
                    <a:lstStyle/>
                    <a:p>
                      <a:pPr algn="just"/>
                      <a:r>
                        <a:rPr lang="en-US" b="1" dirty="0"/>
                        <a:t>Correctly rejected a non-cat.</a:t>
                      </a:r>
                    </a:p>
                  </a:txBody>
                  <a:tcPr anchor="ctr">
                    <a:lnL>
                      <a:noFill/>
                    </a:lnL>
                    <a:lnR>
                      <a:noFill/>
                    </a:lnR>
                    <a:lnT>
                      <a:noFill/>
                    </a:lnT>
                    <a:lnB>
                      <a:noFill/>
                    </a:lnB>
                  </a:tcPr>
                </a:tc>
              </a:tr>
              <a:tr h="1003110">
                <a:tc>
                  <a:txBody>
                    <a:bodyPr/>
                    <a:lstStyle/>
                    <a:p>
                      <a:pPr algn="just"/>
                      <a:r>
                        <a:rPr lang="en-US" b="1"/>
                        <a:t>FP (False Positive)</a:t>
                      </a:r>
                    </a:p>
                  </a:txBody>
                  <a:tcPr anchor="ctr">
                    <a:lnL>
                      <a:noFill/>
                    </a:lnL>
                    <a:lnR>
                      <a:noFill/>
                    </a:lnR>
                    <a:lnT>
                      <a:noFill/>
                    </a:lnT>
                    <a:lnB>
                      <a:noFill/>
                    </a:lnB>
                  </a:tcPr>
                </a:tc>
                <a:tc>
                  <a:txBody>
                    <a:bodyPr/>
                    <a:lstStyle/>
                    <a:p>
                      <a:pPr algn="just"/>
                      <a:r>
                        <a:rPr lang="en-US" b="1" dirty="0"/>
                        <a:t>Model predicts </a:t>
                      </a:r>
                      <a:r>
                        <a:rPr lang="en-US" b="1" i="1" dirty="0"/>
                        <a:t>Cat</a:t>
                      </a:r>
                      <a:r>
                        <a:rPr lang="en-US" b="1" dirty="0"/>
                        <a:t>, but it’s actually </a:t>
                      </a:r>
                      <a:r>
                        <a:rPr lang="en-US" b="1" i="1" dirty="0"/>
                        <a:t>Not Cat</a:t>
                      </a:r>
                      <a:r>
                        <a:rPr lang="en-US" b="1" dirty="0"/>
                        <a:t>.</a:t>
                      </a:r>
                    </a:p>
                  </a:txBody>
                  <a:tcPr anchor="ctr">
                    <a:lnL>
                      <a:noFill/>
                    </a:lnL>
                    <a:lnR>
                      <a:noFill/>
                    </a:lnR>
                    <a:lnT>
                      <a:noFill/>
                    </a:lnT>
                    <a:lnB>
                      <a:noFill/>
                    </a:lnB>
                  </a:tcPr>
                </a:tc>
                <a:tc>
                  <a:txBody>
                    <a:bodyPr/>
                    <a:lstStyle/>
                    <a:p>
                      <a:pPr algn="just"/>
                      <a:r>
                        <a:rPr lang="en-US" b="1"/>
                        <a:t>Mistakenly said there’s a cat.</a:t>
                      </a:r>
                    </a:p>
                  </a:txBody>
                  <a:tcPr anchor="ctr">
                    <a:lnL>
                      <a:noFill/>
                    </a:lnL>
                    <a:lnR>
                      <a:noFill/>
                    </a:lnR>
                    <a:lnT>
                      <a:noFill/>
                    </a:lnT>
                    <a:lnB>
                      <a:noFill/>
                    </a:lnB>
                  </a:tcPr>
                </a:tc>
              </a:tr>
              <a:tr h="1003110">
                <a:tc>
                  <a:txBody>
                    <a:bodyPr/>
                    <a:lstStyle/>
                    <a:p>
                      <a:pPr algn="just"/>
                      <a:r>
                        <a:rPr lang="en-US" b="1"/>
                        <a:t>FN (False Negative)</a:t>
                      </a:r>
                    </a:p>
                  </a:txBody>
                  <a:tcPr anchor="ctr">
                    <a:lnL>
                      <a:noFill/>
                    </a:lnL>
                    <a:lnR>
                      <a:noFill/>
                    </a:lnR>
                    <a:lnT>
                      <a:noFill/>
                    </a:lnT>
                    <a:lnB>
                      <a:noFill/>
                    </a:lnB>
                  </a:tcPr>
                </a:tc>
                <a:tc>
                  <a:txBody>
                    <a:bodyPr/>
                    <a:lstStyle/>
                    <a:p>
                      <a:pPr algn="just"/>
                      <a:r>
                        <a:rPr lang="en-US" b="1"/>
                        <a:t>Model predicts </a:t>
                      </a:r>
                      <a:r>
                        <a:rPr lang="en-US" b="1" i="1"/>
                        <a:t>Not Cat</a:t>
                      </a:r>
                      <a:r>
                        <a:rPr lang="en-US" b="1"/>
                        <a:t>, but it’s actually </a:t>
                      </a:r>
                      <a:r>
                        <a:rPr lang="en-US" b="1" i="1"/>
                        <a:t>Cat</a:t>
                      </a:r>
                      <a:r>
                        <a:rPr lang="en-US" b="1"/>
                        <a:t>.</a:t>
                      </a:r>
                    </a:p>
                  </a:txBody>
                  <a:tcPr anchor="ctr">
                    <a:lnL>
                      <a:noFill/>
                    </a:lnL>
                    <a:lnR>
                      <a:noFill/>
                    </a:lnR>
                    <a:lnT>
                      <a:noFill/>
                    </a:lnT>
                    <a:lnB>
                      <a:noFill/>
                    </a:lnB>
                  </a:tcPr>
                </a:tc>
                <a:tc>
                  <a:txBody>
                    <a:bodyPr/>
                    <a:lstStyle/>
                    <a:p>
                      <a:pPr algn="just"/>
                      <a:r>
                        <a:rPr lang="en-US" b="1" dirty="0"/>
                        <a:t>Missed a real cat.</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416779946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1193" y="641445"/>
            <a:ext cx="11614245" cy="5977719"/>
          </a:xfrm>
        </p:spPr>
        <p:txBody>
          <a:bodyPr/>
          <a:lstStyle/>
          <a:p>
            <a:pPr algn="just" fontAlgn="base">
              <a:lnSpc>
                <a:spcPct val="150000"/>
              </a:lnSpc>
            </a:pPr>
            <a:r>
              <a:rPr lang="en-US" b="1" dirty="0"/>
              <a:t>Accuracy:</a:t>
            </a:r>
            <a:r>
              <a:rPr lang="en-US" dirty="0"/>
              <a:t> Accuracy is the percentage of test images that the CNN correctly classifies</a:t>
            </a:r>
            <a:r>
              <a:rPr lang="en-US" dirty="0" smtClean="0"/>
              <a:t>.</a:t>
            </a:r>
          </a:p>
          <a:p>
            <a:pPr marL="0" indent="0" algn="just" fontAlgn="base">
              <a:lnSpc>
                <a:spcPct val="150000"/>
              </a:lnSpc>
              <a:buNone/>
            </a:pPr>
            <a:r>
              <a:rPr lang="en-US" dirty="0"/>
              <a:t>	 Accuracy = (TP + TN) / Total</a:t>
            </a:r>
          </a:p>
          <a:p>
            <a:pPr algn="just" fontAlgn="base">
              <a:lnSpc>
                <a:spcPct val="150000"/>
              </a:lnSpc>
            </a:pPr>
            <a:r>
              <a:rPr lang="en-US" b="1" dirty="0"/>
              <a:t>Precision:</a:t>
            </a:r>
            <a:r>
              <a:rPr lang="en-US" dirty="0"/>
              <a:t> Precision is the percentage of test images that the CNN predicts as a particular class and that are actually of that class</a:t>
            </a:r>
            <a:r>
              <a:rPr lang="en-US" dirty="0" smtClean="0"/>
              <a:t>.</a:t>
            </a:r>
          </a:p>
          <a:p>
            <a:pPr marL="0" indent="0" algn="just" fontAlgn="base">
              <a:lnSpc>
                <a:spcPct val="150000"/>
              </a:lnSpc>
              <a:buNone/>
            </a:pPr>
            <a:r>
              <a:rPr lang="en-US" dirty="0"/>
              <a:t>	 Precision = TP / (TP + FP)</a:t>
            </a:r>
          </a:p>
          <a:p>
            <a:pPr marL="0" indent="0" algn="just" fontAlgn="base">
              <a:lnSpc>
                <a:spcPct val="150000"/>
              </a:lnSpc>
              <a:buNone/>
            </a:pPr>
            <a:endParaRPr lang="en-US" dirty="0"/>
          </a:p>
        </p:txBody>
      </p:sp>
    </p:spTree>
    <p:extLst>
      <p:ext uri="{BB962C8B-B14F-4D97-AF65-F5344CB8AC3E}">
        <p14:creationId xmlns:p14="http://schemas.microsoft.com/office/powerpoint/2010/main" val="93030372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5120" y="460849"/>
            <a:ext cx="11240068" cy="6008190"/>
          </a:xfrm>
        </p:spPr>
        <p:txBody>
          <a:bodyPr/>
          <a:lstStyle/>
          <a:p>
            <a:pPr algn="just" fontAlgn="base">
              <a:lnSpc>
                <a:spcPct val="150000"/>
              </a:lnSpc>
            </a:pPr>
            <a:r>
              <a:rPr lang="en-US" b="1" dirty="0"/>
              <a:t>Recall:</a:t>
            </a:r>
            <a:r>
              <a:rPr lang="en-US" dirty="0"/>
              <a:t> Recall is the percentage of test images that are of a particular class and that the CNN predicts as that class.</a:t>
            </a:r>
          </a:p>
          <a:p>
            <a:pPr marL="0" indent="0" algn="just" fontAlgn="base">
              <a:lnSpc>
                <a:spcPct val="150000"/>
              </a:lnSpc>
              <a:buNone/>
            </a:pPr>
            <a:r>
              <a:rPr lang="en-US" dirty="0"/>
              <a:t>	 Recall = TP / (TP + FN)</a:t>
            </a:r>
          </a:p>
          <a:p>
            <a:pPr algn="just" fontAlgn="base">
              <a:lnSpc>
                <a:spcPct val="150000"/>
              </a:lnSpc>
            </a:pPr>
            <a:r>
              <a:rPr lang="en-US" b="1" dirty="0"/>
              <a:t>F1 Score:</a:t>
            </a:r>
            <a:r>
              <a:rPr lang="en-US" dirty="0"/>
              <a:t> The F1 Score is a harmonic mean of precision and recall. It is a good metric for evaluating the performance of a CNN on classes that are imbalanced</a:t>
            </a:r>
            <a:r>
              <a:rPr lang="en-US" dirty="0" smtClean="0"/>
              <a:t>.</a:t>
            </a:r>
          </a:p>
          <a:p>
            <a:pPr marL="0" indent="0" algn="just" fontAlgn="base">
              <a:lnSpc>
                <a:spcPct val="150000"/>
              </a:lnSpc>
              <a:buNone/>
            </a:pPr>
            <a:r>
              <a:rPr lang="en-US" dirty="0"/>
              <a:t>	F1 = 2 × (Precision × Recall) / (Precision + Recall)</a:t>
            </a:r>
          </a:p>
          <a:p>
            <a:pPr algn="just">
              <a:lnSpc>
                <a:spcPct val="150000"/>
              </a:lnSpc>
            </a:pPr>
            <a:endParaRPr lang="en-US" dirty="0"/>
          </a:p>
        </p:txBody>
      </p:sp>
    </p:spTree>
    <p:extLst>
      <p:ext uri="{BB962C8B-B14F-4D97-AF65-F5344CB8AC3E}">
        <p14:creationId xmlns:p14="http://schemas.microsoft.com/office/powerpoint/2010/main" val="206362506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7547" y="150127"/>
            <a:ext cx="11012606" cy="4749420"/>
          </a:xfrm>
        </p:spPr>
        <p:txBody>
          <a:bodyPr>
            <a:normAutofit fontScale="85000" lnSpcReduction="20000"/>
          </a:bodyPr>
          <a:lstStyle/>
          <a:p>
            <a:pPr marL="0" indent="0" algn="just">
              <a:lnSpc>
                <a:spcPct val="150000"/>
              </a:lnSpc>
              <a:buNone/>
            </a:pPr>
            <a:r>
              <a:rPr lang="en-US" dirty="0" smtClean="0"/>
              <a:t>Problem Statement :A trained CNN model </a:t>
            </a:r>
            <a:r>
              <a:rPr lang="en-US" dirty="0"/>
              <a:t>to classify images as </a:t>
            </a:r>
            <a:r>
              <a:rPr lang="en-US" b="1" dirty="0"/>
              <a:t>Cat</a:t>
            </a:r>
            <a:r>
              <a:rPr lang="en-US" dirty="0"/>
              <a:t> (positive class) or </a:t>
            </a:r>
            <a:r>
              <a:rPr lang="en-US" b="1" dirty="0"/>
              <a:t>Not-Cat</a:t>
            </a:r>
            <a:r>
              <a:rPr lang="en-US" dirty="0"/>
              <a:t> (negative class). On a test set of </a:t>
            </a:r>
            <a:r>
              <a:rPr lang="en-US" b="1" dirty="0"/>
              <a:t>200</a:t>
            </a:r>
            <a:r>
              <a:rPr lang="en-US" dirty="0"/>
              <a:t> images the model produced the following outcomes:</a:t>
            </a:r>
          </a:p>
          <a:p>
            <a:pPr algn="just">
              <a:lnSpc>
                <a:spcPct val="150000"/>
              </a:lnSpc>
            </a:pPr>
            <a:r>
              <a:rPr lang="en-US" dirty="0"/>
              <a:t>True Positives (TP) = </a:t>
            </a:r>
            <a:r>
              <a:rPr lang="en-US" b="1" dirty="0"/>
              <a:t>80</a:t>
            </a:r>
            <a:r>
              <a:rPr lang="en-US" dirty="0"/>
              <a:t> (model predicted Cat, actual Cat)</a:t>
            </a:r>
          </a:p>
          <a:p>
            <a:pPr algn="just">
              <a:lnSpc>
                <a:spcPct val="150000"/>
              </a:lnSpc>
            </a:pPr>
            <a:r>
              <a:rPr lang="en-US" dirty="0"/>
              <a:t>True Negatives (TN) = </a:t>
            </a:r>
            <a:r>
              <a:rPr lang="en-US" b="1" dirty="0"/>
              <a:t>90</a:t>
            </a:r>
            <a:r>
              <a:rPr lang="en-US" dirty="0"/>
              <a:t> (model predicted Not-Cat, actual Not-Cat)</a:t>
            </a:r>
          </a:p>
          <a:p>
            <a:pPr algn="just">
              <a:lnSpc>
                <a:spcPct val="150000"/>
              </a:lnSpc>
            </a:pPr>
            <a:r>
              <a:rPr lang="en-US" dirty="0"/>
              <a:t>False Positives (FP) = </a:t>
            </a:r>
            <a:r>
              <a:rPr lang="en-US" b="1" dirty="0"/>
              <a:t>20</a:t>
            </a:r>
            <a:r>
              <a:rPr lang="en-US" dirty="0"/>
              <a:t> (model predicted Cat, actual Not-Cat)</a:t>
            </a:r>
          </a:p>
          <a:p>
            <a:pPr algn="just">
              <a:lnSpc>
                <a:spcPct val="150000"/>
              </a:lnSpc>
            </a:pPr>
            <a:r>
              <a:rPr lang="en-US" dirty="0"/>
              <a:t>False Negatives (FN) = </a:t>
            </a:r>
            <a:r>
              <a:rPr lang="en-US" b="1" dirty="0"/>
              <a:t>10</a:t>
            </a:r>
            <a:r>
              <a:rPr lang="en-US" dirty="0"/>
              <a:t> (model predicted Not-Cat, actual Cat</a:t>
            </a:r>
            <a:r>
              <a:rPr lang="en-US" dirty="0" smtClean="0"/>
              <a:t>)</a:t>
            </a:r>
          </a:p>
          <a:p>
            <a:pPr algn="just">
              <a:lnSpc>
                <a:spcPct val="150000"/>
              </a:lnSpc>
            </a:pPr>
            <a:r>
              <a:rPr lang="en-US" dirty="0" smtClean="0"/>
              <a:t>Confusion matrix is: </a:t>
            </a:r>
            <a:endParaRPr lang="en-US" dirty="0"/>
          </a:p>
          <a:p>
            <a:pPr marL="0" indent="0" algn="just">
              <a:lnSpc>
                <a:spcPct val="150000"/>
              </a:lnSpc>
              <a:buNone/>
            </a:pPr>
            <a:endParaRPr lang="en-US" dirty="0"/>
          </a:p>
        </p:txBody>
      </p:sp>
      <p:graphicFrame>
        <p:nvGraphicFramePr>
          <p:cNvPr id="4" name="Content Placeholder 3"/>
          <p:cNvGraphicFramePr>
            <a:graphicFrameLocks/>
          </p:cNvGraphicFramePr>
          <p:nvPr>
            <p:extLst>
              <p:ext uri="{D42A27DB-BD31-4B8C-83A1-F6EECF244321}">
                <p14:modId xmlns:p14="http://schemas.microsoft.com/office/powerpoint/2010/main" val="2493525551"/>
              </p:ext>
            </p:extLst>
          </p:nvPr>
        </p:nvGraphicFramePr>
        <p:xfrm>
          <a:off x="617052" y="5412423"/>
          <a:ext cx="6575319" cy="1097280"/>
        </p:xfrm>
        <a:graphic>
          <a:graphicData uri="http://schemas.openxmlformats.org/drawingml/2006/table">
            <a:tbl>
              <a:tblPr/>
              <a:tblGrid>
                <a:gridCol w="2191773"/>
                <a:gridCol w="2191773"/>
                <a:gridCol w="2191773"/>
              </a:tblGrid>
              <a:tr h="0">
                <a:tc>
                  <a:txBody>
                    <a:bodyPr/>
                    <a:lstStyle/>
                    <a:p>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dirty="0"/>
                        <a:t>Predicted Cat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t>Predicted Not-Cat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b="1" dirty="0"/>
                        <a:t>Actual Cat</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dirty="0"/>
                        <a:t>TP = </a:t>
                      </a:r>
                      <a:r>
                        <a:rPr lang="en-US" b="1" dirty="0"/>
                        <a:t>80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t>FN = </a:t>
                      </a:r>
                      <a:r>
                        <a:rPr lang="en-US" b="1"/>
                        <a:t>10</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b="1" dirty="0"/>
                        <a:t>Actual Not-Cat</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dirty="0"/>
                        <a:t>FP = </a:t>
                      </a:r>
                      <a:r>
                        <a:rPr lang="en-US" b="1" dirty="0"/>
                        <a:t>20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dirty="0"/>
                        <a:t>TN = </a:t>
                      </a:r>
                      <a:r>
                        <a:rPr lang="en-US" b="1" dirty="0"/>
                        <a:t>90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3454022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497006" y="1146412"/>
            <a:ext cx="10856794" cy="5030551"/>
          </a:xfrm>
        </p:spPr>
        <p:txBody>
          <a:bodyPr>
            <a:normAutofit/>
          </a:bodyPr>
          <a:lstStyle/>
          <a:p>
            <a:pPr algn="just"/>
            <a:r>
              <a:rPr lang="en-US" dirty="0" err="1" smtClean="0"/>
              <a:t>ResNet</a:t>
            </a:r>
            <a:r>
              <a:rPr lang="en-US" dirty="0"/>
              <a:t>, which was proposed in 2015 by researchers at Microsoft Research introduced a new architecture called Residual Network</a:t>
            </a:r>
            <a:r>
              <a:rPr lang="en-US" dirty="0" smtClean="0"/>
              <a:t>.</a:t>
            </a:r>
            <a:endParaRPr lang="en-US" dirty="0"/>
          </a:p>
          <a:p>
            <a:pPr algn="just"/>
            <a:r>
              <a:rPr lang="en-US" dirty="0"/>
              <a:t>In order to solve the problem of the vanishing/exploding gradient, this architecture introduced the concept called </a:t>
            </a:r>
            <a:r>
              <a:rPr lang="en-US" b="1" dirty="0"/>
              <a:t>Residual Blocks</a:t>
            </a:r>
            <a:r>
              <a:rPr lang="en-US" dirty="0"/>
              <a:t>. In this network, we use a technique called </a:t>
            </a:r>
            <a:r>
              <a:rPr lang="en-US" b="1" i="1" dirty="0"/>
              <a:t>skip connections</a:t>
            </a:r>
            <a:r>
              <a:rPr lang="en-US" dirty="0"/>
              <a:t>. </a:t>
            </a:r>
            <a:endParaRPr lang="en-US" dirty="0" smtClean="0"/>
          </a:p>
        </p:txBody>
      </p:sp>
      <p:sp>
        <p:nvSpPr>
          <p:cNvPr id="2" name="Rectangle 1"/>
          <p:cNvSpPr/>
          <p:nvPr/>
        </p:nvSpPr>
        <p:spPr>
          <a:xfrm>
            <a:off x="497006" y="255475"/>
            <a:ext cx="9956572" cy="646331"/>
          </a:xfrm>
          <a:prstGeom prst="rect">
            <a:avLst/>
          </a:prstGeom>
        </p:spPr>
        <p:txBody>
          <a:bodyPr wrap="none">
            <a:spAutoFit/>
          </a:bodyPr>
          <a:lstStyle/>
          <a:p>
            <a:pPr fontAlgn="base"/>
            <a:r>
              <a:rPr lang="en-US" sz="3600" b="1" dirty="0">
                <a:solidFill>
                  <a:srgbClr val="273239"/>
                </a:solidFill>
                <a:latin typeface="Source Sans 3"/>
              </a:rPr>
              <a:t>Residual Networks (</a:t>
            </a:r>
            <a:r>
              <a:rPr lang="en-US" sz="3600" b="1" dirty="0" err="1">
                <a:solidFill>
                  <a:srgbClr val="273239"/>
                </a:solidFill>
                <a:latin typeface="Source Sans 3"/>
              </a:rPr>
              <a:t>ResNet</a:t>
            </a:r>
            <a:r>
              <a:rPr lang="en-US" sz="3600" b="1" dirty="0">
                <a:solidFill>
                  <a:srgbClr val="273239"/>
                </a:solidFill>
                <a:latin typeface="Source Sans 3"/>
              </a:rPr>
              <a:t>) - Deep Learning</a:t>
            </a:r>
            <a:endParaRPr lang="en-US" sz="3600" b="1" i="0" dirty="0">
              <a:solidFill>
                <a:srgbClr val="273239"/>
              </a:solidFill>
              <a:effectLst/>
              <a:latin typeface="Source Sans 3"/>
            </a:endParaRPr>
          </a:p>
        </p:txBody>
      </p:sp>
      <p:pic>
        <p:nvPicPr>
          <p:cNvPr id="2050" name="Picture 2" descr="https://media.geeksforgeeks.org/wp-content/uploads/20200424011510/Residual-Block.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8274" y="3630744"/>
            <a:ext cx="6096000" cy="2790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321821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3357" y="515440"/>
            <a:ext cx="11089943" cy="3769958"/>
          </a:xfrm>
        </p:spPr>
        <p:txBody>
          <a:bodyPr/>
          <a:lstStyle/>
          <a:p>
            <a:pPr algn="just"/>
            <a:r>
              <a:rPr lang="en-US" dirty="0"/>
              <a:t>The skip connection connects activations of a  layer to further layers by skipping some layers in between. </a:t>
            </a:r>
          </a:p>
          <a:p>
            <a:pPr algn="just"/>
            <a:r>
              <a:rPr lang="en-US" dirty="0"/>
              <a:t>This forms a residual block. </a:t>
            </a:r>
          </a:p>
          <a:p>
            <a:pPr algn="just"/>
            <a:r>
              <a:rPr lang="en-US" dirty="0" err="1"/>
              <a:t>Resnets</a:t>
            </a:r>
            <a:r>
              <a:rPr lang="en-US" dirty="0"/>
              <a:t> are made by stacking these residual blocks together. </a:t>
            </a:r>
            <a:br>
              <a:rPr lang="en-US" dirty="0"/>
            </a:br>
            <a:endParaRPr lang="en-US" dirty="0"/>
          </a:p>
          <a:p>
            <a:pPr algn="just"/>
            <a:r>
              <a:rPr lang="en-US" dirty="0"/>
              <a:t>The approach behind this network is instead of layers learning the underlying mapping, we allow the network to fit the residual mapping. So, instead of say H(x), initial mapping</a:t>
            </a:r>
            <a:r>
              <a:rPr lang="en-US" i="1" dirty="0"/>
              <a:t>, </a:t>
            </a:r>
            <a:r>
              <a:rPr lang="en-US" dirty="0"/>
              <a:t>let the network fit, </a:t>
            </a:r>
          </a:p>
          <a:p>
            <a:endParaRPr lang="en-US" dirty="0"/>
          </a:p>
        </p:txBody>
      </p:sp>
      <p:sp>
        <p:nvSpPr>
          <p:cNvPr id="6" name="Rectangle 5"/>
          <p:cNvSpPr/>
          <p:nvPr/>
        </p:nvSpPr>
        <p:spPr>
          <a:xfrm>
            <a:off x="586854" y="4464545"/>
            <a:ext cx="10986446" cy="1477328"/>
          </a:xfrm>
          <a:prstGeom prst="rect">
            <a:avLst/>
          </a:prstGeom>
        </p:spPr>
        <p:txBody>
          <a:bodyPr wrap="square">
            <a:spAutoFit/>
          </a:bodyPr>
          <a:lstStyle/>
          <a:p>
            <a:pPr algn="just">
              <a:lnSpc>
                <a:spcPct val="150000"/>
              </a:lnSpc>
            </a:pPr>
            <a:r>
              <a:rPr lang="en-US" sz="2000" dirty="0">
                <a:solidFill>
                  <a:srgbClr val="273239"/>
                </a:solidFill>
                <a:latin typeface="Nunito"/>
              </a:rPr>
              <a:t>F(x) = H(x) - x is the "residual", which is usually smaller and easier to learn</a:t>
            </a:r>
            <a:r>
              <a:rPr lang="en-US" sz="2000" dirty="0"/>
              <a:t/>
            </a:r>
            <a:br>
              <a:rPr lang="en-US" sz="2000" dirty="0"/>
            </a:br>
            <a:r>
              <a:rPr lang="en-US" sz="2000" dirty="0">
                <a:solidFill>
                  <a:srgbClr val="273239"/>
                </a:solidFill>
                <a:latin typeface="Nunito"/>
              </a:rPr>
              <a:t>The network combines this residual F(x) with the input x using a shortcut or skip connection: </a:t>
            </a:r>
            <a:r>
              <a:rPr lang="en-US" sz="2000" dirty="0" smtClean="0">
                <a:solidFill>
                  <a:srgbClr val="273239"/>
                </a:solidFill>
                <a:latin typeface="Nunito"/>
              </a:rPr>
              <a:t>which </a:t>
            </a:r>
            <a:r>
              <a:rPr lang="en-US" sz="2000" dirty="0">
                <a:solidFill>
                  <a:srgbClr val="273239"/>
                </a:solidFill>
                <a:latin typeface="Nunito"/>
              </a:rPr>
              <a:t>gives </a:t>
            </a:r>
            <a:r>
              <a:rPr lang="en-US" sz="2000" b="1" dirty="0">
                <a:solidFill>
                  <a:srgbClr val="273239"/>
                </a:solidFill>
                <a:latin typeface="Nunito"/>
              </a:rPr>
              <a:t>H(x) = F(x) + x</a:t>
            </a:r>
            <a:r>
              <a:rPr lang="en-US" sz="2000" dirty="0">
                <a:solidFill>
                  <a:srgbClr val="273239"/>
                </a:solidFill>
                <a:latin typeface="Nunito"/>
              </a:rPr>
              <a:t>. </a:t>
            </a:r>
            <a:endParaRPr lang="en-US" sz="2000" dirty="0"/>
          </a:p>
        </p:txBody>
      </p:sp>
    </p:spTree>
    <p:extLst>
      <p:ext uri="{BB962C8B-B14F-4D97-AF65-F5344CB8AC3E}">
        <p14:creationId xmlns:p14="http://schemas.microsoft.com/office/powerpoint/2010/main" val="323088867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3081" y="354842"/>
            <a:ext cx="10930719" cy="5822121"/>
          </a:xfrm>
        </p:spPr>
        <p:txBody>
          <a:bodyPr/>
          <a:lstStyle/>
          <a:p>
            <a:pPr algn="just">
              <a:lnSpc>
                <a:spcPct val="150000"/>
              </a:lnSpc>
            </a:pPr>
            <a:r>
              <a:rPr lang="en-US" dirty="0"/>
              <a:t>The advantage of adding this type of skip connection is that if any layer hurt the performance of architecture then it will be skipped by regularization. </a:t>
            </a:r>
            <a:endParaRPr lang="en-US" dirty="0" smtClean="0"/>
          </a:p>
          <a:p>
            <a:pPr algn="just">
              <a:lnSpc>
                <a:spcPct val="150000"/>
              </a:lnSpc>
            </a:pPr>
            <a:r>
              <a:rPr lang="en-US" dirty="0" smtClean="0"/>
              <a:t>So</a:t>
            </a:r>
            <a:r>
              <a:rPr lang="en-US" dirty="0"/>
              <a:t>, this results in training a very deep neural network without the problems caused by vanishing/exploding gradient</a:t>
            </a:r>
            <a:r>
              <a:rPr lang="en-US" dirty="0" smtClean="0"/>
              <a:t>.</a:t>
            </a:r>
          </a:p>
          <a:p>
            <a:pPr algn="just">
              <a:lnSpc>
                <a:spcPct val="150000"/>
              </a:lnSpc>
            </a:pPr>
            <a:r>
              <a:rPr lang="en-US" dirty="0"/>
              <a:t>Learning small adjustments F(x) is much easier for the network, especially when the network is very deep. This makes training faster and avoids problems like gradients becoming too small</a:t>
            </a:r>
          </a:p>
        </p:txBody>
      </p:sp>
    </p:spTree>
    <p:extLst>
      <p:ext uri="{BB962C8B-B14F-4D97-AF65-F5344CB8AC3E}">
        <p14:creationId xmlns:p14="http://schemas.microsoft.com/office/powerpoint/2010/main" val="36937956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723332" y="1163835"/>
            <a:ext cx="10385945" cy="5114135"/>
          </a:xfrm>
          <a:prstGeom prst="rect">
            <a:avLst/>
          </a:prstGeom>
        </p:spPr>
      </p:pic>
      <p:sp>
        <p:nvSpPr>
          <p:cNvPr id="5" name="TextBox 4"/>
          <p:cNvSpPr txBox="1"/>
          <p:nvPr/>
        </p:nvSpPr>
        <p:spPr>
          <a:xfrm>
            <a:off x="600501" y="300250"/>
            <a:ext cx="9949218" cy="584775"/>
          </a:xfrm>
          <a:prstGeom prst="rect">
            <a:avLst/>
          </a:prstGeom>
          <a:noFill/>
        </p:spPr>
        <p:txBody>
          <a:bodyPr wrap="square" rtlCol="0">
            <a:spAutoFit/>
          </a:bodyPr>
          <a:lstStyle/>
          <a:p>
            <a:r>
              <a:rPr lang="en-US" sz="3200" b="1" dirty="0" smtClean="0"/>
              <a:t>Architecture of RESNET50</a:t>
            </a:r>
            <a:endParaRPr lang="en-US" sz="3200" b="1" dirty="0"/>
          </a:p>
        </p:txBody>
      </p:sp>
    </p:spTree>
    <p:extLst>
      <p:ext uri="{BB962C8B-B14F-4D97-AF65-F5344CB8AC3E}">
        <p14:creationId xmlns:p14="http://schemas.microsoft.com/office/powerpoint/2010/main" val="126778110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5661" y="272955"/>
            <a:ext cx="11696130" cy="6400799"/>
          </a:xfrm>
        </p:spPr>
        <p:txBody>
          <a:bodyPr>
            <a:normAutofit/>
          </a:bodyPr>
          <a:lstStyle/>
          <a:p>
            <a:pPr marL="0" indent="0" algn="just">
              <a:buNone/>
            </a:pPr>
            <a:r>
              <a:rPr lang="en-US" b="1" dirty="0"/>
              <a:t>Key Features</a:t>
            </a:r>
            <a:r>
              <a:rPr lang="en-US" dirty="0"/>
              <a:t> </a:t>
            </a:r>
            <a:endParaRPr lang="en-US" dirty="0" smtClean="0"/>
          </a:p>
          <a:p>
            <a:pPr algn="just"/>
            <a:r>
              <a:rPr lang="en-US" dirty="0" smtClean="0"/>
              <a:t>Depth</a:t>
            </a:r>
            <a:r>
              <a:rPr lang="en-US" dirty="0"/>
              <a:t>: The network consists of 50 layers, including 48 convolutional layers, one average pooling layer, and one fully connected layer</a:t>
            </a:r>
            <a:r>
              <a:rPr lang="en-US" dirty="0" smtClean="0"/>
              <a:t>.</a:t>
            </a:r>
          </a:p>
          <a:p>
            <a:pPr algn="just"/>
            <a:endParaRPr lang="en-US" dirty="0" smtClean="0"/>
          </a:p>
          <a:p>
            <a:pPr algn="just"/>
            <a:r>
              <a:rPr lang="en-US" dirty="0" smtClean="0"/>
              <a:t>Residual </a:t>
            </a:r>
            <a:r>
              <a:rPr lang="en-US" dirty="0"/>
              <a:t>Blocks: The core innovation is the "residual block" (also called a "bottleneck block"), where the output of an earlier layer is added to the output of a later layer. This creates a direct path for the gradient to flow during backpropagation, mitigating the vanishing gradient problem</a:t>
            </a:r>
            <a:r>
              <a:rPr lang="en-US" dirty="0" smtClean="0"/>
              <a:t>.</a:t>
            </a:r>
          </a:p>
          <a:p>
            <a:pPr marL="0" indent="0" algn="just">
              <a:buNone/>
            </a:pPr>
            <a:endParaRPr lang="en-US" dirty="0" smtClean="0"/>
          </a:p>
          <a:p>
            <a:pPr algn="just"/>
            <a:r>
              <a:rPr lang="en-US" dirty="0" smtClean="0"/>
              <a:t>Skip </a:t>
            </a:r>
            <a:r>
              <a:rPr lang="en-US" dirty="0"/>
              <a:t>Connections: These identity connections allow the original input information to bypass one or more layers, ensuring that the network can maintain performance even with increased depth. The output of a residual block is represented as \(f(x)+x\), where \(x\) is the input and \(f(x)\) is the learned residual mapping</a:t>
            </a:r>
            <a:r>
              <a:rPr lang="en-US" dirty="0" smtClean="0"/>
              <a:t>.</a:t>
            </a:r>
          </a:p>
        </p:txBody>
      </p:sp>
    </p:spTree>
    <p:extLst>
      <p:ext uri="{BB962C8B-B14F-4D97-AF65-F5344CB8AC3E}">
        <p14:creationId xmlns:p14="http://schemas.microsoft.com/office/powerpoint/2010/main" val="214082361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2263" y="614149"/>
            <a:ext cx="10821537" cy="5562814"/>
          </a:xfrm>
        </p:spPr>
        <p:txBody>
          <a:bodyPr/>
          <a:lstStyle/>
          <a:p>
            <a:pPr algn="just">
              <a:lnSpc>
                <a:spcPct val="150000"/>
              </a:lnSpc>
            </a:pPr>
            <a:r>
              <a:rPr lang="en-US" dirty="0"/>
              <a:t>Pre-training: ResNet-50 is typically available pre-trained on the </a:t>
            </a:r>
            <a:r>
              <a:rPr lang="en-US" dirty="0" err="1"/>
              <a:t>ImageNet</a:t>
            </a:r>
            <a:r>
              <a:rPr lang="en-US" dirty="0"/>
              <a:t> database, a massive dataset with millions of images across 1000 object categories. This pre-training provides strong, general feature representations that can be applied to new tasks through transfer learning.</a:t>
            </a:r>
          </a:p>
          <a:p>
            <a:pPr algn="just">
              <a:lnSpc>
                <a:spcPct val="150000"/>
              </a:lnSpc>
            </a:pPr>
            <a:r>
              <a:rPr lang="en-US" dirty="0"/>
              <a:t>Architecture: The network is divided into five main stages, with each stage containing multiple residual blocks and employing batch normalization and </a:t>
            </a:r>
            <a:r>
              <a:rPr lang="en-US" dirty="0" err="1"/>
              <a:t>ReLU</a:t>
            </a:r>
            <a:r>
              <a:rPr lang="en-US" dirty="0"/>
              <a:t> activation functions</a:t>
            </a:r>
          </a:p>
        </p:txBody>
      </p:sp>
    </p:spTree>
    <p:extLst>
      <p:ext uri="{BB962C8B-B14F-4D97-AF65-F5344CB8AC3E}">
        <p14:creationId xmlns:p14="http://schemas.microsoft.com/office/powerpoint/2010/main" val="256417275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p:cNvPicPr>
            <a:picLocks noGrp="1" noChangeAspect="1"/>
          </p:cNvPicPr>
          <p:nvPr>
            <p:ph idx="1"/>
          </p:nvPr>
        </p:nvPicPr>
        <p:blipFill>
          <a:blip r:embed="rId2"/>
          <a:stretch>
            <a:fillRect/>
          </a:stretch>
        </p:blipFill>
        <p:spPr>
          <a:xfrm>
            <a:off x="600501" y="697398"/>
            <a:ext cx="11041039" cy="5225729"/>
          </a:xfrm>
          <a:prstGeom prst="rect">
            <a:avLst/>
          </a:prstGeom>
        </p:spPr>
      </p:pic>
    </p:spTree>
    <p:extLst>
      <p:ext uri="{BB962C8B-B14F-4D97-AF65-F5344CB8AC3E}">
        <p14:creationId xmlns:p14="http://schemas.microsoft.com/office/powerpoint/2010/main" val="371048835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3233" y="160411"/>
            <a:ext cx="10515600" cy="644808"/>
          </a:xfrm>
        </p:spPr>
        <p:txBody>
          <a:bodyPr>
            <a:normAutofit fontScale="90000"/>
          </a:bodyPr>
          <a:lstStyle/>
          <a:p>
            <a:r>
              <a:rPr lang="en-US" b="1" dirty="0"/>
              <a:t>VGG-16 | CNN </a:t>
            </a:r>
            <a:r>
              <a:rPr lang="en-US" b="1" dirty="0" smtClean="0"/>
              <a:t>model</a:t>
            </a:r>
            <a:endParaRPr lang="en-US" dirty="0"/>
          </a:p>
        </p:txBody>
      </p:sp>
      <p:sp>
        <p:nvSpPr>
          <p:cNvPr id="3" name="Content Placeholder 2"/>
          <p:cNvSpPr>
            <a:spLocks noGrp="1"/>
          </p:cNvSpPr>
          <p:nvPr>
            <p:ph idx="1"/>
          </p:nvPr>
        </p:nvSpPr>
        <p:spPr>
          <a:xfrm>
            <a:off x="333233" y="1119116"/>
            <a:ext cx="11731388" cy="5404514"/>
          </a:xfrm>
        </p:spPr>
        <p:txBody>
          <a:bodyPr>
            <a:normAutofit fontScale="85000" lnSpcReduction="10000"/>
          </a:bodyPr>
          <a:lstStyle/>
          <a:p>
            <a:pPr algn="just">
              <a:lnSpc>
                <a:spcPct val="150000"/>
              </a:lnSpc>
            </a:pPr>
            <a:r>
              <a:rPr lang="en-US" dirty="0"/>
              <a:t>The VGG-16 model is a convolutional neural network (CNN) architecture that was proposed by the Visual Geometry Group (VGG) at the University of Oxford. </a:t>
            </a:r>
            <a:endParaRPr lang="en-US" dirty="0" smtClean="0"/>
          </a:p>
          <a:p>
            <a:pPr algn="just">
              <a:lnSpc>
                <a:spcPct val="150000"/>
              </a:lnSpc>
            </a:pPr>
            <a:r>
              <a:rPr lang="en-US" dirty="0" smtClean="0"/>
              <a:t>It </a:t>
            </a:r>
            <a:r>
              <a:rPr lang="en-US" dirty="0"/>
              <a:t>is characterized by its depth, consisting of 16 layers including 13 convolutional layers and 3 fully connected layers. </a:t>
            </a:r>
            <a:endParaRPr lang="en-US" dirty="0" smtClean="0"/>
          </a:p>
          <a:p>
            <a:pPr algn="just">
              <a:lnSpc>
                <a:spcPct val="150000"/>
              </a:lnSpc>
            </a:pPr>
            <a:r>
              <a:rPr lang="en-US" dirty="0" smtClean="0"/>
              <a:t>VGG-16 </a:t>
            </a:r>
            <a:r>
              <a:rPr lang="en-US" dirty="0"/>
              <a:t>is renowned for its simplicity and effectiveness as well as its ability to achieve strong performance on various computer vision tasks including image classification and object recognition. </a:t>
            </a:r>
            <a:endParaRPr lang="en-US" dirty="0" smtClean="0"/>
          </a:p>
          <a:p>
            <a:pPr algn="just">
              <a:lnSpc>
                <a:spcPct val="150000"/>
              </a:lnSpc>
            </a:pPr>
            <a:r>
              <a:rPr lang="en-US" dirty="0" smtClean="0"/>
              <a:t>Despite </a:t>
            </a:r>
            <a:r>
              <a:rPr lang="en-US" dirty="0"/>
              <a:t>its simplicity compared to more recent architectures it remains a popular choice for many deep learning applications due to its versatility and excellent performance.</a:t>
            </a:r>
          </a:p>
        </p:txBody>
      </p:sp>
    </p:spTree>
    <p:extLst>
      <p:ext uri="{BB962C8B-B14F-4D97-AF65-F5344CB8AC3E}">
        <p14:creationId xmlns:p14="http://schemas.microsoft.com/office/powerpoint/2010/main" val="237886555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403" y="174057"/>
            <a:ext cx="10515600" cy="849526"/>
          </a:xfrm>
        </p:spPr>
        <p:txBody>
          <a:bodyPr/>
          <a:lstStyle/>
          <a:p>
            <a:r>
              <a:rPr lang="en-US" b="1" dirty="0"/>
              <a:t>VGG-16 Architecture </a:t>
            </a:r>
            <a:endParaRPr lang="en-US" dirty="0"/>
          </a:p>
        </p:txBody>
      </p:sp>
      <p:pic>
        <p:nvPicPr>
          <p:cNvPr id="5" name="Content Placeholder 4"/>
          <p:cNvPicPr>
            <a:picLocks noGrp="1" noChangeAspect="1"/>
          </p:cNvPicPr>
          <p:nvPr>
            <p:ph idx="1"/>
          </p:nvPr>
        </p:nvPicPr>
        <p:blipFill>
          <a:blip r:embed="rId2"/>
          <a:stretch>
            <a:fillRect/>
          </a:stretch>
        </p:blipFill>
        <p:spPr>
          <a:xfrm>
            <a:off x="818865" y="1282890"/>
            <a:ext cx="10781731" cy="5063319"/>
          </a:xfrm>
          <a:prstGeom prst="rect">
            <a:avLst/>
          </a:prstGeom>
        </p:spPr>
      </p:pic>
    </p:spTree>
    <p:extLst>
      <p:ext uri="{BB962C8B-B14F-4D97-AF65-F5344CB8AC3E}">
        <p14:creationId xmlns:p14="http://schemas.microsoft.com/office/powerpoint/2010/main" val="317370964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https://media.geeksforgeeks.org/wp-content/uploads/20200219152327/conv-layers-vgg16-1024x450.jpg"/>
          <p:cNvPicPr>
            <a:picLocks noChangeAspect="1" noChangeArrowheads="1"/>
          </p:cNvPicPr>
          <p:nvPr/>
        </p:nvPicPr>
        <p:blipFill rotWithShape="1">
          <a:blip r:embed="rId2">
            <a:extLst>
              <a:ext uri="{28A0092B-C50C-407E-A947-70E740481C1C}">
                <a14:useLocalDpi xmlns:a14="http://schemas.microsoft.com/office/drawing/2010/main" val="0"/>
              </a:ext>
            </a:extLst>
          </a:blip>
          <a:srcRect t="10746"/>
          <a:stretch/>
        </p:blipFill>
        <p:spPr bwMode="auto">
          <a:xfrm>
            <a:off x="614149" y="627796"/>
            <a:ext cx="10795379" cy="56638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518868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5119" y="351667"/>
            <a:ext cx="11540320" cy="6212906"/>
          </a:xfrm>
        </p:spPr>
        <p:txBody>
          <a:bodyPr>
            <a:normAutofit/>
          </a:bodyPr>
          <a:lstStyle/>
          <a:p>
            <a:pPr algn="just"/>
            <a:r>
              <a:rPr lang="en-US" sz="2400" dirty="0"/>
              <a:t>The </a:t>
            </a:r>
            <a:r>
              <a:rPr lang="en-US" sz="2400" dirty="0" err="1"/>
              <a:t>ImageNet</a:t>
            </a:r>
            <a:r>
              <a:rPr lang="en-US" sz="2400" dirty="0"/>
              <a:t> dataset contains images of fixed size of 224*224 and have RGB channels. So, we have a tensor of (224, 224, 3) as our input. </a:t>
            </a:r>
            <a:endParaRPr lang="en-US" sz="2400" dirty="0" smtClean="0"/>
          </a:p>
          <a:p>
            <a:pPr algn="just"/>
            <a:r>
              <a:rPr lang="en-US" sz="2400" dirty="0" smtClean="0"/>
              <a:t>This </a:t>
            </a:r>
            <a:r>
              <a:rPr lang="en-US" sz="2400" dirty="0"/>
              <a:t>model process the input image and outputs the a vector of 1000 values</a:t>
            </a:r>
            <a:r>
              <a:rPr lang="en-US" sz="2400" dirty="0" smtClean="0"/>
              <a:t>:</a:t>
            </a:r>
          </a:p>
          <a:p>
            <a:pPr algn="just"/>
            <a:endParaRPr lang="en-US" sz="2400" dirty="0"/>
          </a:p>
          <a:p>
            <a:pPr algn="just"/>
            <a:endParaRPr lang="en-US" sz="2400" dirty="0" smtClean="0"/>
          </a:p>
          <a:p>
            <a:pPr algn="just"/>
            <a:endParaRPr lang="en-US" sz="2400" dirty="0"/>
          </a:p>
          <a:p>
            <a:pPr algn="just"/>
            <a:endParaRPr lang="en-US" sz="2400" dirty="0" smtClean="0"/>
          </a:p>
          <a:p>
            <a:pPr algn="just"/>
            <a:endParaRPr lang="en-US" sz="2400" dirty="0"/>
          </a:p>
          <a:p>
            <a:pPr algn="just"/>
            <a:endParaRPr lang="en-US" sz="2400" dirty="0" smtClean="0"/>
          </a:p>
          <a:p>
            <a:pPr algn="just"/>
            <a:endParaRPr lang="en-US" sz="2400" dirty="0"/>
          </a:p>
          <a:p>
            <a:pPr algn="just"/>
            <a:r>
              <a:rPr lang="en-US" sz="2400" dirty="0"/>
              <a:t>It typically consists of 16 layers, including 13 convolutional layers and 3 fully connected layers. </a:t>
            </a:r>
            <a:endParaRPr lang="en-US" sz="2400" dirty="0" smtClean="0"/>
          </a:p>
          <a:p>
            <a:pPr algn="just"/>
            <a:r>
              <a:rPr lang="en-US" sz="2400" dirty="0" smtClean="0"/>
              <a:t>These </a:t>
            </a:r>
            <a:r>
              <a:rPr lang="en-US" sz="2400" dirty="0"/>
              <a:t>layers are organized into blocks, with each block containing multiple convolutional layers followed by a max-pooling layer for </a:t>
            </a:r>
            <a:r>
              <a:rPr lang="en-US" sz="2400" dirty="0" err="1"/>
              <a:t>downsampling</a:t>
            </a:r>
            <a:r>
              <a:rPr lang="en-US" sz="2400" dirty="0"/>
              <a:t>.</a:t>
            </a:r>
          </a:p>
        </p:txBody>
      </p:sp>
      <p:pic>
        <p:nvPicPr>
          <p:cNvPr id="4" name="Picture 3"/>
          <p:cNvPicPr>
            <a:picLocks noChangeAspect="1"/>
          </p:cNvPicPr>
          <p:nvPr/>
        </p:nvPicPr>
        <p:blipFill rotWithShape="1">
          <a:blip r:embed="rId2"/>
          <a:srcRect l="40699" t="51525" r="50280" b="20133"/>
          <a:stretch/>
        </p:blipFill>
        <p:spPr>
          <a:xfrm>
            <a:off x="4449171" y="1883391"/>
            <a:ext cx="1787856" cy="2497540"/>
          </a:xfrm>
          <a:prstGeom prst="rect">
            <a:avLst/>
          </a:prstGeom>
        </p:spPr>
      </p:pic>
    </p:spTree>
    <p:extLst>
      <p:ext uri="{BB962C8B-B14F-4D97-AF65-F5344CB8AC3E}">
        <p14:creationId xmlns:p14="http://schemas.microsoft.com/office/powerpoint/2010/main" val="336046630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1069" y="163772"/>
            <a:ext cx="11778018" cy="6591870"/>
          </a:xfrm>
        </p:spPr>
        <p:txBody>
          <a:bodyPr>
            <a:normAutofit fontScale="92500"/>
          </a:bodyPr>
          <a:lstStyle/>
          <a:p>
            <a:pPr marL="0" indent="0" algn="just" fontAlgn="base">
              <a:lnSpc>
                <a:spcPct val="150000"/>
              </a:lnSpc>
              <a:buNone/>
            </a:pPr>
            <a:r>
              <a:rPr lang="en-US" sz="2400" b="1" dirty="0"/>
              <a:t>1. Input Layer:</a:t>
            </a:r>
          </a:p>
          <a:p>
            <a:pPr lvl="1" algn="just" fontAlgn="base">
              <a:lnSpc>
                <a:spcPct val="150000"/>
              </a:lnSpc>
            </a:pPr>
            <a:r>
              <a:rPr lang="en-US" dirty="0"/>
              <a:t>Input dimensions: (224, 224, 3)</a:t>
            </a:r>
          </a:p>
          <a:p>
            <a:pPr marL="0" indent="0" algn="just" fontAlgn="base">
              <a:lnSpc>
                <a:spcPct val="150000"/>
              </a:lnSpc>
              <a:buNone/>
            </a:pPr>
            <a:r>
              <a:rPr lang="en-US" sz="2400" b="1" dirty="0"/>
              <a:t>2. Convolutional Layers (64 filters, 3x3 filters, same </a:t>
            </a:r>
            <a:r>
              <a:rPr lang="en-US" sz="2400" b="1" dirty="0" smtClean="0"/>
              <a:t>padding, Stride 1):</a:t>
            </a:r>
            <a:endParaRPr lang="en-US" sz="2400" b="1" dirty="0"/>
          </a:p>
          <a:p>
            <a:pPr lvl="1" algn="just" fontAlgn="base">
              <a:lnSpc>
                <a:spcPct val="150000"/>
              </a:lnSpc>
            </a:pPr>
            <a:r>
              <a:rPr lang="en-US" dirty="0"/>
              <a:t>Two consecutive convolutional layers with 64 filters each and a filter size of 3x3.</a:t>
            </a:r>
          </a:p>
          <a:p>
            <a:pPr lvl="1" algn="just" fontAlgn="base">
              <a:lnSpc>
                <a:spcPct val="150000"/>
              </a:lnSpc>
            </a:pPr>
            <a:r>
              <a:rPr lang="en-US" dirty="0"/>
              <a:t>Same padding is applied to maintain spatial dimensions.</a:t>
            </a:r>
          </a:p>
          <a:p>
            <a:pPr marL="0" indent="0" algn="just" fontAlgn="base">
              <a:lnSpc>
                <a:spcPct val="150000"/>
              </a:lnSpc>
              <a:buNone/>
            </a:pPr>
            <a:r>
              <a:rPr lang="en-US" sz="2400" b="1" dirty="0"/>
              <a:t>3. Max Pooling Layer (2x2, stride 2):</a:t>
            </a:r>
          </a:p>
          <a:p>
            <a:pPr lvl="1" algn="just" fontAlgn="base">
              <a:lnSpc>
                <a:spcPct val="150000"/>
              </a:lnSpc>
            </a:pPr>
            <a:r>
              <a:rPr lang="en-US" dirty="0"/>
              <a:t>Max-pooling layer with a pool size of 2x2 and a stride of 2.</a:t>
            </a:r>
          </a:p>
          <a:p>
            <a:pPr marL="0" indent="0" algn="just" fontAlgn="base">
              <a:lnSpc>
                <a:spcPct val="150000"/>
              </a:lnSpc>
              <a:buNone/>
            </a:pPr>
            <a:r>
              <a:rPr lang="en-US" sz="2400" b="1" dirty="0"/>
              <a:t>4. Convolutional Layers </a:t>
            </a:r>
            <a:r>
              <a:rPr lang="en-US" sz="2400" b="1" dirty="0" smtClean="0"/>
              <a:t>(128 filters, </a:t>
            </a:r>
            <a:r>
              <a:rPr lang="en-US" sz="2400" b="1" dirty="0"/>
              <a:t>3x3 filters, same </a:t>
            </a:r>
            <a:r>
              <a:rPr lang="en-US" sz="2400" b="1" dirty="0" smtClean="0"/>
              <a:t>padding</a:t>
            </a:r>
            <a:r>
              <a:rPr lang="en-US" sz="2400" b="1" dirty="0"/>
              <a:t> </a:t>
            </a:r>
            <a:r>
              <a:rPr lang="en-US" sz="2400" b="1" dirty="0" smtClean="0"/>
              <a:t>,Stride </a:t>
            </a:r>
            <a:r>
              <a:rPr lang="en-US" sz="2400" b="1" dirty="0"/>
              <a:t>1</a:t>
            </a:r>
            <a:r>
              <a:rPr lang="en-US" sz="2400" b="1" dirty="0" smtClean="0"/>
              <a:t>):</a:t>
            </a:r>
            <a:endParaRPr lang="en-US" sz="2400" b="1" dirty="0"/>
          </a:p>
          <a:p>
            <a:pPr lvl="1" algn="just" fontAlgn="base">
              <a:lnSpc>
                <a:spcPct val="150000"/>
              </a:lnSpc>
            </a:pPr>
            <a:r>
              <a:rPr lang="en-US" dirty="0"/>
              <a:t>Two consecutive </a:t>
            </a:r>
            <a:r>
              <a:rPr lang="en-US" dirty="0" smtClean="0"/>
              <a:t>convolutional </a:t>
            </a:r>
            <a:r>
              <a:rPr lang="en-US" dirty="0"/>
              <a:t>layers with 128 filters each and a filter size of 3x3.</a:t>
            </a:r>
          </a:p>
          <a:p>
            <a:pPr marL="0" indent="0" algn="just" fontAlgn="base">
              <a:lnSpc>
                <a:spcPct val="150000"/>
              </a:lnSpc>
              <a:buNone/>
            </a:pPr>
            <a:r>
              <a:rPr lang="en-US" sz="2400" b="1" dirty="0"/>
              <a:t>5. Max Pooling Layer (2x2, stride 2):</a:t>
            </a:r>
          </a:p>
          <a:p>
            <a:pPr lvl="1" algn="just" fontAlgn="base">
              <a:lnSpc>
                <a:spcPct val="150000"/>
              </a:lnSpc>
            </a:pPr>
            <a:r>
              <a:rPr lang="en-US" dirty="0"/>
              <a:t>Max-pooling layer with a pool size of 2x2 and a stride of 2.</a:t>
            </a:r>
          </a:p>
          <a:p>
            <a:pPr algn="just">
              <a:lnSpc>
                <a:spcPct val="150000"/>
              </a:lnSpc>
            </a:pPr>
            <a:endParaRPr lang="en-US" sz="2400" dirty="0"/>
          </a:p>
        </p:txBody>
      </p:sp>
    </p:spTree>
    <p:extLst>
      <p:ext uri="{BB962C8B-B14F-4D97-AF65-F5344CB8AC3E}">
        <p14:creationId xmlns:p14="http://schemas.microsoft.com/office/powerpoint/2010/main" val="13301210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8364" y="163773"/>
            <a:ext cx="11300346" cy="6503158"/>
          </a:xfrm>
        </p:spPr>
        <p:txBody>
          <a:bodyPr>
            <a:noAutofit/>
          </a:bodyPr>
          <a:lstStyle/>
          <a:p>
            <a:pPr marL="0" indent="0" algn="just" fontAlgn="base">
              <a:lnSpc>
                <a:spcPct val="150000"/>
              </a:lnSpc>
              <a:buNone/>
            </a:pPr>
            <a:r>
              <a:rPr lang="en-US" sz="1800" b="1" dirty="0"/>
              <a:t>6. Convolutional Layers (256 filters, 3x3 filters, same </a:t>
            </a:r>
            <a:r>
              <a:rPr lang="en-US" sz="1800" b="1" dirty="0" smtClean="0"/>
              <a:t>padding, </a:t>
            </a:r>
            <a:r>
              <a:rPr lang="en-US" sz="1800" b="1" dirty="0"/>
              <a:t>Stride 1</a:t>
            </a:r>
            <a:r>
              <a:rPr lang="en-US" sz="1800" b="1" dirty="0" smtClean="0"/>
              <a:t>):</a:t>
            </a:r>
            <a:endParaRPr lang="en-US" sz="1800" b="1" dirty="0"/>
          </a:p>
          <a:p>
            <a:pPr lvl="1" algn="just" fontAlgn="base">
              <a:lnSpc>
                <a:spcPct val="150000"/>
              </a:lnSpc>
            </a:pPr>
            <a:r>
              <a:rPr lang="en-US" sz="1800" dirty="0"/>
              <a:t>Two consecutive convolutional layers with 256 filters each and a filter size of 3x3.</a:t>
            </a:r>
          </a:p>
          <a:p>
            <a:pPr marL="0" indent="0" algn="just" fontAlgn="base">
              <a:lnSpc>
                <a:spcPct val="150000"/>
              </a:lnSpc>
              <a:buNone/>
            </a:pPr>
            <a:r>
              <a:rPr lang="en-US" sz="1800" b="1" dirty="0"/>
              <a:t>7. Convolutional Layers (512 filters, 3x3 filters, same </a:t>
            </a:r>
            <a:r>
              <a:rPr lang="en-US" sz="1800" b="1" dirty="0" smtClean="0"/>
              <a:t>padding, </a:t>
            </a:r>
            <a:r>
              <a:rPr lang="en-US" sz="1800" b="1" dirty="0"/>
              <a:t>Stride 1</a:t>
            </a:r>
            <a:r>
              <a:rPr lang="en-US" sz="1800" b="1" dirty="0" smtClean="0"/>
              <a:t>):</a:t>
            </a:r>
            <a:endParaRPr lang="en-US" sz="1800" b="1" dirty="0"/>
          </a:p>
          <a:p>
            <a:pPr lvl="1" algn="just" fontAlgn="base">
              <a:lnSpc>
                <a:spcPct val="150000"/>
              </a:lnSpc>
            </a:pPr>
            <a:r>
              <a:rPr lang="en-US" sz="1800" dirty="0"/>
              <a:t>Two sets of three consecutive convolutional layers with 512 filters each and a filter size of 3x3.</a:t>
            </a:r>
          </a:p>
          <a:p>
            <a:pPr marL="0" indent="0" algn="just" fontAlgn="base">
              <a:lnSpc>
                <a:spcPct val="150000"/>
              </a:lnSpc>
              <a:buFont typeface="Arial" panose="020B0604020202020204" pitchFamily="34" charset="0"/>
              <a:buNone/>
            </a:pPr>
            <a:r>
              <a:rPr lang="en-US" sz="1800" b="1" dirty="0"/>
              <a:t>8. Max Pooling Layer (2x2, stride 2):</a:t>
            </a:r>
          </a:p>
          <a:p>
            <a:pPr lvl="1" algn="just" fontAlgn="base">
              <a:lnSpc>
                <a:spcPct val="150000"/>
              </a:lnSpc>
            </a:pPr>
            <a:r>
              <a:rPr lang="en-US" sz="1800" dirty="0"/>
              <a:t>Max-pooling layer with a pool size of 2x2 and a stride of 2.</a:t>
            </a:r>
          </a:p>
          <a:p>
            <a:pPr marL="0" indent="0" algn="just" fontAlgn="base">
              <a:lnSpc>
                <a:spcPct val="150000"/>
              </a:lnSpc>
              <a:buFont typeface="Arial" panose="020B0604020202020204" pitchFamily="34" charset="0"/>
              <a:buNone/>
            </a:pPr>
            <a:r>
              <a:rPr lang="en-US" sz="1800" b="1" dirty="0"/>
              <a:t>9. Stack of Convolutional Layers and Max Pooling:</a:t>
            </a:r>
          </a:p>
          <a:p>
            <a:pPr lvl="1" algn="just" fontAlgn="base">
              <a:lnSpc>
                <a:spcPct val="150000"/>
              </a:lnSpc>
            </a:pPr>
            <a:r>
              <a:rPr lang="en-US" sz="1800" dirty="0"/>
              <a:t>Two additional convolutional layers after the previous stack.</a:t>
            </a:r>
          </a:p>
          <a:p>
            <a:pPr lvl="1" algn="just" fontAlgn="base">
              <a:lnSpc>
                <a:spcPct val="150000"/>
              </a:lnSpc>
            </a:pPr>
            <a:r>
              <a:rPr lang="en-US" sz="1800" dirty="0"/>
              <a:t>Filter size: 3x3.</a:t>
            </a:r>
          </a:p>
          <a:p>
            <a:pPr marL="0" indent="0" algn="just" fontAlgn="base">
              <a:lnSpc>
                <a:spcPct val="150000"/>
              </a:lnSpc>
              <a:buFont typeface="Arial" panose="020B0604020202020204" pitchFamily="34" charset="0"/>
              <a:buNone/>
            </a:pPr>
            <a:r>
              <a:rPr lang="en-US" sz="1800" b="1" dirty="0"/>
              <a:t>10. Flattening</a:t>
            </a:r>
            <a:r>
              <a:rPr lang="en-US" sz="1800" dirty="0"/>
              <a:t>:</a:t>
            </a:r>
          </a:p>
          <a:p>
            <a:pPr lvl="1" algn="just" fontAlgn="base">
              <a:lnSpc>
                <a:spcPct val="150000"/>
              </a:lnSpc>
            </a:pPr>
            <a:r>
              <a:rPr lang="en-US" sz="1800" dirty="0"/>
              <a:t>Flatten the output feature map (7x7x512) into a vector of size 25088.</a:t>
            </a:r>
          </a:p>
          <a:p>
            <a:pPr marL="0" indent="0" algn="just" fontAlgn="base">
              <a:lnSpc>
                <a:spcPct val="150000"/>
              </a:lnSpc>
              <a:buFont typeface="Arial" panose="020B0604020202020204" pitchFamily="34" charset="0"/>
              <a:buNone/>
            </a:pPr>
            <a:r>
              <a:rPr lang="en-US" sz="1800" b="1" dirty="0"/>
              <a:t>11. Fully Connected Layers</a:t>
            </a:r>
            <a:r>
              <a:rPr lang="en-US" sz="1800" dirty="0"/>
              <a:t>:</a:t>
            </a:r>
          </a:p>
          <a:p>
            <a:pPr lvl="1" algn="just" fontAlgn="base">
              <a:lnSpc>
                <a:spcPct val="150000"/>
              </a:lnSpc>
            </a:pPr>
            <a:r>
              <a:rPr lang="en-US" sz="1800" dirty="0"/>
              <a:t>Three fully connected layers with </a:t>
            </a:r>
            <a:r>
              <a:rPr lang="en-US" sz="1800" dirty="0" err="1"/>
              <a:t>ReLU</a:t>
            </a:r>
            <a:r>
              <a:rPr lang="en-US" sz="1800" dirty="0"/>
              <a:t> activation.</a:t>
            </a:r>
          </a:p>
          <a:p>
            <a:endParaRPr lang="en-US" sz="1800" dirty="0"/>
          </a:p>
        </p:txBody>
      </p:sp>
    </p:spTree>
    <p:extLst>
      <p:ext uri="{BB962C8B-B14F-4D97-AF65-F5344CB8AC3E}">
        <p14:creationId xmlns:p14="http://schemas.microsoft.com/office/powerpoint/2010/main" val="302863112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2" name="Picture 4" descr="confi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1234" y="38099"/>
            <a:ext cx="11622443" cy="6819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464107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8195</TotalTime>
  <Words>1555</Words>
  <Application>Microsoft Office PowerPoint</Application>
  <PresentationFormat>Widescreen</PresentationFormat>
  <Paragraphs>183</Paragraphs>
  <Slides>35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Arial</vt:lpstr>
      <vt:lpstr>Calibri</vt:lpstr>
      <vt:lpstr>Calibri Light</vt:lpstr>
      <vt:lpstr>Nunito</vt:lpstr>
      <vt:lpstr>Source Sans 3</vt:lpstr>
      <vt:lpstr>Times New Roman</vt:lpstr>
      <vt:lpstr>Office Theme</vt:lpstr>
      <vt:lpstr>Module 4  Convolutional Neural Network (CNN) </vt:lpstr>
      <vt:lpstr>PowerPoint Presentation</vt:lpstr>
      <vt:lpstr>Introduction</vt:lpstr>
      <vt:lpstr>Evolution of Convolution Neural Network</vt:lpstr>
      <vt:lpstr>CNN Layers and Architecture of CNN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Applications </vt:lpstr>
      <vt:lpstr>PowerPoint Presentation</vt:lpstr>
      <vt:lpstr>Evaluation of CNN Models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VGG-16 | CNN model</vt:lpstr>
      <vt:lpstr>VGG-16 Architecture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4  Convolutional Neural Network (CNN) </dc:title>
  <dc:creator>Microsoft account</dc:creator>
  <cp:lastModifiedBy>Microsoft account</cp:lastModifiedBy>
  <cp:revision>26</cp:revision>
  <dcterms:created xsi:type="dcterms:W3CDTF">2025-10-27T05:03:43Z</dcterms:created>
  <dcterms:modified xsi:type="dcterms:W3CDTF">2025-11-26T11:39:35Z</dcterms:modified>
</cp:coreProperties>
</file>