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7DB5CE1-4260-4CBE-A64F-C6B2FA8ABC2D}"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3685306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DB5CE1-4260-4CBE-A64F-C6B2FA8ABC2D}"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270705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7DB5CE1-4260-4CBE-A64F-C6B2FA8ABC2D}"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225883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7DB5CE1-4260-4CBE-A64F-C6B2FA8ABC2D}"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3429751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7DB5CE1-4260-4CBE-A64F-C6B2FA8ABC2D}" type="datetimeFigureOut">
              <a:rPr lang="en-US" smtClean="0"/>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272174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7DB5CE1-4260-4CBE-A64F-C6B2FA8ABC2D}" type="datetimeFigureOut">
              <a:rPr lang="en-US" smtClean="0"/>
              <a:t>12/12/2025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3435414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DB5CE1-4260-4CBE-A64F-C6B2FA8ABC2D}" type="datetimeFigureOut">
              <a:rPr lang="en-US" smtClean="0"/>
              <a:t>12/12/2025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1882561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B5CE1-4260-4CBE-A64F-C6B2FA8ABC2D}"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343548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7DB5CE1-4260-4CBE-A64F-C6B2FA8ABC2D}" type="datetimeFigureOut">
              <a:rPr lang="en-US" smtClean="0"/>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1723053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DB5CE1-4260-4CBE-A64F-C6B2FA8ABC2D}"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2289367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7DB5CE1-4260-4CBE-A64F-C6B2FA8ABC2D}"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C73ADB-F99B-4A46-A80D-42B73F7A9874}" type="slidenum">
              <a:rPr lang="en-US" smtClean="0"/>
              <a:t>‹#›</a:t>
            </a:fld>
            <a:endParaRPr lang="en-US"/>
          </a:p>
        </p:txBody>
      </p:sp>
    </p:spTree>
    <p:extLst>
      <p:ext uri="{BB962C8B-B14F-4D97-AF65-F5344CB8AC3E}">
        <p14:creationId xmlns:p14="http://schemas.microsoft.com/office/powerpoint/2010/main" val="549304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B5CE1-4260-4CBE-A64F-C6B2FA8ABC2D}" type="datetimeFigureOut">
              <a:rPr lang="en-US" smtClean="0"/>
              <a:t>12/12/2025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73ADB-F99B-4A46-A80D-42B73F7A9874}" type="slidenum">
              <a:rPr lang="en-US" smtClean="0"/>
              <a:t>‹#›</a:t>
            </a:fld>
            <a:endParaRPr lang="en-US"/>
          </a:p>
        </p:txBody>
      </p:sp>
    </p:spTree>
    <p:extLst>
      <p:ext uri="{BB962C8B-B14F-4D97-AF65-F5344CB8AC3E}">
        <p14:creationId xmlns:p14="http://schemas.microsoft.com/office/powerpoint/2010/main" val="47883350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963" y="439975"/>
            <a:ext cx="10117541" cy="1020335"/>
          </a:xfrm>
        </p:spPr>
        <p:txBody>
          <a:bodyPr>
            <a:normAutofit/>
          </a:bodyPr>
          <a:lstStyle/>
          <a:p>
            <a:r>
              <a:rPr lang="en-US" sz="6600" b="1" dirty="0" smtClean="0"/>
              <a:t>Module 3 : DEEP LEARNING</a:t>
            </a:r>
            <a:endParaRPr lang="en-US" sz="6600" b="1" dirty="0"/>
          </a:p>
        </p:txBody>
      </p:sp>
      <p:sp>
        <p:nvSpPr>
          <p:cNvPr id="3" name="Subtitle 2"/>
          <p:cNvSpPr>
            <a:spLocks noGrp="1"/>
          </p:cNvSpPr>
          <p:nvPr>
            <p:ph type="subTitle" idx="1"/>
          </p:nvPr>
        </p:nvSpPr>
        <p:spPr>
          <a:xfrm>
            <a:off x="475395" y="2019869"/>
            <a:ext cx="10822675" cy="3138985"/>
          </a:xfrm>
        </p:spPr>
        <p:txBody>
          <a:bodyPr>
            <a:normAutofit/>
          </a:bodyPr>
          <a:lstStyle/>
          <a:p>
            <a:pPr marL="342900" indent="-342900" algn="just">
              <a:lnSpc>
                <a:spcPct val="150000"/>
              </a:lnSpc>
              <a:buFont typeface="Arial" panose="020B0604020202020204" pitchFamily="34" charset="0"/>
              <a:buChar char="•"/>
            </a:pPr>
            <a:r>
              <a:rPr lang="en-US" dirty="0" smtClean="0"/>
              <a:t>Introduction to Deep Learning : </a:t>
            </a:r>
          </a:p>
          <a:p>
            <a:pPr marL="800100" lvl="1" indent="-342900" algn="just">
              <a:lnSpc>
                <a:spcPct val="150000"/>
              </a:lnSpc>
              <a:buFont typeface="Arial" panose="020B0604020202020204" pitchFamily="34" charset="0"/>
              <a:buChar char="•"/>
            </a:pPr>
            <a:r>
              <a:rPr lang="en-US" dirty="0" smtClean="0"/>
              <a:t>Introduction to Deep Neural Networks</a:t>
            </a:r>
          </a:p>
          <a:p>
            <a:pPr marL="800100" lvl="1" indent="-342900" algn="just">
              <a:lnSpc>
                <a:spcPct val="150000"/>
              </a:lnSpc>
              <a:buFont typeface="Arial" panose="020B0604020202020204" pitchFamily="34" charset="0"/>
              <a:buChar char="•"/>
            </a:pPr>
            <a:r>
              <a:rPr lang="en-US" dirty="0" smtClean="0"/>
              <a:t>Introduction to Loss Functions and Optimization</a:t>
            </a:r>
          </a:p>
          <a:p>
            <a:pPr marL="800100" lvl="1" indent="-342900" algn="just">
              <a:lnSpc>
                <a:spcPct val="150000"/>
              </a:lnSpc>
              <a:buFont typeface="Arial" panose="020B0604020202020204" pitchFamily="34" charset="0"/>
              <a:buChar char="•"/>
            </a:pPr>
            <a:r>
              <a:rPr lang="en-US" dirty="0" smtClean="0"/>
              <a:t>Regularization Methods</a:t>
            </a:r>
          </a:p>
          <a:p>
            <a:pPr marL="800100" lvl="1" indent="-342900" algn="just">
              <a:lnSpc>
                <a:spcPct val="150000"/>
              </a:lnSpc>
              <a:buFont typeface="Arial" panose="020B0604020202020204" pitchFamily="34" charset="0"/>
              <a:buChar char="•"/>
            </a:pPr>
            <a:r>
              <a:rPr lang="en-US" dirty="0" smtClean="0"/>
              <a:t>Applications of Deep Learning. </a:t>
            </a:r>
            <a:endParaRPr lang="en-US" dirty="0"/>
          </a:p>
        </p:txBody>
      </p:sp>
    </p:spTree>
    <p:extLst>
      <p:ext uri="{BB962C8B-B14F-4D97-AF65-F5344CB8AC3E}">
        <p14:creationId xmlns:p14="http://schemas.microsoft.com/office/powerpoint/2010/main" val="13945517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081" y="1842447"/>
            <a:ext cx="11518709" cy="3125338"/>
          </a:xfrm>
        </p:spPr>
        <p:txBody>
          <a:bodyPr>
            <a:normAutofit/>
          </a:bodyPr>
          <a:lstStyle/>
          <a:p>
            <a:pPr algn="just">
              <a:lnSpc>
                <a:spcPct val="150000"/>
              </a:lnSpc>
            </a:pPr>
            <a:r>
              <a:rPr lang="en-US" dirty="0"/>
              <a:t>Deep Learning is a subset of Artificial Intelligence (AI) that helps machines to learn from large datasets using multi-layered neural networks. </a:t>
            </a:r>
            <a:endParaRPr lang="en-US" dirty="0" smtClean="0"/>
          </a:p>
          <a:p>
            <a:pPr algn="just">
              <a:lnSpc>
                <a:spcPct val="150000"/>
              </a:lnSpc>
            </a:pPr>
            <a:r>
              <a:rPr lang="en-US" dirty="0" smtClean="0"/>
              <a:t>It </a:t>
            </a:r>
            <a:r>
              <a:rPr lang="en-US" dirty="0"/>
              <a:t>automatically finds patterns and makes predictions and eliminates the need for manual feature extraction. </a:t>
            </a:r>
            <a:endParaRPr lang="en-US" dirty="0" smtClean="0"/>
          </a:p>
          <a:p>
            <a:pPr marL="0" indent="0" algn="just">
              <a:lnSpc>
                <a:spcPct val="150000"/>
              </a:lnSpc>
              <a:buNone/>
            </a:pPr>
            <a:endParaRPr lang="en-US" dirty="0"/>
          </a:p>
        </p:txBody>
      </p:sp>
      <p:sp>
        <p:nvSpPr>
          <p:cNvPr id="4" name="TextBox 3"/>
          <p:cNvSpPr txBox="1"/>
          <p:nvPr/>
        </p:nvSpPr>
        <p:spPr>
          <a:xfrm>
            <a:off x="423081" y="300251"/>
            <a:ext cx="10904561" cy="707886"/>
          </a:xfrm>
          <a:prstGeom prst="rect">
            <a:avLst/>
          </a:prstGeom>
          <a:noFill/>
        </p:spPr>
        <p:txBody>
          <a:bodyPr wrap="square" rtlCol="0">
            <a:spAutoFit/>
          </a:bodyPr>
          <a:lstStyle/>
          <a:p>
            <a:pPr marL="0" lvl="1"/>
            <a:r>
              <a:rPr lang="en-US" sz="4000" b="1" dirty="0"/>
              <a:t>Introduction to Deep Neural </a:t>
            </a:r>
            <a:r>
              <a:rPr lang="en-US" sz="4000" b="1" dirty="0" smtClean="0"/>
              <a:t>Networks</a:t>
            </a:r>
            <a:endParaRPr lang="en-US" sz="4000" b="1" dirty="0"/>
          </a:p>
        </p:txBody>
      </p:sp>
    </p:spTree>
    <p:extLst>
      <p:ext uri="{BB962C8B-B14F-4D97-AF65-F5344CB8AC3E}">
        <p14:creationId xmlns:p14="http://schemas.microsoft.com/office/powerpoint/2010/main" val="15839638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176" y="406258"/>
            <a:ext cx="6395114" cy="6131020"/>
          </a:xfrm>
        </p:spPr>
        <p:txBody>
          <a:bodyPr>
            <a:normAutofit fontScale="92500" lnSpcReduction="10000"/>
          </a:bodyPr>
          <a:lstStyle/>
          <a:p>
            <a:pPr algn="just" fontAlgn="base">
              <a:lnSpc>
                <a:spcPct val="150000"/>
              </a:lnSpc>
            </a:pPr>
            <a:r>
              <a:rPr lang="en-US" dirty="0" smtClean="0"/>
              <a:t>In a fully connected deep neural network data flows through multiple layers where each neuron performs nonlinear transformations, allowing the model to learn intricate representations of the data.</a:t>
            </a:r>
          </a:p>
          <a:p>
            <a:pPr algn="just" fontAlgn="base">
              <a:lnSpc>
                <a:spcPct val="150000"/>
              </a:lnSpc>
            </a:pPr>
            <a:r>
              <a:rPr lang="en-US" dirty="0" smtClean="0"/>
              <a:t>In a deep neural network the input layer receives data which passes through hidden layers that transform the data using nonlinear functions. The final output layer generates the model’s prediction.</a:t>
            </a:r>
          </a:p>
          <a:p>
            <a:pPr marL="0" indent="0">
              <a:buNone/>
            </a:pPr>
            <a:endParaRPr lang="en-US" dirty="0"/>
          </a:p>
        </p:txBody>
      </p:sp>
      <p:pic>
        <p:nvPicPr>
          <p:cNvPr id="1026" name="Picture 2" descr="Fully Connected Artificial Neural Network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751" y="406258"/>
            <a:ext cx="5048250" cy="5776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7970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403" y="105819"/>
            <a:ext cx="10515600" cy="603866"/>
          </a:xfrm>
        </p:spPr>
        <p:txBody>
          <a:bodyPr>
            <a:normAutofit fontScale="90000"/>
          </a:bodyPr>
          <a:lstStyle/>
          <a:p>
            <a:r>
              <a:rPr lang="en-US" b="1" dirty="0" smtClean="0"/>
              <a:t>Neural Network</a:t>
            </a:r>
            <a:endParaRPr lang="en-US" b="1" dirty="0"/>
          </a:p>
        </p:txBody>
      </p:sp>
      <p:sp>
        <p:nvSpPr>
          <p:cNvPr id="3" name="Content Placeholder 2"/>
          <p:cNvSpPr>
            <a:spLocks noGrp="1"/>
          </p:cNvSpPr>
          <p:nvPr>
            <p:ph idx="1"/>
          </p:nvPr>
        </p:nvSpPr>
        <p:spPr>
          <a:xfrm>
            <a:off x="382137" y="709685"/>
            <a:ext cx="11132590" cy="2661312"/>
          </a:xfrm>
        </p:spPr>
        <p:txBody>
          <a:bodyPr>
            <a:noAutofit/>
          </a:bodyPr>
          <a:lstStyle/>
          <a:p>
            <a:r>
              <a:rPr lang="en-US" dirty="0"/>
              <a:t>Neural Networks are fundamentals of deep learning inspired by human brain. </a:t>
            </a:r>
            <a:endParaRPr lang="en-US" dirty="0" smtClean="0"/>
          </a:p>
          <a:p>
            <a:r>
              <a:rPr lang="en-US" dirty="0" smtClean="0"/>
              <a:t>It </a:t>
            </a:r>
            <a:r>
              <a:rPr lang="en-US" dirty="0"/>
              <a:t>consists of layers of interconnected nodes or "neurons" each designed to perform specific calculations. </a:t>
            </a:r>
            <a:endParaRPr lang="en-US" dirty="0" smtClean="0"/>
          </a:p>
          <a:p>
            <a:r>
              <a:rPr lang="en-US" dirty="0" smtClean="0"/>
              <a:t>These </a:t>
            </a:r>
            <a:r>
              <a:rPr lang="en-US" dirty="0"/>
              <a:t>nodes receive input data, process it through various mathematical functions and pass the output to subsequent layers</a:t>
            </a:r>
            <a:r>
              <a:rPr lang="en-US" dirty="0" smtClean="0"/>
              <a:t>.</a:t>
            </a:r>
          </a:p>
          <a:p>
            <a:pPr marL="0" indent="0">
              <a:buNone/>
            </a:pPr>
            <a:endParaRPr lang="en-US" dirty="0"/>
          </a:p>
        </p:txBody>
      </p:sp>
      <p:pic>
        <p:nvPicPr>
          <p:cNvPr id="5" name="Picture 4"/>
          <p:cNvPicPr>
            <a:picLocks noChangeAspect="1"/>
          </p:cNvPicPr>
          <p:nvPr/>
        </p:nvPicPr>
        <p:blipFill>
          <a:blip r:embed="rId2"/>
          <a:stretch>
            <a:fillRect/>
          </a:stretch>
        </p:blipFill>
        <p:spPr>
          <a:xfrm>
            <a:off x="382137" y="3578889"/>
            <a:ext cx="11546005" cy="3071305"/>
          </a:xfrm>
          <a:prstGeom prst="rect">
            <a:avLst/>
          </a:prstGeom>
        </p:spPr>
      </p:pic>
    </p:spTree>
    <p:extLst>
      <p:ext uri="{BB962C8B-B14F-4D97-AF65-F5344CB8AC3E}">
        <p14:creationId xmlns:p14="http://schemas.microsoft.com/office/powerpoint/2010/main" val="11942222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98394" y="322995"/>
            <a:ext cx="10652078" cy="5572837"/>
          </a:xfrm>
          <a:prstGeom prst="rect">
            <a:avLst/>
          </a:prstGeom>
        </p:spPr>
      </p:pic>
      <p:sp>
        <p:nvSpPr>
          <p:cNvPr id="7" name="TextBox 6"/>
          <p:cNvSpPr txBox="1"/>
          <p:nvPr/>
        </p:nvSpPr>
        <p:spPr>
          <a:xfrm>
            <a:off x="798394" y="6114197"/>
            <a:ext cx="10174406" cy="461665"/>
          </a:xfrm>
          <a:prstGeom prst="rect">
            <a:avLst/>
          </a:prstGeom>
          <a:noFill/>
        </p:spPr>
        <p:txBody>
          <a:bodyPr wrap="square" rtlCol="0">
            <a:spAutoFit/>
          </a:bodyPr>
          <a:lstStyle/>
          <a:p>
            <a:pPr algn="ctr"/>
            <a:r>
              <a:rPr lang="en-US" sz="2400" b="1" dirty="0" smtClean="0"/>
              <a:t>Neural Network Architecture</a:t>
            </a:r>
            <a:endParaRPr lang="en-US" sz="2400" b="1" dirty="0"/>
          </a:p>
        </p:txBody>
      </p:sp>
    </p:spTree>
    <p:extLst>
      <p:ext uri="{BB962C8B-B14F-4D97-AF65-F5344CB8AC3E}">
        <p14:creationId xmlns:p14="http://schemas.microsoft.com/office/powerpoint/2010/main" val="6730154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137" y="327545"/>
            <a:ext cx="11423176" cy="6332562"/>
          </a:xfrm>
        </p:spPr>
        <p:txBody>
          <a:bodyPr>
            <a:normAutofit fontScale="92500" lnSpcReduction="10000"/>
          </a:bodyPr>
          <a:lstStyle/>
          <a:p>
            <a:pPr algn="just" fontAlgn="base">
              <a:lnSpc>
                <a:spcPct val="150000"/>
              </a:lnSpc>
            </a:pPr>
            <a:r>
              <a:rPr lang="en-US" b="1" dirty="0"/>
              <a:t>Neurons</a:t>
            </a:r>
            <a:r>
              <a:rPr lang="en-US" dirty="0"/>
              <a:t>: The basic units that receive inputs, each neuron is governed by a threshold and an activation function.</a:t>
            </a:r>
          </a:p>
          <a:p>
            <a:pPr algn="just" fontAlgn="base">
              <a:lnSpc>
                <a:spcPct val="150000"/>
              </a:lnSpc>
            </a:pPr>
            <a:r>
              <a:rPr lang="en-US" b="1" dirty="0"/>
              <a:t>Connections</a:t>
            </a:r>
            <a:r>
              <a:rPr lang="en-US" dirty="0"/>
              <a:t>: Links between neurons that carry information, regulated by weights and biases.</a:t>
            </a:r>
          </a:p>
          <a:p>
            <a:pPr algn="just" fontAlgn="base">
              <a:lnSpc>
                <a:spcPct val="150000"/>
              </a:lnSpc>
            </a:pPr>
            <a:r>
              <a:rPr lang="en-US" b="1" dirty="0"/>
              <a:t>Weights and Biases</a:t>
            </a:r>
            <a:r>
              <a:rPr lang="en-US" dirty="0"/>
              <a:t>: These parameters determine the strength and influence of connections.</a:t>
            </a:r>
          </a:p>
          <a:p>
            <a:pPr algn="just" fontAlgn="base">
              <a:lnSpc>
                <a:spcPct val="150000"/>
              </a:lnSpc>
            </a:pPr>
            <a:r>
              <a:rPr lang="en-US" b="1" dirty="0"/>
              <a:t>Propagation Functions</a:t>
            </a:r>
            <a:r>
              <a:rPr lang="en-US" dirty="0"/>
              <a:t>: Mechanisms that help process and transfer data across layers of neurons.</a:t>
            </a:r>
          </a:p>
          <a:p>
            <a:pPr algn="just" fontAlgn="base">
              <a:lnSpc>
                <a:spcPct val="150000"/>
              </a:lnSpc>
            </a:pPr>
            <a:r>
              <a:rPr lang="en-US" b="1" dirty="0"/>
              <a:t>Learning Rule</a:t>
            </a:r>
            <a:r>
              <a:rPr lang="en-US" dirty="0"/>
              <a:t>: The method that adjusts weights and biases over time to improve accuracy.</a:t>
            </a:r>
          </a:p>
          <a:p>
            <a:pPr marL="0" indent="0" algn="just">
              <a:lnSpc>
                <a:spcPct val="150000"/>
              </a:lnSpc>
              <a:buNone/>
            </a:pPr>
            <a:endParaRPr lang="en-US" dirty="0"/>
          </a:p>
        </p:txBody>
      </p:sp>
    </p:spTree>
    <p:extLst>
      <p:ext uri="{BB962C8B-B14F-4D97-AF65-F5344CB8AC3E}">
        <p14:creationId xmlns:p14="http://schemas.microsoft.com/office/powerpoint/2010/main" val="11303751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937" y="228649"/>
            <a:ext cx="10515600" cy="781286"/>
          </a:xfrm>
        </p:spPr>
        <p:txBody>
          <a:bodyPr/>
          <a:lstStyle/>
          <a:p>
            <a:r>
              <a:rPr lang="en-US" b="1" dirty="0"/>
              <a:t>Basic Components of Neural </a:t>
            </a:r>
            <a:r>
              <a:rPr lang="en-US" b="1" dirty="0" smtClean="0"/>
              <a:t>Networks</a:t>
            </a:r>
            <a:endParaRPr lang="en-US" dirty="0"/>
          </a:p>
        </p:txBody>
      </p:sp>
      <p:sp>
        <p:nvSpPr>
          <p:cNvPr id="3" name="Content Placeholder 2"/>
          <p:cNvSpPr>
            <a:spLocks noGrp="1"/>
          </p:cNvSpPr>
          <p:nvPr>
            <p:ph idx="1"/>
          </p:nvPr>
        </p:nvSpPr>
        <p:spPr>
          <a:xfrm>
            <a:off x="423081" y="1255595"/>
            <a:ext cx="10930719" cy="5076965"/>
          </a:xfrm>
        </p:spPr>
        <p:txBody>
          <a:bodyPr>
            <a:normAutofit fontScale="92500"/>
          </a:bodyPr>
          <a:lstStyle/>
          <a:p>
            <a:pPr algn="just">
              <a:lnSpc>
                <a:spcPct val="150000"/>
              </a:lnSpc>
            </a:pPr>
            <a:r>
              <a:rPr lang="en-US" dirty="0" smtClean="0"/>
              <a:t>Weights and Biases : </a:t>
            </a:r>
            <a:r>
              <a:rPr lang="en-US" dirty="0"/>
              <a:t>parameters in a </a:t>
            </a:r>
            <a:r>
              <a:rPr lang="en-US" dirty="0" smtClean="0"/>
              <a:t>NN that </a:t>
            </a:r>
            <a:r>
              <a:rPr lang="en-US" dirty="0"/>
              <a:t>are adjusted during training to minimize the difference between predicted and actual </a:t>
            </a:r>
            <a:r>
              <a:rPr lang="en-US" dirty="0" smtClean="0"/>
              <a:t>outputs.</a:t>
            </a:r>
          </a:p>
          <a:p>
            <a:pPr algn="just">
              <a:lnSpc>
                <a:spcPct val="150000"/>
              </a:lnSpc>
            </a:pPr>
            <a:r>
              <a:rPr lang="en-US" dirty="0" smtClean="0"/>
              <a:t>Forward Propagation</a:t>
            </a:r>
          </a:p>
          <a:p>
            <a:pPr algn="just">
              <a:lnSpc>
                <a:spcPct val="150000"/>
              </a:lnSpc>
            </a:pPr>
            <a:r>
              <a:rPr lang="en-US" dirty="0" smtClean="0"/>
              <a:t>Activation Functions</a:t>
            </a:r>
          </a:p>
          <a:p>
            <a:pPr algn="just">
              <a:lnSpc>
                <a:spcPct val="150000"/>
              </a:lnSpc>
            </a:pPr>
            <a:r>
              <a:rPr lang="en-US" dirty="0" smtClean="0"/>
              <a:t>Loss Functions</a:t>
            </a:r>
          </a:p>
          <a:p>
            <a:pPr algn="just">
              <a:lnSpc>
                <a:spcPct val="150000"/>
              </a:lnSpc>
            </a:pPr>
            <a:r>
              <a:rPr lang="en-US" dirty="0" smtClean="0"/>
              <a:t>Back propagation</a:t>
            </a:r>
          </a:p>
          <a:p>
            <a:pPr algn="just">
              <a:lnSpc>
                <a:spcPct val="150000"/>
              </a:lnSpc>
            </a:pPr>
            <a:r>
              <a:rPr lang="en-US" dirty="0" smtClean="0"/>
              <a:t>Learning Rate</a:t>
            </a:r>
            <a:endParaRPr lang="en-US" dirty="0"/>
          </a:p>
        </p:txBody>
      </p:sp>
    </p:spTree>
    <p:extLst>
      <p:ext uri="{BB962C8B-B14F-4D97-AF65-F5344CB8AC3E}">
        <p14:creationId xmlns:p14="http://schemas.microsoft.com/office/powerpoint/2010/main" val="2181264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80" y="215001"/>
            <a:ext cx="10515601" cy="658456"/>
          </a:xfrm>
        </p:spPr>
        <p:txBody>
          <a:bodyPr>
            <a:normAutofit fontScale="90000"/>
          </a:bodyPr>
          <a:lstStyle/>
          <a:p>
            <a:r>
              <a:rPr lang="en-US" b="1" dirty="0" smtClean="0"/>
              <a:t>Weights</a:t>
            </a:r>
            <a:endParaRPr lang="en-US" b="1" dirty="0"/>
          </a:p>
        </p:txBody>
      </p:sp>
      <p:sp>
        <p:nvSpPr>
          <p:cNvPr id="3" name="Content Placeholder 2"/>
          <p:cNvSpPr>
            <a:spLocks noGrp="1"/>
          </p:cNvSpPr>
          <p:nvPr>
            <p:ph idx="1"/>
          </p:nvPr>
        </p:nvSpPr>
        <p:spPr>
          <a:xfrm>
            <a:off x="346880" y="873456"/>
            <a:ext cx="11513023" cy="5773003"/>
          </a:xfrm>
        </p:spPr>
        <p:txBody>
          <a:bodyPr>
            <a:normAutofit fontScale="85000" lnSpcReduction="20000"/>
          </a:bodyPr>
          <a:lstStyle/>
          <a:p>
            <a:pPr algn="just" fontAlgn="base">
              <a:lnSpc>
                <a:spcPct val="150000"/>
              </a:lnSpc>
            </a:pPr>
            <a:r>
              <a:rPr lang="en-US" dirty="0"/>
              <a:t>Weights are numerical values assigned to the connections between neurons. They find how much influence each input has on the network’s final output.</a:t>
            </a:r>
          </a:p>
          <a:p>
            <a:pPr algn="just" fontAlgn="base">
              <a:lnSpc>
                <a:spcPct val="150000"/>
              </a:lnSpc>
            </a:pPr>
            <a:r>
              <a:rPr lang="en-US" b="1" dirty="0"/>
              <a:t>Purpose</a:t>
            </a:r>
            <a:r>
              <a:rPr lang="en-US" dirty="0"/>
              <a:t>: During forward propagation, inputs are multiplied by their respective weights before being passed through an </a:t>
            </a:r>
            <a:r>
              <a:rPr lang="en-US" dirty="0" smtClean="0"/>
              <a:t>activation function. </a:t>
            </a:r>
            <a:r>
              <a:rPr lang="en-US" dirty="0"/>
              <a:t>This helps decide how strongly an input will affect the output.</a:t>
            </a:r>
          </a:p>
          <a:p>
            <a:pPr algn="just" fontAlgn="base">
              <a:lnSpc>
                <a:spcPct val="150000"/>
              </a:lnSpc>
            </a:pPr>
            <a:r>
              <a:rPr lang="en-US" b="1" dirty="0"/>
              <a:t>Learning Mechanism</a:t>
            </a:r>
            <a:r>
              <a:rPr lang="en-US" dirty="0"/>
              <a:t>: During training, weights are updated iteratively </a:t>
            </a:r>
            <a:r>
              <a:rPr lang="en-US" dirty="0" smtClean="0"/>
              <a:t>through</a:t>
            </a:r>
            <a:r>
              <a:rPr lang="en-US" dirty="0"/>
              <a:t> </a:t>
            </a:r>
            <a:r>
              <a:rPr lang="en-US" dirty="0" smtClean="0"/>
              <a:t>optimization algorithms to </a:t>
            </a:r>
            <a:r>
              <a:rPr lang="en-US" dirty="0"/>
              <a:t>minimize the difference between predicted and actual outcomes.</a:t>
            </a:r>
          </a:p>
          <a:p>
            <a:pPr algn="just">
              <a:lnSpc>
                <a:spcPct val="150000"/>
              </a:lnSpc>
            </a:pPr>
            <a:r>
              <a:rPr lang="en-US" b="1" dirty="0"/>
              <a:t>Example:</a:t>
            </a:r>
            <a:r>
              <a:rPr lang="en-US" dirty="0"/>
              <a:t> In a neural network predicting house prices, the weight for the "size of the house" find how much the house size influences the price prediction. The larger the weight, the bigger the impact size will have on the final result</a:t>
            </a:r>
            <a:r>
              <a:rPr lang="en-US" dirty="0" smtClean="0"/>
              <a:t>.</a:t>
            </a:r>
            <a:endParaRPr lang="en-US" dirty="0"/>
          </a:p>
        </p:txBody>
      </p:sp>
    </p:spTree>
    <p:extLst>
      <p:ext uri="{BB962C8B-B14F-4D97-AF65-F5344CB8AC3E}">
        <p14:creationId xmlns:p14="http://schemas.microsoft.com/office/powerpoint/2010/main" val="35307472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6" y="1487607"/>
            <a:ext cx="11832606" cy="4844955"/>
          </a:xfrm>
        </p:spPr>
        <p:txBody>
          <a:bodyPr>
            <a:noAutofit/>
          </a:bodyPr>
          <a:lstStyle/>
          <a:p>
            <a:pPr algn="just">
              <a:lnSpc>
                <a:spcPct val="150000"/>
              </a:lnSpc>
            </a:pPr>
            <a:r>
              <a:rPr lang="en-US" sz="2000" b="1" dirty="0"/>
              <a:t>Biases</a:t>
            </a:r>
            <a:r>
              <a:rPr lang="en-US" sz="2000" dirty="0"/>
              <a:t> are additional parameters that adjust the output of a neuron. Unlike weights, they are not tied to any specific input but instead shift the activation function to better fit the data</a:t>
            </a:r>
            <a:r>
              <a:rPr lang="en-US" sz="2000" dirty="0" smtClean="0"/>
              <a:t>.</a:t>
            </a:r>
          </a:p>
          <a:p>
            <a:pPr algn="just">
              <a:lnSpc>
                <a:spcPct val="150000"/>
              </a:lnSpc>
            </a:pPr>
            <a:r>
              <a:rPr lang="en-US" sz="2000" dirty="0"/>
              <a:t>Biases are constants added to the weighted sum of inputs</a:t>
            </a:r>
            <a:r>
              <a:rPr lang="en-US" sz="2000" dirty="0" smtClean="0"/>
              <a:t>.</a:t>
            </a:r>
          </a:p>
          <a:p>
            <a:pPr algn="just" fontAlgn="base">
              <a:lnSpc>
                <a:spcPct val="150000"/>
              </a:lnSpc>
            </a:pPr>
            <a:r>
              <a:rPr lang="en-US" sz="2000" b="1" dirty="0"/>
              <a:t>Purpose</a:t>
            </a:r>
            <a:r>
              <a:rPr lang="en-US" sz="2000" dirty="0"/>
              <a:t>: Biases help neurons activate even when the weighted sum of inputs is not enough. This allows the network to recognize patterns that don't necessarily pass through the origin.</a:t>
            </a:r>
          </a:p>
          <a:p>
            <a:pPr algn="just" fontAlgn="base">
              <a:lnSpc>
                <a:spcPct val="150000"/>
              </a:lnSpc>
            </a:pPr>
            <a:r>
              <a:rPr lang="en-US" sz="2000" b="1" dirty="0"/>
              <a:t>Functionality</a:t>
            </a:r>
            <a:r>
              <a:rPr lang="en-US" sz="2000" dirty="0"/>
              <a:t>: Without biases, neurons would only activate when the input reaches a specific threshold. It makes the network more flexible by enabling activation across a wider range of conditions.</a:t>
            </a:r>
          </a:p>
          <a:p>
            <a:pPr algn="just">
              <a:lnSpc>
                <a:spcPct val="150000"/>
              </a:lnSpc>
            </a:pPr>
            <a:r>
              <a:rPr lang="en-US" sz="2000" b="1" dirty="0"/>
              <a:t>Example</a:t>
            </a:r>
            <a:r>
              <a:rPr lang="en-US" sz="2000" dirty="0"/>
              <a:t>: In a house price prediction network, the bias might ensure that even for a house with a size of zero, the model predicts a non-zero price. This could reflect a fixed value such as land value or other baseline costs</a:t>
            </a:r>
            <a:r>
              <a:rPr lang="en-US" sz="2000" dirty="0" smtClean="0"/>
              <a:t>.</a:t>
            </a:r>
          </a:p>
        </p:txBody>
      </p:sp>
      <p:sp>
        <p:nvSpPr>
          <p:cNvPr id="4" name="TextBox 3"/>
          <p:cNvSpPr txBox="1"/>
          <p:nvPr/>
        </p:nvSpPr>
        <p:spPr>
          <a:xfrm>
            <a:off x="504967" y="368490"/>
            <a:ext cx="8120418" cy="830997"/>
          </a:xfrm>
          <a:prstGeom prst="rect">
            <a:avLst/>
          </a:prstGeom>
          <a:noFill/>
        </p:spPr>
        <p:txBody>
          <a:bodyPr wrap="square" rtlCol="0">
            <a:spAutoFit/>
          </a:bodyPr>
          <a:lstStyle/>
          <a:p>
            <a:r>
              <a:rPr lang="en-US" sz="4800" b="1" dirty="0" smtClean="0"/>
              <a:t>Biases</a:t>
            </a:r>
            <a:endParaRPr lang="en-US" sz="4800" b="1" dirty="0"/>
          </a:p>
        </p:txBody>
      </p:sp>
    </p:spTree>
    <p:extLst>
      <p:ext uri="{BB962C8B-B14F-4D97-AF65-F5344CB8AC3E}">
        <p14:creationId xmlns:p14="http://schemas.microsoft.com/office/powerpoint/2010/main" val="41563433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81" y="187704"/>
            <a:ext cx="10515600" cy="549275"/>
          </a:xfrm>
        </p:spPr>
        <p:txBody>
          <a:bodyPr>
            <a:normAutofit fontScale="90000"/>
          </a:bodyPr>
          <a:lstStyle/>
          <a:p>
            <a:r>
              <a:rPr lang="en-US" sz="4800" b="1" dirty="0">
                <a:latin typeface="+mn-lt"/>
                <a:ea typeface="+mn-ea"/>
                <a:cs typeface="+mn-cs"/>
              </a:rPr>
              <a:t>Forward</a:t>
            </a:r>
            <a:r>
              <a:rPr lang="en-US" dirty="0" smtClean="0"/>
              <a:t> </a:t>
            </a:r>
            <a:r>
              <a:rPr lang="en-US" sz="4800" b="1" dirty="0">
                <a:latin typeface="+mn-lt"/>
                <a:ea typeface="+mn-ea"/>
                <a:cs typeface="+mn-cs"/>
              </a:rPr>
              <a:t>Propagation</a:t>
            </a:r>
          </a:p>
        </p:txBody>
      </p:sp>
      <p:sp>
        <p:nvSpPr>
          <p:cNvPr id="3" name="Content Placeholder 2"/>
          <p:cNvSpPr>
            <a:spLocks noGrp="1"/>
          </p:cNvSpPr>
          <p:nvPr>
            <p:ph idx="1"/>
          </p:nvPr>
        </p:nvSpPr>
        <p:spPr>
          <a:xfrm>
            <a:off x="346881" y="848435"/>
            <a:ext cx="10766946" cy="2208664"/>
          </a:xfrm>
        </p:spPr>
        <p:txBody>
          <a:bodyPr>
            <a:normAutofit fontScale="92500" lnSpcReduction="10000"/>
          </a:bodyPr>
          <a:lstStyle/>
          <a:p>
            <a:pPr algn="just">
              <a:lnSpc>
                <a:spcPct val="110000"/>
              </a:lnSpc>
            </a:pPr>
            <a:r>
              <a:rPr lang="en-US" dirty="0"/>
              <a:t>Forward propagation is the fundamental process in a neural network where input data passes through multiple layers to generate an </a:t>
            </a:r>
            <a:r>
              <a:rPr lang="en-US" dirty="0" smtClean="0"/>
              <a:t>output.</a:t>
            </a:r>
          </a:p>
          <a:p>
            <a:pPr algn="just">
              <a:lnSpc>
                <a:spcPct val="110000"/>
              </a:lnSpc>
            </a:pPr>
            <a:r>
              <a:rPr lang="en-US" dirty="0"/>
              <a:t>In </a:t>
            </a:r>
            <a:r>
              <a:rPr lang="en-US" b="1" dirty="0"/>
              <a:t>Forward propagation</a:t>
            </a:r>
            <a:r>
              <a:rPr lang="en-US" dirty="0"/>
              <a:t> input data moves through each layer of neural network where each neuron applies weighted sum, adds bias, passes the result through </a:t>
            </a:r>
            <a:r>
              <a:rPr lang="en-US" dirty="0" smtClean="0"/>
              <a:t>an activation function</a:t>
            </a:r>
            <a:r>
              <a:rPr lang="en-US" dirty="0"/>
              <a:t> </a:t>
            </a:r>
            <a:r>
              <a:rPr lang="en-US" dirty="0" smtClean="0"/>
              <a:t>and </a:t>
            </a:r>
            <a:r>
              <a:rPr lang="en-US" dirty="0"/>
              <a:t>making predictions.</a:t>
            </a:r>
          </a:p>
        </p:txBody>
      </p:sp>
      <p:pic>
        <p:nvPicPr>
          <p:cNvPr id="5" name="Picture 4"/>
          <p:cNvPicPr>
            <a:picLocks noChangeAspect="1"/>
          </p:cNvPicPr>
          <p:nvPr/>
        </p:nvPicPr>
        <p:blipFill>
          <a:blip r:embed="rId2"/>
          <a:stretch>
            <a:fillRect/>
          </a:stretch>
        </p:blipFill>
        <p:spPr>
          <a:xfrm>
            <a:off x="736979" y="3330054"/>
            <a:ext cx="9908276" cy="3361898"/>
          </a:xfrm>
          <a:prstGeom prst="rect">
            <a:avLst/>
          </a:prstGeom>
        </p:spPr>
      </p:pic>
    </p:spTree>
    <p:extLst>
      <p:ext uri="{BB962C8B-B14F-4D97-AF65-F5344CB8AC3E}">
        <p14:creationId xmlns:p14="http://schemas.microsoft.com/office/powerpoint/2010/main" val="39812285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069" y="245660"/>
            <a:ext cx="11859904" cy="6428095"/>
          </a:xfrm>
        </p:spPr>
        <p:txBody>
          <a:bodyPr>
            <a:normAutofit fontScale="92500" lnSpcReduction="10000"/>
          </a:bodyPr>
          <a:lstStyle/>
          <a:p>
            <a:pPr marL="514350" indent="-514350" algn="just" fontAlgn="base">
              <a:lnSpc>
                <a:spcPct val="120000"/>
              </a:lnSpc>
              <a:buFont typeface="+mj-lt"/>
              <a:buAutoNum type="arabicPeriod"/>
            </a:pPr>
            <a:r>
              <a:rPr lang="en-US" b="1" dirty="0" smtClean="0"/>
              <a:t>Input </a:t>
            </a:r>
            <a:r>
              <a:rPr lang="en-US" b="1" dirty="0"/>
              <a:t>Layer</a:t>
            </a:r>
          </a:p>
          <a:p>
            <a:pPr lvl="1" algn="just" fontAlgn="base">
              <a:lnSpc>
                <a:spcPct val="120000"/>
              </a:lnSpc>
            </a:pPr>
            <a:r>
              <a:rPr lang="en-US" dirty="0"/>
              <a:t>The input data is fed into the network through the input layer.</a:t>
            </a:r>
          </a:p>
          <a:p>
            <a:pPr lvl="1" algn="just" fontAlgn="base">
              <a:lnSpc>
                <a:spcPct val="120000"/>
              </a:lnSpc>
            </a:pPr>
            <a:r>
              <a:rPr lang="en-US" dirty="0"/>
              <a:t>Each feature in the input dataset represents a neuron in this layer.</a:t>
            </a:r>
          </a:p>
          <a:p>
            <a:pPr lvl="1" algn="just" fontAlgn="base">
              <a:lnSpc>
                <a:spcPct val="120000"/>
              </a:lnSpc>
            </a:pPr>
            <a:r>
              <a:rPr lang="en-US" dirty="0"/>
              <a:t>The input is usually normalized or standardized to improve model performance</a:t>
            </a:r>
            <a:r>
              <a:rPr lang="en-US" dirty="0" smtClean="0"/>
              <a:t>.</a:t>
            </a:r>
          </a:p>
          <a:p>
            <a:pPr marL="914400" lvl="1" indent="-457200" algn="just" fontAlgn="base">
              <a:lnSpc>
                <a:spcPct val="120000"/>
              </a:lnSpc>
              <a:buFont typeface="+mj-lt"/>
              <a:buAutoNum type="arabicPeriod"/>
            </a:pPr>
            <a:endParaRPr lang="en-US" dirty="0"/>
          </a:p>
          <a:p>
            <a:pPr marL="514350" indent="-514350" algn="just" fontAlgn="base">
              <a:lnSpc>
                <a:spcPct val="120000"/>
              </a:lnSpc>
              <a:buFont typeface="+mj-lt"/>
              <a:buAutoNum type="arabicPeriod"/>
            </a:pPr>
            <a:r>
              <a:rPr lang="en-US" b="1" dirty="0" smtClean="0"/>
              <a:t>Hidden </a:t>
            </a:r>
            <a:r>
              <a:rPr lang="en-US" b="1" dirty="0"/>
              <a:t>Layers</a:t>
            </a:r>
          </a:p>
          <a:p>
            <a:pPr lvl="1" algn="just" fontAlgn="base">
              <a:lnSpc>
                <a:spcPct val="120000"/>
              </a:lnSpc>
            </a:pPr>
            <a:r>
              <a:rPr lang="en-US" dirty="0"/>
              <a:t>The input moves through one or more hidden layers where transformations occur.</a:t>
            </a:r>
          </a:p>
          <a:p>
            <a:pPr lvl="1" algn="just" fontAlgn="base">
              <a:lnSpc>
                <a:spcPct val="120000"/>
              </a:lnSpc>
            </a:pPr>
            <a:r>
              <a:rPr lang="en-US" dirty="0"/>
              <a:t>Each neuron in hidden layer computes a weighted sum of inputs and applies activation function to introduce non-linearity.</a:t>
            </a:r>
          </a:p>
          <a:p>
            <a:pPr lvl="1" algn="just" fontAlgn="base">
              <a:lnSpc>
                <a:spcPct val="120000"/>
              </a:lnSpc>
            </a:pPr>
            <a:r>
              <a:rPr lang="en-US" dirty="0"/>
              <a:t>Each neuron receives inputs, computes: </a:t>
            </a:r>
            <a:r>
              <a:rPr lang="en-US" dirty="0" smtClean="0"/>
              <a:t>Z=</a:t>
            </a:r>
            <a:r>
              <a:rPr lang="en-US" i="1" dirty="0" err="1" smtClean="0"/>
              <a:t>WX</a:t>
            </a:r>
            <a:r>
              <a:rPr lang="en-US" dirty="0" err="1" smtClean="0"/>
              <a:t>+</a:t>
            </a:r>
            <a:r>
              <a:rPr lang="en-US" i="1" dirty="0" err="1" smtClean="0"/>
              <a:t>b</a:t>
            </a:r>
            <a:r>
              <a:rPr lang="en-US" dirty="0"/>
              <a:t> , where:</a:t>
            </a:r>
          </a:p>
          <a:p>
            <a:pPr lvl="2" algn="just" fontAlgn="base">
              <a:lnSpc>
                <a:spcPct val="120000"/>
              </a:lnSpc>
            </a:pPr>
            <a:r>
              <a:rPr lang="en-US" dirty="0" smtClean="0"/>
              <a:t>W</a:t>
            </a:r>
            <a:r>
              <a:rPr lang="en-US" i="1" dirty="0"/>
              <a:t> </a:t>
            </a:r>
            <a:r>
              <a:rPr lang="en-US" dirty="0" smtClean="0"/>
              <a:t>is </a:t>
            </a:r>
            <a:r>
              <a:rPr lang="en-US" dirty="0"/>
              <a:t>the weight matrix</a:t>
            </a:r>
          </a:p>
          <a:p>
            <a:pPr lvl="2" algn="just" fontAlgn="base">
              <a:lnSpc>
                <a:spcPct val="120000"/>
              </a:lnSpc>
            </a:pPr>
            <a:r>
              <a:rPr lang="en-US" dirty="0" smtClean="0"/>
              <a:t>X</a:t>
            </a:r>
            <a:r>
              <a:rPr lang="en-US" i="1" dirty="0"/>
              <a:t> </a:t>
            </a:r>
            <a:r>
              <a:rPr lang="en-US" dirty="0" smtClean="0"/>
              <a:t>is </a:t>
            </a:r>
            <a:r>
              <a:rPr lang="en-US" dirty="0"/>
              <a:t>the input vector</a:t>
            </a:r>
          </a:p>
          <a:p>
            <a:pPr lvl="2" algn="just" fontAlgn="base">
              <a:lnSpc>
                <a:spcPct val="120000"/>
              </a:lnSpc>
            </a:pPr>
            <a:r>
              <a:rPr lang="en-US" dirty="0" smtClean="0"/>
              <a:t>b</a:t>
            </a:r>
            <a:r>
              <a:rPr lang="en-US" dirty="0"/>
              <a:t> is the bias term</a:t>
            </a:r>
          </a:p>
          <a:p>
            <a:pPr lvl="1" algn="just" fontAlgn="base">
              <a:lnSpc>
                <a:spcPct val="120000"/>
              </a:lnSpc>
            </a:pPr>
            <a:r>
              <a:rPr lang="en-US" dirty="0"/>
              <a:t>The activation function </a:t>
            </a:r>
            <a:r>
              <a:rPr lang="en-US" dirty="0" smtClean="0"/>
              <a:t>is </a:t>
            </a:r>
            <a:r>
              <a:rPr lang="en-US" dirty="0"/>
              <a:t>applied.</a:t>
            </a:r>
          </a:p>
          <a:p>
            <a:pPr marL="514350" indent="-514350" algn="just" fontAlgn="base">
              <a:lnSpc>
                <a:spcPct val="120000"/>
              </a:lnSpc>
              <a:buFont typeface="+mj-lt"/>
              <a:buAutoNum type="arabicPeriod"/>
            </a:pPr>
            <a:endParaRPr lang="en-US" dirty="0"/>
          </a:p>
        </p:txBody>
      </p:sp>
    </p:spTree>
    <p:extLst>
      <p:ext uri="{BB962C8B-B14F-4D97-AF65-F5344CB8AC3E}">
        <p14:creationId xmlns:p14="http://schemas.microsoft.com/office/powerpoint/2010/main" val="23222510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955" y="354842"/>
            <a:ext cx="11559654" cy="6318913"/>
          </a:xfrm>
        </p:spPr>
        <p:txBody>
          <a:bodyPr>
            <a:normAutofit/>
          </a:bodyPr>
          <a:lstStyle/>
          <a:p>
            <a:pPr marL="0" indent="0" algn="just" fontAlgn="base">
              <a:lnSpc>
                <a:spcPct val="150000"/>
              </a:lnSpc>
              <a:buNone/>
            </a:pPr>
            <a:r>
              <a:rPr lang="en-US" b="1" dirty="0" smtClean="0"/>
              <a:t>3. Output Layer</a:t>
            </a:r>
          </a:p>
          <a:p>
            <a:pPr lvl="1" algn="just" fontAlgn="base">
              <a:lnSpc>
                <a:spcPct val="150000"/>
              </a:lnSpc>
            </a:pPr>
            <a:r>
              <a:rPr lang="en-US" dirty="0" smtClean="0"/>
              <a:t>The last layer in the network generates the final prediction.</a:t>
            </a:r>
          </a:p>
          <a:p>
            <a:pPr lvl="1" algn="just" fontAlgn="base">
              <a:lnSpc>
                <a:spcPct val="150000"/>
              </a:lnSpc>
            </a:pPr>
            <a:r>
              <a:rPr lang="en-US" dirty="0" smtClean="0"/>
              <a:t>The activation function of this layer depends on the type of problem:</a:t>
            </a:r>
          </a:p>
          <a:p>
            <a:pPr lvl="2" algn="just" fontAlgn="base">
              <a:lnSpc>
                <a:spcPct val="150000"/>
              </a:lnSpc>
            </a:pPr>
            <a:r>
              <a:rPr lang="en-US" b="1" dirty="0" err="1" smtClean="0"/>
              <a:t>Softmax</a:t>
            </a:r>
            <a:r>
              <a:rPr lang="en-US" dirty="0" smtClean="0"/>
              <a:t> (for multi-class classification)</a:t>
            </a:r>
          </a:p>
          <a:p>
            <a:pPr lvl="2" algn="just" fontAlgn="base">
              <a:lnSpc>
                <a:spcPct val="150000"/>
              </a:lnSpc>
            </a:pPr>
            <a:r>
              <a:rPr lang="en-US" b="1" dirty="0" smtClean="0"/>
              <a:t>Sigmoid</a:t>
            </a:r>
            <a:r>
              <a:rPr lang="en-US" dirty="0" smtClean="0"/>
              <a:t> (for binary classification)</a:t>
            </a:r>
          </a:p>
          <a:p>
            <a:pPr lvl="2" algn="just" fontAlgn="base">
              <a:lnSpc>
                <a:spcPct val="150000"/>
              </a:lnSpc>
            </a:pPr>
            <a:r>
              <a:rPr lang="en-US" b="1" dirty="0" smtClean="0"/>
              <a:t>Linear</a:t>
            </a:r>
            <a:r>
              <a:rPr lang="en-US" dirty="0" smtClean="0"/>
              <a:t> (for regression tasks)</a:t>
            </a:r>
          </a:p>
          <a:p>
            <a:pPr marL="0" indent="0" algn="just" fontAlgn="base">
              <a:lnSpc>
                <a:spcPct val="150000"/>
              </a:lnSpc>
              <a:buNone/>
            </a:pPr>
            <a:r>
              <a:rPr lang="en-US" b="1" dirty="0" smtClean="0"/>
              <a:t>4. Prediction</a:t>
            </a:r>
          </a:p>
          <a:p>
            <a:pPr lvl="1" algn="just" fontAlgn="base">
              <a:lnSpc>
                <a:spcPct val="150000"/>
              </a:lnSpc>
            </a:pPr>
            <a:r>
              <a:rPr lang="en-US" dirty="0" smtClean="0"/>
              <a:t>The network produces an output based on current weights and biases.</a:t>
            </a:r>
          </a:p>
          <a:p>
            <a:pPr lvl="1" algn="just" fontAlgn="base">
              <a:lnSpc>
                <a:spcPct val="150000"/>
              </a:lnSpc>
            </a:pPr>
            <a:r>
              <a:rPr lang="en-US" dirty="0" smtClean="0"/>
              <a:t>The loss function evaluates the error by comparing predicted output with actual values.</a:t>
            </a:r>
          </a:p>
          <a:p>
            <a:pPr algn="just">
              <a:lnSpc>
                <a:spcPct val="150000"/>
              </a:lnSpc>
            </a:pPr>
            <a:endParaRPr lang="en-US" dirty="0"/>
          </a:p>
        </p:txBody>
      </p:sp>
    </p:spTree>
    <p:extLst>
      <p:ext uri="{BB962C8B-B14F-4D97-AF65-F5344CB8AC3E}">
        <p14:creationId xmlns:p14="http://schemas.microsoft.com/office/powerpoint/2010/main" val="18480294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146761"/>
            <a:ext cx="10548582" cy="863173"/>
          </a:xfrm>
        </p:spPr>
        <p:txBody>
          <a:bodyPr/>
          <a:lstStyle/>
          <a:p>
            <a:r>
              <a:rPr lang="en-US" b="1" dirty="0" smtClean="0"/>
              <a:t>Activation Functions</a:t>
            </a:r>
            <a:endParaRPr lang="en-US" b="1" dirty="0"/>
          </a:p>
        </p:txBody>
      </p:sp>
      <p:sp>
        <p:nvSpPr>
          <p:cNvPr id="3" name="Content Placeholder 2"/>
          <p:cNvSpPr>
            <a:spLocks noGrp="1"/>
          </p:cNvSpPr>
          <p:nvPr>
            <p:ph idx="1"/>
          </p:nvPr>
        </p:nvSpPr>
        <p:spPr>
          <a:xfrm>
            <a:off x="354842" y="1009934"/>
            <a:ext cx="5841242" cy="5609230"/>
          </a:xfrm>
        </p:spPr>
        <p:txBody>
          <a:bodyPr/>
          <a:lstStyle/>
          <a:p>
            <a:pPr algn="just" fontAlgn="base"/>
            <a:r>
              <a:rPr lang="en-US" dirty="0"/>
              <a:t>An activation function in a neural network is a mathematical function applied to the output of a neuron. </a:t>
            </a:r>
            <a:endParaRPr lang="en-US" dirty="0" smtClean="0"/>
          </a:p>
          <a:p>
            <a:pPr algn="just" fontAlgn="base"/>
            <a:r>
              <a:rPr lang="en-US" dirty="0" smtClean="0"/>
              <a:t>It </a:t>
            </a:r>
            <a:r>
              <a:rPr lang="en-US" dirty="0"/>
              <a:t>introduces non-linearity, enabling the model to learn and represent complex data patterns. </a:t>
            </a:r>
            <a:endParaRPr lang="en-US" dirty="0" smtClean="0"/>
          </a:p>
          <a:p>
            <a:pPr algn="just" fontAlgn="base"/>
            <a:r>
              <a:rPr lang="en-US" dirty="0" smtClean="0"/>
              <a:t>Without </a:t>
            </a:r>
            <a:r>
              <a:rPr lang="en-US" dirty="0"/>
              <a:t>it, even a deep neural network would behave like a simple linear regression model.</a:t>
            </a:r>
          </a:p>
          <a:p>
            <a:pPr algn="just" fontAlgn="base"/>
            <a:r>
              <a:rPr lang="en-US" dirty="0"/>
              <a:t>Activation functions decide whether a neuron should be activated based on the weighted sum of inputs and a bias term. </a:t>
            </a:r>
            <a:endParaRPr lang="en-US" dirty="0" smtClean="0"/>
          </a:p>
          <a:p>
            <a:pPr algn="just" fontAlgn="base"/>
            <a:endParaRPr lang="en-US" dirty="0"/>
          </a:p>
          <a:p>
            <a:pPr algn="just"/>
            <a:endParaRPr lang="en-US" dirty="0"/>
          </a:p>
        </p:txBody>
      </p:sp>
      <p:pic>
        <p:nvPicPr>
          <p:cNvPr id="4" name="Content Placeholder 4"/>
          <p:cNvPicPr>
            <a:picLocks noChangeAspect="1"/>
          </p:cNvPicPr>
          <p:nvPr/>
        </p:nvPicPr>
        <p:blipFill>
          <a:blip r:embed="rId2"/>
          <a:stretch>
            <a:fillRect/>
          </a:stretch>
        </p:blipFill>
        <p:spPr>
          <a:xfrm>
            <a:off x="6578221" y="327546"/>
            <a:ext cx="5363570" cy="6100550"/>
          </a:xfrm>
          <a:prstGeom prst="rect">
            <a:avLst/>
          </a:prstGeom>
        </p:spPr>
      </p:pic>
    </p:spTree>
    <p:extLst>
      <p:ext uri="{BB962C8B-B14F-4D97-AF65-F5344CB8AC3E}">
        <p14:creationId xmlns:p14="http://schemas.microsoft.com/office/powerpoint/2010/main" val="29249465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368490" y="272955"/>
            <a:ext cx="10985310" cy="6196084"/>
          </a:xfrm>
        </p:spPr>
        <p:txBody>
          <a:bodyPr/>
          <a:lstStyle/>
          <a:p>
            <a:pPr marL="0" indent="0" algn="just">
              <a:buNone/>
            </a:pPr>
            <a:r>
              <a:rPr lang="en-US" sz="3200" b="1" dirty="0"/>
              <a:t>Types of Activation Functions in Deep </a:t>
            </a:r>
            <a:r>
              <a:rPr lang="en-US" sz="3200" b="1" dirty="0" smtClean="0"/>
              <a:t>Learning</a:t>
            </a:r>
          </a:p>
          <a:p>
            <a:pPr algn="just">
              <a:lnSpc>
                <a:spcPct val="150000"/>
              </a:lnSpc>
            </a:pPr>
            <a:r>
              <a:rPr lang="en-US" b="1" dirty="0"/>
              <a:t> </a:t>
            </a:r>
            <a:r>
              <a:rPr lang="en-US" dirty="0"/>
              <a:t>Linear Activation Function</a:t>
            </a:r>
          </a:p>
          <a:p>
            <a:pPr algn="just">
              <a:lnSpc>
                <a:spcPct val="150000"/>
              </a:lnSpc>
            </a:pPr>
            <a:r>
              <a:rPr lang="en-US" dirty="0"/>
              <a:t>Non-Linear Activation Functions</a:t>
            </a:r>
          </a:p>
          <a:p>
            <a:pPr lvl="1" algn="just">
              <a:lnSpc>
                <a:spcPct val="150000"/>
              </a:lnSpc>
            </a:pPr>
            <a:r>
              <a:rPr lang="en-US" dirty="0"/>
              <a:t>Sigmoid </a:t>
            </a:r>
            <a:r>
              <a:rPr lang="en-US" dirty="0" smtClean="0"/>
              <a:t>Function</a:t>
            </a:r>
          </a:p>
          <a:p>
            <a:pPr lvl="1" algn="just">
              <a:lnSpc>
                <a:spcPct val="150000"/>
              </a:lnSpc>
            </a:pPr>
            <a:r>
              <a:rPr lang="en-US" dirty="0" err="1"/>
              <a:t>Tanh</a:t>
            </a:r>
            <a:r>
              <a:rPr lang="en-US" dirty="0"/>
              <a:t> Activation </a:t>
            </a:r>
            <a:r>
              <a:rPr lang="en-US" dirty="0" smtClean="0"/>
              <a:t>Function</a:t>
            </a:r>
          </a:p>
          <a:p>
            <a:pPr lvl="1" algn="just">
              <a:lnSpc>
                <a:spcPct val="150000"/>
              </a:lnSpc>
            </a:pPr>
            <a:r>
              <a:rPr lang="en-US" dirty="0" err="1"/>
              <a:t>ReLU</a:t>
            </a:r>
            <a:r>
              <a:rPr lang="en-US" dirty="0"/>
              <a:t> (Rectified Linear Unit) </a:t>
            </a:r>
            <a:r>
              <a:rPr lang="en-US" dirty="0" smtClean="0"/>
              <a:t>Function</a:t>
            </a:r>
          </a:p>
          <a:p>
            <a:pPr algn="just">
              <a:lnSpc>
                <a:spcPct val="150000"/>
              </a:lnSpc>
            </a:pPr>
            <a:r>
              <a:rPr lang="en-US" dirty="0"/>
              <a:t>Exponential Linear Units</a:t>
            </a:r>
          </a:p>
          <a:p>
            <a:pPr lvl="1" algn="just">
              <a:lnSpc>
                <a:spcPct val="150000"/>
              </a:lnSpc>
            </a:pPr>
            <a:r>
              <a:rPr lang="en-US" dirty="0" err="1"/>
              <a:t>Softmax</a:t>
            </a:r>
            <a:r>
              <a:rPr lang="en-US" dirty="0"/>
              <a:t> </a:t>
            </a:r>
            <a:r>
              <a:rPr lang="en-US" dirty="0" smtClean="0"/>
              <a:t>Function</a:t>
            </a:r>
          </a:p>
          <a:p>
            <a:pPr lvl="1" algn="just">
              <a:lnSpc>
                <a:spcPct val="150000"/>
              </a:lnSpc>
            </a:pPr>
            <a:r>
              <a:rPr lang="en-US" dirty="0" err="1"/>
              <a:t>SoftPlus</a:t>
            </a:r>
            <a:r>
              <a:rPr lang="en-US" dirty="0"/>
              <a:t> Function</a:t>
            </a:r>
          </a:p>
          <a:p>
            <a:pPr marL="0" indent="0">
              <a:buNone/>
            </a:pPr>
            <a:endParaRPr lang="en-US" dirty="0"/>
          </a:p>
        </p:txBody>
      </p:sp>
    </p:spTree>
    <p:extLst>
      <p:ext uri="{BB962C8B-B14F-4D97-AF65-F5344CB8AC3E}">
        <p14:creationId xmlns:p14="http://schemas.microsoft.com/office/powerpoint/2010/main" val="32695651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8406" y="327547"/>
            <a:ext cx="6668305" cy="6209731"/>
          </a:xfrm>
        </p:spPr>
        <p:txBody>
          <a:bodyPr>
            <a:normAutofit fontScale="92500" lnSpcReduction="10000"/>
          </a:bodyPr>
          <a:lstStyle/>
          <a:p>
            <a:pPr marL="0" indent="0" algn="just">
              <a:lnSpc>
                <a:spcPct val="150000"/>
              </a:lnSpc>
              <a:buNone/>
            </a:pPr>
            <a:r>
              <a:rPr lang="en-US" sz="3000" b="1" dirty="0" smtClean="0"/>
              <a:t>Linear Activation Function:</a:t>
            </a:r>
          </a:p>
          <a:p>
            <a:pPr algn="just" fontAlgn="base">
              <a:lnSpc>
                <a:spcPct val="150000"/>
              </a:lnSpc>
            </a:pPr>
            <a:r>
              <a:rPr lang="en-US" dirty="0"/>
              <a:t>Linear Activation Function resembles straight line define by </a:t>
            </a:r>
            <a:r>
              <a:rPr lang="en-US" b="1" dirty="0"/>
              <a:t>y=x</a:t>
            </a:r>
            <a:r>
              <a:rPr lang="en-US" dirty="0" smtClean="0"/>
              <a:t>.</a:t>
            </a:r>
            <a:endParaRPr lang="en-US" dirty="0"/>
          </a:p>
          <a:p>
            <a:pPr algn="just" fontAlgn="base">
              <a:lnSpc>
                <a:spcPct val="150000"/>
              </a:lnSpc>
            </a:pPr>
            <a:r>
              <a:rPr lang="en-US" dirty="0"/>
              <a:t>The range of the output spans from (−∞ to +∞)(−∞ to +∞).</a:t>
            </a:r>
          </a:p>
          <a:p>
            <a:pPr algn="just" fontAlgn="base">
              <a:lnSpc>
                <a:spcPct val="150000"/>
              </a:lnSpc>
            </a:pPr>
            <a:r>
              <a:rPr lang="en-US" dirty="0"/>
              <a:t>Linear activation function is used at just one place i.e. output layer.</a:t>
            </a:r>
          </a:p>
          <a:p>
            <a:pPr algn="just" fontAlgn="base">
              <a:lnSpc>
                <a:spcPct val="150000"/>
              </a:lnSpc>
            </a:pPr>
            <a:r>
              <a:rPr lang="en-US" dirty="0"/>
              <a:t>Using linear activation across all layers makes the network's ability to learn complex patterns limited</a:t>
            </a:r>
            <a:r>
              <a:rPr lang="en-US" dirty="0" smtClean="0"/>
              <a:t>.</a:t>
            </a:r>
          </a:p>
          <a:p>
            <a:pPr marL="0" indent="0" algn="just" fontAlgn="base">
              <a:lnSpc>
                <a:spcPct val="150000"/>
              </a:lnSpc>
              <a:buNone/>
            </a:pPr>
            <a:endParaRPr lang="en-US" dirty="0"/>
          </a:p>
          <a:p>
            <a:pPr marL="0" indent="0" algn="just">
              <a:lnSpc>
                <a:spcPct val="150000"/>
              </a:lnSpc>
              <a:buNone/>
            </a:pPr>
            <a:endParaRPr lang="en-US" b="1" dirty="0"/>
          </a:p>
        </p:txBody>
      </p:sp>
      <p:pic>
        <p:nvPicPr>
          <p:cNvPr id="614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199" y="327547"/>
            <a:ext cx="4581431" cy="6359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4836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899" y="341194"/>
            <a:ext cx="5322625" cy="6250675"/>
          </a:xfrm>
        </p:spPr>
        <p:txBody>
          <a:bodyPr>
            <a:normAutofit/>
          </a:bodyPr>
          <a:lstStyle/>
          <a:p>
            <a:pPr marL="0" indent="0">
              <a:lnSpc>
                <a:spcPct val="150000"/>
              </a:lnSpc>
              <a:buNone/>
            </a:pPr>
            <a:r>
              <a:rPr lang="en-US" sz="3200" b="1" dirty="0" smtClean="0"/>
              <a:t>Sigmoid Function </a:t>
            </a:r>
            <a:endParaRPr lang="en-US" dirty="0" smtClean="0"/>
          </a:p>
          <a:p>
            <a:pPr algn="just">
              <a:lnSpc>
                <a:spcPct val="150000"/>
              </a:lnSpc>
            </a:pPr>
            <a:r>
              <a:rPr lang="en-US" sz="2000" dirty="0" smtClean="0"/>
              <a:t>Sigmoid Activation Function is </a:t>
            </a:r>
            <a:r>
              <a:rPr lang="en-US" sz="2000" dirty="0"/>
              <a:t>characterized by 'S' shape. It is mathematically </a:t>
            </a:r>
            <a:r>
              <a:rPr lang="en-US" sz="2000" dirty="0" smtClean="0"/>
              <a:t>defined as </a:t>
            </a:r>
          </a:p>
          <a:p>
            <a:pPr marL="0" indent="0" algn="just" fontAlgn="base">
              <a:lnSpc>
                <a:spcPct val="150000"/>
              </a:lnSpc>
              <a:buNone/>
            </a:pPr>
            <a:endParaRPr lang="en-US" sz="2000" dirty="0" smtClean="0"/>
          </a:p>
          <a:p>
            <a:pPr algn="just" fontAlgn="base">
              <a:lnSpc>
                <a:spcPct val="150000"/>
              </a:lnSpc>
            </a:pPr>
            <a:endParaRPr lang="en-US" sz="2000" dirty="0" smtClean="0"/>
          </a:p>
          <a:p>
            <a:pPr algn="just" fontAlgn="base">
              <a:lnSpc>
                <a:spcPct val="150000"/>
              </a:lnSpc>
            </a:pPr>
            <a:r>
              <a:rPr lang="en-US" sz="2000" dirty="0" smtClean="0"/>
              <a:t>It </a:t>
            </a:r>
            <a:r>
              <a:rPr lang="en-US" sz="2000" dirty="0"/>
              <a:t>allows neural networks to handle and model complex patterns that linear equations cannot</a:t>
            </a:r>
            <a:r>
              <a:rPr lang="en-US" sz="2000" dirty="0" smtClean="0"/>
              <a:t>.</a:t>
            </a:r>
          </a:p>
          <a:p>
            <a:pPr algn="just" fontAlgn="base">
              <a:lnSpc>
                <a:spcPct val="150000"/>
              </a:lnSpc>
            </a:pPr>
            <a:r>
              <a:rPr lang="en-US" sz="2000" dirty="0" smtClean="0"/>
              <a:t>The </a:t>
            </a:r>
            <a:r>
              <a:rPr lang="en-US" sz="2000" dirty="0"/>
              <a:t>output ranges between 0 and 1, hence useful for binary classification</a:t>
            </a:r>
            <a:r>
              <a:rPr lang="en-US" sz="2000" dirty="0" smtClean="0"/>
              <a:t>.</a:t>
            </a:r>
          </a:p>
          <a:p>
            <a:pPr algn="just" fontAlgn="base">
              <a:lnSpc>
                <a:spcPct val="150000"/>
              </a:lnSpc>
            </a:pPr>
            <a:endParaRPr lang="en-US" sz="2000" dirty="0" smtClean="0"/>
          </a:p>
          <a:p>
            <a:pPr algn="just">
              <a:lnSpc>
                <a:spcPct val="150000"/>
              </a:lnSpc>
            </a:pPr>
            <a:endParaRPr lang="en-US" sz="2000" dirty="0" smtClean="0"/>
          </a:p>
          <a:p>
            <a:pPr marL="0" indent="0" algn="just">
              <a:lnSpc>
                <a:spcPct val="150000"/>
              </a:lnSpc>
              <a:buNone/>
            </a:pPr>
            <a:endParaRPr lang="en-US" sz="2000" dirty="0" smtClean="0"/>
          </a:p>
          <a:p>
            <a:pPr marL="0" indent="0" algn="just">
              <a:lnSpc>
                <a:spcPct val="150000"/>
              </a:lnSpc>
              <a:buNone/>
            </a:pPr>
            <a:endParaRPr lang="en-US" sz="2000" dirty="0"/>
          </a:p>
          <a:p>
            <a:pPr algn="just">
              <a:lnSpc>
                <a:spcPct val="150000"/>
              </a:lnSpc>
            </a:pPr>
            <a:endParaRPr lang="en-US" sz="2000" dirty="0"/>
          </a:p>
        </p:txBody>
      </p:sp>
      <p:pic>
        <p:nvPicPr>
          <p:cNvPr id="4" name="Picture 3"/>
          <p:cNvPicPr>
            <a:picLocks noChangeAspect="1"/>
          </p:cNvPicPr>
          <p:nvPr/>
        </p:nvPicPr>
        <p:blipFill rotWithShape="1">
          <a:blip r:embed="rId2"/>
          <a:srcRect l="20665" t="54872" r="71783" b="39224"/>
          <a:stretch/>
        </p:blipFill>
        <p:spPr>
          <a:xfrm>
            <a:off x="1160058" y="2288487"/>
            <a:ext cx="1815153" cy="982639"/>
          </a:xfrm>
          <a:prstGeom prst="rect">
            <a:avLst/>
          </a:prstGeom>
        </p:spPr>
      </p:pic>
      <p:pic>
        <p:nvPicPr>
          <p:cNvPr id="5" name="Picture 4"/>
          <p:cNvPicPr>
            <a:picLocks noChangeAspect="1"/>
          </p:cNvPicPr>
          <p:nvPr/>
        </p:nvPicPr>
        <p:blipFill>
          <a:blip r:embed="rId3"/>
          <a:stretch>
            <a:fillRect/>
          </a:stretch>
        </p:blipFill>
        <p:spPr>
          <a:xfrm>
            <a:off x="6348342" y="127806"/>
            <a:ext cx="5391150" cy="6286642"/>
          </a:xfrm>
          <a:prstGeom prst="rect">
            <a:avLst/>
          </a:prstGeom>
        </p:spPr>
      </p:pic>
    </p:spTree>
    <p:extLst>
      <p:ext uri="{BB962C8B-B14F-4D97-AF65-F5344CB8AC3E}">
        <p14:creationId xmlns:p14="http://schemas.microsoft.com/office/powerpoint/2010/main" val="6798544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899" y="327546"/>
            <a:ext cx="6496333" cy="6141493"/>
          </a:xfrm>
        </p:spPr>
        <p:txBody>
          <a:bodyPr>
            <a:normAutofit lnSpcReduction="10000"/>
          </a:bodyPr>
          <a:lstStyle/>
          <a:p>
            <a:pPr marL="0" lvl="1" indent="0" fontAlgn="base">
              <a:lnSpc>
                <a:spcPct val="160000"/>
              </a:lnSpc>
              <a:spcBef>
                <a:spcPts val="1000"/>
              </a:spcBef>
              <a:buNone/>
            </a:pPr>
            <a:r>
              <a:rPr lang="en-US" sz="3200" b="1" dirty="0" err="1"/>
              <a:t>Tanh</a:t>
            </a:r>
            <a:r>
              <a:rPr lang="en-US" sz="3200" b="1" dirty="0"/>
              <a:t> Activation </a:t>
            </a:r>
            <a:r>
              <a:rPr lang="en-US" sz="3200" b="1" dirty="0" smtClean="0"/>
              <a:t>Function</a:t>
            </a:r>
            <a:endParaRPr lang="en-US" dirty="0" smtClean="0"/>
          </a:p>
          <a:p>
            <a:pPr algn="just" fontAlgn="base"/>
            <a:r>
              <a:rPr lang="en-US" sz="2400" dirty="0" err="1" smtClean="0"/>
              <a:t>Tanh</a:t>
            </a:r>
            <a:r>
              <a:rPr lang="en-US" sz="2400" dirty="0" smtClean="0"/>
              <a:t> function (</a:t>
            </a:r>
            <a:r>
              <a:rPr lang="en-US" sz="2400" dirty="0"/>
              <a:t>hyperbolic tangent function) is a shifted version of the sigmoid, allowing it to stretch across the y-axis. </a:t>
            </a:r>
            <a:endParaRPr lang="en-US" sz="2400" dirty="0" smtClean="0"/>
          </a:p>
          <a:p>
            <a:pPr algn="just" fontAlgn="base"/>
            <a:r>
              <a:rPr lang="en-US" sz="2400" dirty="0" smtClean="0"/>
              <a:t>It </a:t>
            </a:r>
            <a:r>
              <a:rPr lang="en-US" sz="2400" dirty="0"/>
              <a:t>is defined as</a:t>
            </a:r>
            <a:r>
              <a:rPr lang="en-US" sz="2400" dirty="0" smtClean="0"/>
              <a:t>:</a:t>
            </a:r>
          </a:p>
          <a:p>
            <a:pPr marL="0" indent="0" algn="just" fontAlgn="base">
              <a:buNone/>
            </a:pPr>
            <a:endParaRPr lang="en-US" sz="2400" dirty="0"/>
          </a:p>
          <a:p>
            <a:pPr algn="just" fontAlgn="base"/>
            <a:endParaRPr lang="en-US" sz="2400" dirty="0" smtClean="0"/>
          </a:p>
          <a:p>
            <a:pPr marL="0" indent="0" algn="just" fontAlgn="base">
              <a:buNone/>
            </a:pPr>
            <a:endParaRPr lang="en-US" sz="2400" dirty="0" smtClean="0"/>
          </a:p>
          <a:p>
            <a:pPr algn="just" fontAlgn="base"/>
            <a:r>
              <a:rPr lang="en-US" sz="2400" dirty="0" smtClean="0"/>
              <a:t>Value </a:t>
            </a:r>
            <a:r>
              <a:rPr lang="en-US" sz="2400" dirty="0"/>
              <a:t>Range: Outputs values from -1 to +1</a:t>
            </a:r>
            <a:r>
              <a:rPr lang="en-US" sz="2400" dirty="0" smtClean="0"/>
              <a:t>.</a:t>
            </a:r>
          </a:p>
          <a:p>
            <a:pPr algn="just" fontAlgn="base"/>
            <a:r>
              <a:rPr lang="en-US" sz="2400" b="1" dirty="0"/>
              <a:t>Non-linear</a:t>
            </a:r>
            <a:r>
              <a:rPr lang="en-US" sz="2400" dirty="0"/>
              <a:t>: Enables modeling of complex data patterns</a:t>
            </a:r>
          </a:p>
          <a:p>
            <a:pPr algn="just" fontAlgn="base"/>
            <a:r>
              <a:rPr lang="en-US" sz="2400" dirty="0"/>
              <a:t>Commonly used in hidden layers due to its zero-centered output, facilitating easier learning for subsequent layers.</a:t>
            </a:r>
            <a:endParaRPr lang="en-US" sz="2400" dirty="0" smtClean="0"/>
          </a:p>
        </p:txBody>
      </p:sp>
      <p:pic>
        <p:nvPicPr>
          <p:cNvPr id="4" name="Picture 3"/>
          <p:cNvPicPr>
            <a:picLocks noChangeAspect="1"/>
          </p:cNvPicPr>
          <p:nvPr/>
        </p:nvPicPr>
        <p:blipFill rotWithShape="1">
          <a:blip r:embed="rId2"/>
          <a:srcRect l="24756" t="52902" r="51852" b="40012"/>
          <a:stretch/>
        </p:blipFill>
        <p:spPr>
          <a:xfrm>
            <a:off x="1009934" y="3013863"/>
            <a:ext cx="3575713" cy="873456"/>
          </a:xfrm>
          <a:prstGeom prst="rect">
            <a:avLst/>
          </a:prstGeom>
        </p:spPr>
      </p:pic>
      <p:pic>
        <p:nvPicPr>
          <p:cNvPr id="8194"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1551" y="491319"/>
            <a:ext cx="4421875" cy="5891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73449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955" y="368490"/>
            <a:ext cx="11750723" cy="6332561"/>
          </a:xfrm>
        </p:spPr>
        <p:txBody>
          <a:bodyPr>
            <a:normAutofit/>
          </a:bodyPr>
          <a:lstStyle/>
          <a:p>
            <a:pPr marL="0" lvl="1" indent="0" fontAlgn="base">
              <a:lnSpc>
                <a:spcPct val="160000"/>
              </a:lnSpc>
              <a:spcBef>
                <a:spcPts val="1000"/>
              </a:spcBef>
              <a:buNone/>
            </a:pPr>
            <a:r>
              <a:rPr lang="en-US" sz="3200" b="1" dirty="0" err="1"/>
              <a:t>ReLU</a:t>
            </a:r>
            <a:r>
              <a:rPr lang="en-US" sz="3200" b="1" dirty="0"/>
              <a:t> (Rectified Linear Unit) Function </a:t>
            </a:r>
          </a:p>
          <a:p>
            <a:pPr algn="just" fontAlgn="base">
              <a:lnSpc>
                <a:spcPct val="150000"/>
              </a:lnSpc>
            </a:pPr>
            <a:r>
              <a:rPr lang="en-US" sz="2400" dirty="0" err="1" smtClean="0"/>
              <a:t>ReLU</a:t>
            </a:r>
            <a:r>
              <a:rPr lang="en-US" sz="2400" dirty="0" smtClean="0"/>
              <a:t> activation is </a:t>
            </a:r>
            <a:r>
              <a:rPr lang="en-US" sz="2400" dirty="0"/>
              <a:t>defined by A(x)=max⁡(</a:t>
            </a:r>
            <a:r>
              <a:rPr lang="en-US" sz="2400" dirty="0" smtClean="0"/>
              <a:t>0,x) </a:t>
            </a:r>
            <a:r>
              <a:rPr lang="en-US" sz="2400" dirty="0"/>
              <a:t>this means that if the input x is positive, </a:t>
            </a:r>
            <a:r>
              <a:rPr lang="en-US" sz="2400" dirty="0" err="1"/>
              <a:t>ReLU</a:t>
            </a:r>
            <a:r>
              <a:rPr lang="en-US" sz="2400" dirty="0"/>
              <a:t> returns x, if the input is negative, it returns 0.</a:t>
            </a:r>
          </a:p>
          <a:p>
            <a:pPr algn="just" fontAlgn="base">
              <a:lnSpc>
                <a:spcPct val="150000"/>
              </a:lnSpc>
            </a:pPr>
            <a:r>
              <a:rPr lang="en-US" sz="2400" b="1" dirty="0"/>
              <a:t>Value Range</a:t>
            </a:r>
            <a:r>
              <a:rPr lang="en-US" sz="2400" dirty="0"/>
              <a:t>: [0,</a:t>
            </a:r>
            <a:r>
              <a:rPr lang="en-US" sz="2400" dirty="0" smtClean="0"/>
              <a:t>∞), meaning </a:t>
            </a:r>
            <a:r>
              <a:rPr lang="en-US" sz="2400" dirty="0"/>
              <a:t>the function only outputs non-negative values.</a:t>
            </a:r>
          </a:p>
          <a:p>
            <a:pPr algn="just" fontAlgn="base">
              <a:lnSpc>
                <a:spcPct val="150000"/>
              </a:lnSpc>
            </a:pPr>
            <a:r>
              <a:rPr lang="en-US" sz="2400" b="1" dirty="0"/>
              <a:t>Nature</a:t>
            </a:r>
            <a:r>
              <a:rPr lang="en-US" sz="2400" dirty="0"/>
              <a:t>: It is a </a:t>
            </a:r>
            <a:r>
              <a:rPr lang="en-US" sz="2400" dirty="0" smtClean="0"/>
              <a:t>non-linear </a:t>
            </a:r>
            <a:r>
              <a:rPr lang="en-US" sz="2400" dirty="0"/>
              <a:t>activation function, allowing neural networks to learn complex patterns and making backpropagation more efficient.</a:t>
            </a:r>
          </a:p>
          <a:p>
            <a:pPr algn="just" fontAlgn="base">
              <a:lnSpc>
                <a:spcPct val="150000"/>
              </a:lnSpc>
            </a:pPr>
            <a:r>
              <a:rPr lang="en-US" sz="2400" b="1" dirty="0"/>
              <a:t>Advantage over other Activation: </a:t>
            </a:r>
            <a:r>
              <a:rPr lang="en-US" sz="2400" dirty="0" err="1"/>
              <a:t>ReLU</a:t>
            </a:r>
            <a:r>
              <a:rPr lang="en-US" sz="2400" dirty="0"/>
              <a:t> is less computationally expensive than </a:t>
            </a:r>
            <a:r>
              <a:rPr lang="en-US" sz="2400" dirty="0" err="1"/>
              <a:t>tanh</a:t>
            </a:r>
            <a:r>
              <a:rPr lang="en-US" sz="2400" dirty="0"/>
              <a:t> and sigmoid because it involves simpler mathematical operations. At a time only a few neurons are activated making the network sparse making it efficient and easy for computation.</a:t>
            </a:r>
          </a:p>
          <a:p>
            <a:pPr algn="just">
              <a:lnSpc>
                <a:spcPct val="150000"/>
              </a:lnSpc>
            </a:pPr>
            <a:endParaRPr lang="en-US" sz="2400" dirty="0"/>
          </a:p>
        </p:txBody>
      </p:sp>
    </p:spTree>
    <p:extLst>
      <p:ext uri="{BB962C8B-B14F-4D97-AF65-F5344CB8AC3E}">
        <p14:creationId xmlns:p14="http://schemas.microsoft.com/office/powerpoint/2010/main" val="7116688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lu-activation-fun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845" y="657936"/>
            <a:ext cx="8256895" cy="5592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5002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233" y="310535"/>
            <a:ext cx="10515600" cy="726696"/>
          </a:xfrm>
        </p:spPr>
        <p:txBody>
          <a:bodyPr>
            <a:noAutofit/>
          </a:bodyPr>
          <a:lstStyle/>
          <a:p>
            <a:r>
              <a:rPr lang="en-US" sz="4800" b="1" dirty="0"/>
              <a:t>3. Exponential Linear </a:t>
            </a:r>
            <a:r>
              <a:rPr lang="en-US" sz="4800" b="1" dirty="0" smtClean="0"/>
              <a:t>Units</a:t>
            </a:r>
            <a:endParaRPr lang="en-US" sz="4800" b="1" dirty="0"/>
          </a:p>
        </p:txBody>
      </p:sp>
      <p:sp>
        <p:nvSpPr>
          <p:cNvPr id="3" name="Content Placeholder 2"/>
          <p:cNvSpPr>
            <a:spLocks noGrp="1"/>
          </p:cNvSpPr>
          <p:nvPr>
            <p:ph idx="1"/>
          </p:nvPr>
        </p:nvSpPr>
        <p:spPr>
          <a:xfrm>
            <a:off x="333234" y="1214650"/>
            <a:ext cx="7391400" cy="5431809"/>
          </a:xfrm>
        </p:spPr>
        <p:txBody>
          <a:bodyPr/>
          <a:lstStyle/>
          <a:p>
            <a:pPr marL="514350" indent="-514350">
              <a:buAutoNum type="arabicPeriod"/>
            </a:pPr>
            <a:r>
              <a:rPr lang="en-US" b="1" dirty="0" err="1" smtClean="0"/>
              <a:t>Softmax</a:t>
            </a:r>
            <a:r>
              <a:rPr lang="en-US" b="1" dirty="0" smtClean="0"/>
              <a:t> Function :</a:t>
            </a:r>
          </a:p>
          <a:p>
            <a:pPr algn="just" fontAlgn="base"/>
            <a:r>
              <a:rPr lang="en-US" dirty="0" err="1"/>
              <a:t>Softmax</a:t>
            </a:r>
            <a:r>
              <a:rPr lang="en-US" dirty="0"/>
              <a:t> function is designed to handle multi-class classification problems. </a:t>
            </a:r>
            <a:endParaRPr lang="en-US" dirty="0" smtClean="0"/>
          </a:p>
          <a:p>
            <a:pPr algn="just" fontAlgn="base"/>
            <a:r>
              <a:rPr lang="en-US" dirty="0" smtClean="0"/>
              <a:t>It </a:t>
            </a:r>
            <a:r>
              <a:rPr lang="en-US" dirty="0"/>
              <a:t>transforms raw output scores from a neural network into probabilities. </a:t>
            </a:r>
            <a:endParaRPr lang="en-US" dirty="0" smtClean="0"/>
          </a:p>
          <a:p>
            <a:pPr algn="just" fontAlgn="base"/>
            <a:r>
              <a:rPr lang="en-US" dirty="0" smtClean="0"/>
              <a:t>It </a:t>
            </a:r>
            <a:r>
              <a:rPr lang="en-US" dirty="0"/>
              <a:t>works by squashing the output values of each class into the range of 0 to 1 while ensuring that the sum of all probabilities equals 1.</a:t>
            </a:r>
          </a:p>
          <a:p>
            <a:pPr algn="just" fontAlgn="base"/>
            <a:r>
              <a:rPr lang="en-US" dirty="0" err="1"/>
              <a:t>Softmax</a:t>
            </a:r>
            <a:r>
              <a:rPr lang="en-US" dirty="0"/>
              <a:t> is a non-linear activation function.</a:t>
            </a:r>
          </a:p>
          <a:p>
            <a:pPr algn="just" fontAlgn="base"/>
            <a:r>
              <a:rPr lang="en-US" dirty="0"/>
              <a:t>The </a:t>
            </a:r>
            <a:r>
              <a:rPr lang="en-US" dirty="0" err="1"/>
              <a:t>Softmax</a:t>
            </a:r>
            <a:r>
              <a:rPr lang="en-US" dirty="0"/>
              <a:t> function ensures that each class is assigned a probability, helping to identify which class the input belongs to.</a:t>
            </a:r>
          </a:p>
          <a:p>
            <a:pPr marL="0" indent="0" algn="just">
              <a:buNone/>
            </a:pPr>
            <a:endParaRPr lang="en-US" dirty="0"/>
          </a:p>
        </p:txBody>
      </p:sp>
      <p:pic>
        <p:nvPicPr>
          <p:cNvPr id="4" name="Picture 3"/>
          <p:cNvPicPr>
            <a:picLocks noChangeAspect="1"/>
          </p:cNvPicPr>
          <p:nvPr/>
        </p:nvPicPr>
        <p:blipFill>
          <a:blip r:embed="rId2"/>
          <a:stretch>
            <a:fillRect/>
          </a:stretch>
        </p:blipFill>
        <p:spPr>
          <a:xfrm>
            <a:off x="8288741" y="310535"/>
            <a:ext cx="3762231" cy="6335924"/>
          </a:xfrm>
          <a:prstGeom prst="rect">
            <a:avLst/>
          </a:prstGeom>
        </p:spPr>
      </p:pic>
    </p:spTree>
    <p:extLst>
      <p:ext uri="{BB962C8B-B14F-4D97-AF65-F5344CB8AC3E}">
        <p14:creationId xmlns:p14="http://schemas.microsoft.com/office/powerpoint/2010/main" val="13936775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696870413"/>
              </p:ext>
            </p:extLst>
          </p:nvPr>
        </p:nvGraphicFramePr>
        <p:xfrm>
          <a:off x="941695" y="532264"/>
          <a:ext cx="10276764" cy="5950423"/>
        </p:xfrm>
        <a:graphic>
          <a:graphicData uri="http://schemas.openxmlformats.org/drawingml/2006/table">
            <a:tbl>
              <a:tblPr/>
              <a:tblGrid>
                <a:gridCol w="3425588"/>
                <a:gridCol w="3425588"/>
                <a:gridCol w="3425588"/>
              </a:tblGrid>
              <a:tr h="820748">
                <a:tc>
                  <a:txBody>
                    <a:bodyPr/>
                    <a:lstStyle/>
                    <a:p>
                      <a:pPr algn="ctr"/>
                      <a:r>
                        <a:rPr lang="en-US" sz="3200" dirty="0"/>
                        <a:t>Activation</a:t>
                      </a:r>
                    </a:p>
                  </a:txBody>
                  <a:tcPr anchor="ctr">
                    <a:lnL>
                      <a:noFill/>
                    </a:lnL>
                    <a:lnR>
                      <a:noFill/>
                    </a:lnR>
                    <a:lnT>
                      <a:noFill/>
                    </a:lnT>
                    <a:lnB>
                      <a:noFill/>
                    </a:lnB>
                    <a:solidFill>
                      <a:schemeClr val="accent2">
                        <a:lumMod val="20000"/>
                        <a:lumOff val="80000"/>
                      </a:schemeClr>
                    </a:solidFill>
                  </a:tcPr>
                </a:tc>
                <a:tc>
                  <a:txBody>
                    <a:bodyPr/>
                    <a:lstStyle/>
                    <a:p>
                      <a:pPr algn="ctr"/>
                      <a:r>
                        <a:rPr lang="en-US" sz="3200" dirty="0"/>
                        <a:t>Range</a:t>
                      </a:r>
                    </a:p>
                  </a:txBody>
                  <a:tcPr anchor="ctr">
                    <a:lnL>
                      <a:noFill/>
                    </a:lnL>
                    <a:lnR>
                      <a:noFill/>
                    </a:lnR>
                    <a:lnT>
                      <a:noFill/>
                    </a:lnT>
                    <a:lnB>
                      <a:noFill/>
                    </a:lnB>
                    <a:solidFill>
                      <a:schemeClr val="accent2">
                        <a:lumMod val="20000"/>
                        <a:lumOff val="80000"/>
                      </a:schemeClr>
                    </a:solidFill>
                  </a:tcPr>
                </a:tc>
                <a:tc>
                  <a:txBody>
                    <a:bodyPr/>
                    <a:lstStyle/>
                    <a:p>
                      <a:pPr algn="ctr"/>
                      <a:r>
                        <a:rPr lang="en-US" sz="3200" dirty="0"/>
                        <a:t>Typical Use</a:t>
                      </a:r>
                    </a:p>
                  </a:txBody>
                  <a:tcPr anchor="ctr">
                    <a:lnL>
                      <a:noFill/>
                    </a:lnL>
                    <a:lnR>
                      <a:noFill/>
                    </a:lnR>
                    <a:lnT>
                      <a:noFill/>
                    </a:lnT>
                    <a:lnB>
                      <a:noFill/>
                    </a:lnB>
                    <a:solidFill>
                      <a:schemeClr val="accent2">
                        <a:lumMod val="20000"/>
                        <a:lumOff val="80000"/>
                      </a:schemeClr>
                    </a:solidFill>
                  </a:tcPr>
                </a:tc>
              </a:tr>
              <a:tr h="1436309">
                <a:tc>
                  <a:txBody>
                    <a:bodyPr/>
                    <a:lstStyle/>
                    <a:p>
                      <a:pPr algn="ctr"/>
                      <a:r>
                        <a:rPr lang="en-US" sz="3200" b="1" dirty="0"/>
                        <a:t>Sigmoid</a:t>
                      </a:r>
                      <a:endParaRPr lang="en-US" sz="3200" dirty="0"/>
                    </a:p>
                  </a:txBody>
                  <a:tcPr anchor="ctr">
                    <a:lnL>
                      <a:noFill/>
                    </a:lnL>
                    <a:lnR>
                      <a:noFill/>
                    </a:lnR>
                    <a:lnT>
                      <a:noFill/>
                    </a:lnT>
                    <a:lnB>
                      <a:noFill/>
                    </a:lnB>
                  </a:tcPr>
                </a:tc>
                <a:tc>
                  <a:txBody>
                    <a:bodyPr/>
                    <a:lstStyle/>
                    <a:p>
                      <a:pPr algn="ctr"/>
                      <a:r>
                        <a:rPr lang="en-US" sz="3200" dirty="0"/>
                        <a:t>(0, 1)</a:t>
                      </a:r>
                    </a:p>
                  </a:txBody>
                  <a:tcPr anchor="ctr">
                    <a:lnL>
                      <a:noFill/>
                    </a:lnL>
                    <a:lnR>
                      <a:noFill/>
                    </a:lnR>
                    <a:lnT>
                      <a:noFill/>
                    </a:lnT>
                    <a:lnB>
                      <a:noFill/>
                    </a:lnB>
                  </a:tcPr>
                </a:tc>
                <a:tc>
                  <a:txBody>
                    <a:bodyPr/>
                    <a:lstStyle/>
                    <a:p>
                      <a:pPr algn="ctr"/>
                      <a:r>
                        <a:rPr lang="en-US" sz="3200"/>
                        <a:t>Binary classification</a:t>
                      </a:r>
                    </a:p>
                  </a:txBody>
                  <a:tcPr anchor="ctr">
                    <a:lnL>
                      <a:noFill/>
                    </a:lnL>
                    <a:lnR>
                      <a:noFill/>
                    </a:lnR>
                    <a:lnT>
                      <a:noFill/>
                    </a:lnT>
                    <a:lnB>
                      <a:noFill/>
                    </a:lnB>
                  </a:tcPr>
                </a:tc>
              </a:tr>
              <a:tr h="1436309">
                <a:tc>
                  <a:txBody>
                    <a:bodyPr/>
                    <a:lstStyle/>
                    <a:p>
                      <a:pPr algn="ctr"/>
                      <a:r>
                        <a:rPr lang="en-US" sz="3200" b="1"/>
                        <a:t>Tanh</a:t>
                      </a:r>
                      <a:endParaRPr lang="en-US" sz="3200"/>
                    </a:p>
                  </a:txBody>
                  <a:tcPr anchor="ctr">
                    <a:lnL>
                      <a:noFill/>
                    </a:lnL>
                    <a:lnR>
                      <a:noFill/>
                    </a:lnR>
                    <a:lnT>
                      <a:noFill/>
                    </a:lnT>
                    <a:lnB>
                      <a:noFill/>
                    </a:lnB>
                  </a:tcPr>
                </a:tc>
                <a:tc>
                  <a:txBody>
                    <a:bodyPr/>
                    <a:lstStyle/>
                    <a:p>
                      <a:pPr algn="ctr"/>
                      <a:r>
                        <a:rPr lang="en-US" sz="3200" dirty="0"/>
                        <a:t>(-1, 1)</a:t>
                      </a:r>
                    </a:p>
                  </a:txBody>
                  <a:tcPr anchor="ctr">
                    <a:lnL>
                      <a:noFill/>
                    </a:lnL>
                    <a:lnR>
                      <a:noFill/>
                    </a:lnR>
                    <a:lnT>
                      <a:noFill/>
                    </a:lnT>
                    <a:lnB>
                      <a:noFill/>
                    </a:lnB>
                  </a:tcPr>
                </a:tc>
                <a:tc>
                  <a:txBody>
                    <a:bodyPr/>
                    <a:lstStyle/>
                    <a:p>
                      <a:pPr algn="ctr"/>
                      <a:r>
                        <a:rPr lang="en-US" sz="3200" dirty="0"/>
                        <a:t>Hidden layers</a:t>
                      </a:r>
                    </a:p>
                  </a:txBody>
                  <a:tcPr anchor="ctr">
                    <a:lnL>
                      <a:noFill/>
                    </a:lnL>
                    <a:lnR>
                      <a:noFill/>
                    </a:lnR>
                    <a:lnT>
                      <a:noFill/>
                    </a:lnT>
                    <a:lnB>
                      <a:noFill/>
                    </a:lnB>
                  </a:tcPr>
                </a:tc>
              </a:tr>
              <a:tr h="820748">
                <a:tc>
                  <a:txBody>
                    <a:bodyPr/>
                    <a:lstStyle/>
                    <a:p>
                      <a:pPr algn="ctr"/>
                      <a:r>
                        <a:rPr lang="en-US" sz="3200" b="1"/>
                        <a:t>ReLU</a:t>
                      </a:r>
                      <a:endParaRPr lang="en-US" sz="3200"/>
                    </a:p>
                  </a:txBody>
                  <a:tcPr anchor="ctr">
                    <a:lnL>
                      <a:noFill/>
                    </a:lnL>
                    <a:lnR>
                      <a:noFill/>
                    </a:lnR>
                    <a:lnT>
                      <a:noFill/>
                    </a:lnT>
                    <a:lnB>
                      <a:noFill/>
                    </a:lnB>
                  </a:tcPr>
                </a:tc>
                <a:tc>
                  <a:txBody>
                    <a:bodyPr/>
                    <a:lstStyle/>
                    <a:p>
                      <a:pPr algn="ctr"/>
                      <a:r>
                        <a:rPr lang="en-US" sz="3200" dirty="0"/>
                        <a:t>[0, ∞)</a:t>
                      </a:r>
                    </a:p>
                  </a:txBody>
                  <a:tcPr anchor="ctr">
                    <a:lnL>
                      <a:noFill/>
                    </a:lnL>
                    <a:lnR>
                      <a:noFill/>
                    </a:lnR>
                    <a:lnT>
                      <a:noFill/>
                    </a:lnT>
                    <a:lnB>
                      <a:noFill/>
                    </a:lnB>
                  </a:tcPr>
                </a:tc>
                <a:tc>
                  <a:txBody>
                    <a:bodyPr/>
                    <a:lstStyle/>
                    <a:p>
                      <a:pPr algn="ctr"/>
                      <a:r>
                        <a:rPr lang="en-US" sz="3200" dirty="0"/>
                        <a:t>Deep hidden layers</a:t>
                      </a:r>
                    </a:p>
                  </a:txBody>
                  <a:tcPr anchor="ctr">
                    <a:lnL>
                      <a:noFill/>
                    </a:lnL>
                    <a:lnR>
                      <a:noFill/>
                    </a:lnR>
                    <a:lnT>
                      <a:noFill/>
                    </a:lnT>
                    <a:lnB>
                      <a:noFill/>
                    </a:lnB>
                  </a:tcPr>
                </a:tc>
              </a:tr>
              <a:tr h="1436309">
                <a:tc>
                  <a:txBody>
                    <a:bodyPr/>
                    <a:lstStyle/>
                    <a:p>
                      <a:pPr algn="ctr"/>
                      <a:r>
                        <a:rPr lang="en-US" sz="3200" b="1"/>
                        <a:t>Softmax</a:t>
                      </a:r>
                      <a:endParaRPr lang="en-US" sz="3200"/>
                    </a:p>
                  </a:txBody>
                  <a:tcPr anchor="ctr">
                    <a:lnL>
                      <a:noFill/>
                    </a:lnL>
                    <a:lnR>
                      <a:noFill/>
                    </a:lnR>
                    <a:lnT>
                      <a:noFill/>
                    </a:lnT>
                    <a:lnB>
                      <a:noFill/>
                    </a:lnB>
                  </a:tcPr>
                </a:tc>
                <a:tc>
                  <a:txBody>
                    <a:bodyPr/>
                    <a:lstStyle/>
                    <a:p>
                      <a:pPr algn="ctr"/>
                      <a:r>
                        <a:rPr lang="en-US" sz="3200" dirty="0"/>
                        <a:t>(0, 1), sum=1</a:t>
                      </a:r>
                    </a:p>
                  </a:txBody>
                  <a:tcPr anchor="ctr">
                    <a:lnL>
                      <a:noFill/>
                    </a:lnL>
                    <a:lnR>
                      <a:noFill/>
                    </a:lnR>
                    <a:lnT>
                      <a:noFill/>
                    </a:lnT>
                    <a:lnB>
                      <a:noFill/>
                    </a:lnB>
                  </a:tcPr>
                </a:tc>
                <a:tc>
                  <a:txBody>
                    <a:bodyPr/>
                    <a:lstStyle/>
                    <a:p>
                      <a:pPr algn="ctr"/>
                      <a:r>
                        <a:rPr lang="en-US" sz="3200" dirty="0"/>
                        <a:t>Multi-class output layer</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6211372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460" y="146761"/>
            <a:ext cx="10515600" cy="876821"/>
          </a:xfrm>
        </p:spPr>
        <p:txBody>
          <a:bodyPr>
            <a:normAutofit/>
          </a:bodyPr>
          <a:lstStyle/>
          <a:p>
            <a:r>
              <a:rPr lang="en-US" b="1" dirty="0"/>
              <a:t>Loss Functions in Deep </a:t>
            </a:r>
            <a:r>
              <a:rPr lang="en-US" b="1" dirty="0" smtClean="0"/>
              <a:t>Learning</a:t>
            </a:r>
            <a:endParaRPr lang="en-US" dirty="0"/>
          </a:p>
        </p:txBody>
      </p:sp>
      <p:sp>
        <p:nvSpPr>
          <p:cNvPr id="3" name="Content Placeholder 2"/>
          <p:cNvSpPr>
            <a:spLocks noGrp="1"/>
          </p:cNvSpPr>
          <p:nvPr>
            <p:ph idx="1"/>
          </p:nvPr>
        </p:nvSpPr>
        <p:spPr>
          <a:xfrm>
            <a:off x="450376" y="1378424"/>
            <a:ext cx="10903424" cy="5268036"/>
          </a:xfrm>
        </p:spPr>
        <p:txBody>
          <a:bodyPr/>
          <a:lstStyle/>
          <a:p>
            <a:pPr marL="0" indent="0" algn="just">
              <a:lnSpc>
                <a:spcPct val="150000"/>
              </a:lnSpc>
              <a:buNone/>
            </a:pPr>
            <a:r>
              <a:rPr lang="en-US" dirty="0"/>
              <a:t>A </a:t>
            </a:r>
            <a:r>
              <a:rPr lang="en-US" b="1" dirty="0"/>
              <a:t>loss function</a:t>
            </a:r>
            <a:r>
              <a:rPr lang="en-US" dirty="0"/>
              <a:t> is a mathematical way to measure how good or bad a model’s predictions are compared to the actual </a:t>
            </a:r>
            <a:r>
              <a:rPr lang="en-US" dirty="0" smtClean="0"/>
              <a:t>results. </a:t>
            </a:r>
          </a:p>
          <a:p>
            <a:pPr marL="514350" indent="-514350" algn="just">
              <a:lnSpc>
                <a:spcPct val="150000"/>
              </a:lnSpc>
              <a:buFont typeface="+mj-lt"/>
              <a:buAutoNum type="arabicPeriod"/>
            </a:pPr>
            <a:r>
              <a:rPr lang="en-US" b="1" dirty="0"/>
              <a:t> Mean Squared Error (MSE) </a:t>
            </a:r>
            <a:r>
              <a:rPr lang="en-US" b="1" dirty="0" smtClean="0"/>
              <a:t>Loss</a:t>
            </a:r>
          </a:p>
          <a:p>
            <a:pPr marL="514350" indent="-514350" algn="just">
              <a:lnSpc>
                <a:spcPct val="150000"/>
              </a:lnSpc>
              <a:buFont typeface="+mj-lt"/>
              <a:buAutoNum type="arabicPeriod"/>
            </a:pPr>
            <a:r>
              <a:rPr lang="es-ES" b="1" dirty="0"/>
              <a:t>Mean </a:t>
            </a:r>
            <a:r>
              <a:rPr lang="es-ES" b="1" dirty="0" err="1"/>
              <a:t>Absolute</a:t>
            </a:r>
            <a:r>
              <a:rPr lang="es-ES" b="1" dirty="0"/>
              <a:t> Error (MAE) </a:t>
            </a:r>
            <a:r>
              <a:rPr lang="es-ES" b="1" dirty="0" err="1"/>
              <a:t>Loss</a:t>
            </a:r>
            <a:endParaRPr lang="es-ES" b="1" dirty="0"/>
          </a:p>
          <a:p>
            <a:pPr marL="514350" indent="-514350" algn="just">
              <a:lnSpc>
                <a:spcPct val="150000"/>
              </a:lnSpc>
              <a:buFont typeface="+mj-lt"/>
              <a:buAutoNum type="arabicPeriod"/>
            </a:pPr>
            <a:r>
              <a:rPr lang="en-US" b="1" dirty="0"/>
              <a:t>Binary Cross-Entropy Loss (Log Loss</a:t>
            </a:r>
            <a:r>
              <a:rPr lang="en-US" b="1" dirty="0" smtClean="0"/>
              <a:t>)</a:t>
            </a:r>
            <a:endParaRPr lang="en-US" b="1" dirty="0"/>
          </a:p>
          <a:p>
            <a:pPr marL="0" indent="0" algn="just">
              <a:lnSpc>
                <a:spcPct val="150000"/>
              </a:lnSpc>
              <a:buNone/>
            </a:pPr>
            <a:endParaRPr lang="en-US" dirty="0"/>
          </a:p>
        </p:txBody>
      </p:sp>
    </p:spTree>
    <p:extLst>
      <p:ext uri="{BB962C8B-B14F-4D97-AF65-F5344CB8AC3E}">
        <p14:creationId xmlns:p14="http://schemas.microsoft.com/office/powerpoint/2010/main" val="3321989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1195" y="272955"/>
            <a:ext cx="11012606" cy="5063320"/>
          </a:xfrm>
        </p:spPr>
        <p:txBody>
          <a:bodyPr>
            <a:normAutofit fontScale="92500" lnSpcReduction="10000"/>
          </a:bodyPr>
          <a:lstStyle/>
          <a:p>
            <a:pPr marL="514350" indent="-514350" algn="just">
              <a:lnSpc>
                <a:spcPct val="150000"/>
              </a:lnSpc>
              <a:buAutoNum type="arabicPeriod"/>
            </a:pPr>
            <a:r>
              <a:rPr lang="en-US" b="1" dirty="0" smtClean="0"/>
              <a:t>Mean </a:t>
            </a:r>
            <a:r>
              <a:rPr lang="en-US" b="1" dirty="0"/>
              <a:t>Squared Error (MSE) </a:t>
            </a:r>
            <a:r>
              <a:rPr lang="en-US" b="1" dirty="0" smtClean="0"/>
              <a:t>Loss : </a:t>
            </a:r>
          </a:p>
          <a:p>
            <a:pPr marL="0" indent="0" algn="just">
              <a:lnSpc>
                <a:spcPct val="150000"/>
              </a:lnSpc>
              <a:buNone/>
            </a:pPr>
            <a:r>
              <a:rPr lang="en-US" dirty="0"/>
              <a:t>Loss is one of the most widely used loss functions for regression tasks. It calculates the average of the squared differences between the predicted values and the actual values. It is simple to understand and sensitive to outliers because the errors are squared which can affect the loss</a:t>
            </a:r>
            <a:r>
              <a:rPr lang="en-US" dirty="0" smtClean="0"/>
              <a:t>.</a:t>
            </a:r>
          </a:p>
          <a:p>
            <a:pPr algn="just">
              <a:lnSpc>
                <a:spcPct val="150000"/>
              </a:lnSpc>
            </a:pPr>
            <a:r>
              <a:rPr lang="en-US" dirty="0" smtClean="0"/>
              <a:t>Yi- actual Output</a:t>
            </a:r>
          </a:p>
          <a:p>
            <a:pPr algn="just">
              <a:lnSpc>
                <a:spcPct val="150000"/>
              </a:lnSpc>
            </a:pPr>
            <a:r>
              <a:rPr lang="en-US" dirty="0" smtClean="0"/>
              <a:t>Yi- Predicted Output</a:t>
            </a:r>
          </a:p>
          <a:p>
            <a:pPr algn="just">
              <a:lnSpc>
                <a:spcPct val="150000"/>
              </a:lnSpc>
            </a:pPr>
            <a:r>
              <a:rPr lang="en-US" dirty="0" smtClean="0"/>
              <a:t>N- Total No of neurons</a:t>
            </a:r>
          </a:p>
        </p:txBody>
      </p:sp>
      <p:pic>
        <p:nvPicPr>
          <p:cNvPr id="5" name="Picture 4"/>
          <p:cNvPicPr>
            <a:picLocks noChangeAspect="1"/>
          </p:cNvPicPr>
          <p:nvPr/>
        </p:nvPicPr>
        <p:blipFill rotWithShape="1">
          <a:blip r:embed="rId2"/>
          <a:srcRect l="19616" t="61366" r="61294" b="32139"/>
          <a:stretch/>
        </p:blipFill>
        <p:spPr>
          <a:xfrm>
            <a:off x="3098042" y="5472751"/>
            <a:ext cx="3998793" cy="1132764"/>
          </a:xfrm>
          <a:prstGeom prst="rect">
            <a:avLst/>
          </a:prstGeom>
        </p:spPr>
      </p:pic>
    </p:spTree>
    <p:extLst>
      <p:ext uri="{BB962C8B-B14F-4D97-AF65-F5344CB8AC3E}">
        <p14:creationId xmlns:p14="http://schemas.microsoft.com/office/powerpoint/2010/main" val="29750143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5" y="354842"/>
            <a:ext cx="11409529" cy="2879677"/>
          </a:xfrm>
        </p:spPr>
        <p:txBody>
          <a:bodyPr>
            <a:normAutofit/>
          </a:bodyPr>
          <a:lstStyle/>
          <a:p>
            <a:pPr marL="0" indent="0" algn="just">
              <a:lnSpc>
                <a:spcPct val="150000"/>
              </a:lnSpc>
              <a:buNone/>
            </a:pPr>
            <a:r>
              <a:rPr lang="es-ES" b="1" dirty="0"/>
              <a:t>Mean </a:t>
            </a:r>
            <a:r>
              <a:rPr lang="es-ES" b="1" dirty="0" err="1"/>
              <a:t>Absolute</a:t>
            </a:r>
            <a:r>
              <a:rPr lang="es-ES" b="1" dirty="0"/>
              <a:t> Error (MAE) </a:t>
            </a:r>
            <a:r>
              <a:rPr lang="es-ES" b="1" dirty="0" err="1" smtClean="0"/>
              <a:t>Loss</a:t>
            </a:r>
            <a:r>
              <a:rPr lang="es-ES" b="1" dirty="0" smtClean="0"/>
              <a:t> : </a:t>
            </a:r>
            <a:r>
              <a:rPr lang="en-US" dirty="0"/>
              <a:t>Loss is another commonly used loss function for regression. </a:t>
            </a:r>
            <a:endParaRPr lang="en-US" dirty="0" smtClean="0"/>
          </a:p>
          <a:p>
            <a:pPr marL="0" indent="0" algn="just">
              <a:lnSpc>
                <a:spcPct val="150000"/>
              </a:lnSpc>
              <a:buNone/>
            </a:pPr>
            <a:r>
              <a:rPr lang="en-US" dirty="0" smtClean="0"/>
              <a:t>It </a:t>
            </a:r>
            <a:r>
              <a:rPr lang="en-US" dirty="0"/>
              <a:t>calculates the average of the absolute differences between the predicted values and the actual values. </a:t>
            </a:r>
            <a:endParaRPr lang="en-US" dirty="0" smtClean="0"/>
          </a:p>
          <a:p>
            <a:pPr marL="0" indent="0" algn="just">
              <a:lnSpc>
                <a:spcPct val="150000"/>
              </a:lnSpc>
              <a:buNone/>
            </a:pPr>
            <a:endParaRPr lang="es-ES" b="1" dirty="0"/>
          </a:p>
          <a:p>
            <a:pPr algn="just">
              <a:lnSpc>
                <a:spcPct val="150000"/>
              </a:lnSpc>
            </a:pPr>
            <a:endParaRPr lang="en-US" dirty="0"/>
          </a:p>
        </p:txBody>
      </p:sp>
      <p:pic>
        <p:nvPicPr>
          <p:cNvPr id="4" name="Picture 3"/>
          <p:cNvPicPr>
            <a:picLocks noChangeAspect="1"/>
          </p:cNvPicPr>
          <p:nvPr/>
        </p:nvPicPr>
        <p:blipFill rotWithShape="1">
          <a:blip r:embed="rId2"/>
          <a:srcRect l="17077" t="68224" r="59014" b="20617"/>
          <a:stretch/>
        </p:blipFill>
        <p:spPr>
          <a:xfrm>
            <a:off x="3343702" y="3835022"/>
            <a:ext cx="4571999" cy="1760559"/>
          </a:xfrm>
          <a:prstGeom prst="rect">
            <a:avLst/>
          </a:prstGeom>
        </p:spPr>
      </p:pic>
    </p:spTree>
    <p:extLst>
      <p:ext uri="{BB962C8B-B14F-4D97-AF65-F5344CB8AC3E}">
        <p14:creationId xmlns:p14="http://schemas.microsoft.com/office/powerpoint/2010/main" val="85585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5937" y="365314"/>
            <a:ext cx="10515600" cy="2937444"/>
          </a:xfrm>
        </p:spPr>
        <p:txBody>
          <a:bodyPr/>
          <a:lstStyle/>
          <a:p>
            <a:pPr marL="0" indent="0" algn="just">
              <a:lnSpc>
                <a:spcPct val="150000"/>
              </a:lnSpc>
              <a:buNone/>
            </a:pPr>
            <a:r>
              <a:rPr lang="en-US" b="1" dirty="0"/>
              <a:t>Binary Cross-Entropy Loss (Log Loss)</a:t>
            </a:r>
          </a:p>
          <a:p>
            <a:pPr marL="0" indent="0" algn="just">
              <a:lnSpc>
                <a:spcPct val="150000"/>
              </a:lnSpc>
              <a:buNone/>
            </a:pPr>
            <a:r>
              <a:rPr lang="en-US" dirty="0"/>
              <a:t>Loss is also known as Log Loss and is used for binary classification problems. It measures the performance of a classification model whose output is a probability value between 0 and 1</a:t>
            </a:r>
            <a:endParaRPr lang="es-ES" b="1" dirty="0"/>
          </a:p>
          <a:p>
            <a:endParaRPr lang="en-US" dirty="0"/>
          </a:p>
        </p:txBody>
      </p:sp>
      <p:pic>
        <p:nvPicPr>
          <p:cNvPr id="4" name="Picture 3"/>
          <p:cNvPicPr>
            <a:picLocks noChangeAspect="1"/>
          </p:cNvPicPr>
          <p:nvPr/>
        </p:nvPicPr>
        <p:blipFill rotWithShape="1">
          <a:blip r:embed="rId2"/>
          <a:srcRect l="18253" t="62941" r="34126" b="9308"/>
          <a:stretch/>
        </p:blipFill>
        <p:spPr>
          <a:xfrm>
            <a:off x="1555844" y="3971498"/>
            <a:ext cx="7929349" cy="2388359"/>
          </a:xfrm>
          <a:prstGeom prst="rect">
            <a:avLst/>
          </a:prstGeom>
        </p:spPr>
      </p:pic>
    </p:spTree>
    <p:extLst>
      <p:ext uri="{BB962C8B-B14F-4D97-AF65-F5344CB8AC3E}">
        <p14:creationId xmlns:p14="http://schemas.microsoft.com/office/powerpoint/2010/main" val="41847803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251" y="160409"/>
            <a:ext cx="10958015" cy="644809"/>
          </a:xfrm>
        </p:spPr>
        <p:txBody>
          <a:bodyPr>
            <a:normAutofit fontScale="90000"/>
          </a:bodyPr>
          <a:lstStyle/>
          <a:p>
            <a:r>
              <a:rPr lang="en-US" b="1" dirty="0" smtClean="0"/>
              <a:t>Backpropagation</a:t>
            </a:r>
            <a:endParaRPr lang="en-US" dirty="0"/>
          </a:p>
        </p:txBody>
      </p:sp>
      <p:sp>
        <p:nvSpPr>
          <p:cNvPr id="3" name="Content Placeholder 2"/>
          <p:cNvSpPr>
            <a:spLocks noGrp="1"/>
          </p:cNvSpPr>
          <p:nvPr>
            <p:ph idx="1"/>
          </p:nvPr>
        </p:nvSpPr>
        <p:spPr>
          <a:xfrm>
            <a:off x="300251" y="805218"/>
            <a:ext cx="11053549" cy="2060812"/>
          </a:xfrm>
        </p:spPr>
        <p:txBody>
          <a:bodyPr>
            <a:normAutofit/>
          </a:bodyPr>
          <a:lstStyle/>
          <a:p>
            <a:pPr algn="just"/>
            <a:r>
              <a:rPr lang="en-US" sz="2400" dirty="0" smtClean="0"/>
              <a:t>It is </a:t>
            </a:r>
            <a:r>
              <a:rPr lang="en-US" sz="2400" dirty="0"/>
              <a:t>a key algorithm used to </a:t>
            </a:r>
            <a:r>
              <a:rPr lang="en-US" sz="2400" dirty="0" smtClean="0"/>
              <a:t>train Deep </a:t>
            </a:r>
            <a:r>
              <a:rPr lang="en-US" sz="2400" dirty="0"/>
              <a:t>neural networks by minimizing the difference between predicted and actual outputs</a:t>
            </a:r>
            <a:r>
              <a:rPr lang="en-US" sz="2400" dirty="0" smtClean="0"/>
              <a:t>.</a:t>
            </a:r>
          </a:p>
          <a:p>
            <a:pPr algn="just"/>
            <a:r>
              <a:rPr lang="en-US" sz="2400" dirty="0" smtClean="0"/>
              <a:t>Combined </a:t>
            </a:r>
            <a:r>
              <a:rPr lang="en-US" sz="2400" dirty="0"/>
              <a:t>with optimization techniques like gradient descent, backpropagation enables the model to reduce loss across epochs and effectively learn complex patterns from data</a:t>
            </a:r>
            <a:r>
              <a:rPr lang="en-US" sz="2400" dirty="0" smtClean="0"/>
              <a:t>.</a:t>
            </a:r>
          </a:p>
          <a:p>
            <a:pPr algn="just"/>
            <a:endParaRPr lang="en-US" sz="2400" b="1" dirty="0"/>
          </a:p>
        </p:txBody>
      </p:sp>
      <p:pic>
        <p:nvPicPr>
          <p:cNvPr id="5" name="Picture 4"/>
          <p:cNvPicPr>
            <a:picLocks noChangeAspect="1"/>
          </p:cNvPicPr>
          <p:nvPr/>
        </p:nvPicPr>
        <p:blipFill>
          <a:blip r:embed="rId2"/>
          <a:stretch>
            <a:fillRect/>
          </a:stretch>
        </p:blipFill>
        <p:spPr>
          <a:xfrm>
            <a:off x="982639" y="2866030"/>
            <a:ext cx="10003809" cy="3683758"/>
          </a:xfrm>
          <a:prstGeom prst="rect">
            <a:avLst/>
          </a:prstGeom>
        </p:spPr>
      </p:pic>
    </p:spTree>
    <p:extLst>
      <p:ext uri="{BB962C8B-B14F-4D97-AF65-F5344CB8AC3E}">
        <p14:creationId xmlns:p14="http://schemas.microsoft.com/office/powerpoint/2010/main" val="10735622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2955" y="300251"/>
            <a:ext cx="11805314" cy="6400800"/>
          </a:xfrm>
        </p:spPr>
        <p:txBody>
          <a:bodyPr>
            <a:noAutofit/>
          </a:bodyPr>
          <a:lstStyle/>
          <a:p>
            <a:pPr algn="just">
              <a:lnSpc>
                <a:spcPct val="150000"/>
              </a:lnSpc>
            </a:pPr>
            <a:r>
              <a:rPr lang="en-US" sz="2000" dirty="0"/>
              <a:t>The Back Propagation algorithm involves two main steps: the Forward Pass and the Backward </a:t>
            </a:r>
            <a:r>
              <a:rPr lang="en-US" sz="2000" dirty="0" smtClean="0"/>
              <a:t>Pass.</a:t>
            </a:r>
          </a:p>
          <a:p>
            <a:pPr marL="514350" indent="-514350" algn="just">
              <a:lnSpc>
                <a:spcPct val="150000"/>
              </a:lnSpc>
              <a:buAutoNum type="arabicPeriod"/>
            </a:pPr>
            <a:r>
              <a:rPr lang="en-US" sz="2000" b="1" dirty="0" smtClean="0"/>
              <a:t>Forward Propagation</a:t>
            </a:r>
          </a:p>
          <a:p>
            <a:pPr lvl="1" algn="just">
              <a:lnSpc>
                <a:spcPct val="150000"/>
              </a:lnSpc>
            </a:pPr>
            <a:r>
              <a:rPr lang="en-US" sz="2000" dirty="0" smtClean="0"/>
              <a:t>Inputs </a:t>
            </a:r>
            <a:r>
              <a:rPr lang="en-US" sz="2000" dirty="0"/>
              <a:t>pass through the layers</a:t>
            </a:r>
            <a:r>
              <a:rPr lang="en-US" sz="2000" dirty="0" smtClean="0"/>
              <a:t>.</a:t>
            </a:r>
          </a:p>
          <a:p>
            <a:pPr lvl="1" algn="just">
              <a:lnSpc>
                <a:spcPct val="150000"/>
              </a:lnSpc>
            </a:pPr>
            <a:r>
              <a:rPr lang="en-US" sz="2000" dirty="0" smtClean="0"/>
              <a:t>Each </a:t>
            </a:r>
            <a:r>
              <a:rPr lang="en-US" sz="2000" dirty="0"/>
              <a:t>neuron applies weights, bias, and activation function</a:t>
            </a:r>
            <a:r>
              <a:rPr lang="en-US" sz="2000" dirty="0" smtClean="0"/>
              <a:t>.</a:t>
            </a:r>
          </a:p>
          <a:p>
            <a:pPr lvl="1" algn="just">
              <a:lnSpc>
                <a:spcPct val="150000"/>
              </a:lnSpc>
            </a:pPr>
            <a:r>
              <a:rPr lang="en-US" sz="2000" dirty="0" smtClean="0"/>
              <a:t>Output </a:t>
            </a:r>
            <a:r>
              <a:rPr lang="en-US" sz="2000" dirty="0"/>
              <a:t>is generated</a:t>
            </a:r>
            <a:r>
              <a:rPr lang="en-US" sz="2000" dirty="0" smtClean="0"/>
              <a:t>.</a:t>
            </a:r>
          </a:p>
          <a:p>
            <a:pPr marL="514350" indent="-514350" algn="just">
              <a:lnSpc>
                <a:spcPct val="150000"/>
              </a:lnSpc>
              <a:buAutoNum type="arabicPeriod"/>
            </a:pPr>
            <a:r>
              <a:rPr lang="en-US" sz="2000" b="1" dirty="0" smtClean="0"/>
              <a:t>Backward Propagation</a:t>
            </a:r>
          </a:p>
          <a:p>
            <a:pPr lvl="1" algn="just">
              <a:lnSpc>
                <a:spcPct val="150000"/>
              </a:lnSpc>
            </a:pPr>
            <a:r>
              <a:rPr lang="en-US" sz="2000" dirty="0" smtClean="0"/>
              <a:t>The </a:t>
            </a:r>
            <a:r>
              <a:rPr lang="en-US" sz="2000" dirty="0"/>
              <a:t>loss (error) between predicted and actual output is computed</a:t>
            </a:r>
            <a:r>
              <a:rPr lang="en-US" sz="2000" dirty="0" smtClean="0"/>
              <a:t>.</a:t>
            </a:r>
          </a:p>
          <a:p>
            <a:pPr lvl="1" algn="just">
              <a:lnSpc>
                <a:spcPct val="150000"/>
              </a:lnSpc>
            </a:pPr>
            <a:r>
              <a:rPr lang="en-US" sz="2000" dirty="0" smtClean="0"/>
              <a:t>Using </a:t>
            </a:r>
            <a:r>
              <a:rPr lang="en-US" sz="2000" dirty="0"/>
              <a:t>calculus (chain rule), this error is propagated backward through the network</a:t>
            </a:r>
            <a:r>
              <a:rPr lang="en-US" sz="2000" dirty="0" smtClean="0"/>
              <a:t>.</a:t>
            </a:r>
          </a:p>
          <a:p>
            <a:pPr lvl="1" algn="just">
              <a:lnSpc>
                <a:spcPct val="150000"/>
              </a:lnSpc>
            </a:pPr>
            <a:r>
              <a:rPr lang="en-US" sz="2000" dirty="0" smtClean="0"/>
              <a:t>Gradients </a:t>
            </a:r>
            <a:r>
              <a:rPr lang="en-US" sz="2000" dirty="0"/>
              <a:t>(partial derivatives) of the loss with respect to each weight are calculated</a:t>
            </a:r>
            <a:r>
              <a:rPr lang="en-US" sz="2000" dirty="0" smtClean="0"/>
              <a:t>.</a:t>
            </a:r>
          </a:p>
          <a:p>
            <a:pPr lvl="1" algn="just">
              <a:lnSpc>
                <a:spcPct val="150000"/>
              </a:lnSpc>
            </a:pPr>
            <a:r>
              <a:rPr lang="en-US" sz="2000" dirty="0" smtClean="0"/>
              <a:t>Weights </a:t>
            </a:r>
            <a:r>
              <a:rPr lang="en-US" sz="2000" dirty="0"/>
              <a:t>are updated to minimize the loss.</a:t>
            </a:r>
          </a:p>
        </p:txBody>
      </p:sp>
    </p:spTree>
    <p:extLst>
      <p:ext uri="{BB962C8B-B14F-4D97-AF65-F5344CB8AC3E}">
        <p14:creationId xmlns:p14="http://schemas.microsoft.com/office/powerpoint/2010/main" val="22980351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699" y="146760"/>
            <a:ext cx="10515600" cy="753991"/>
          </a:xfrm>
        </p:spPr>
        <p:txBody>
          <a:bodyPr/>
          <a:lstStyle/>
          <a:p>
            <a:r>
              <a:rPr lang="en-US" b="1" dirty="0" smtClean="0"/>
              <a:t>Optimization Methods in DL</a:t>
            </a:r>
            <a:endParaRPr lang="en-US" b="1" dirty="0"/>
          </a:p>
        </p:txBody>
      </p:sp>
      <p:sp>
        <p:nvSpPr>
          <p:cNvPr id="3" name="Content Placeholder 2"/>
          <p:cNvSpPr>
            <a:spLocks noGrp="1"/>
          </p:cNvSpPr>
          <p:nvPr>
            <p:ph idx="1"/>
          </p:nvPr>
        </p:nvSpPr>
        <p:spPr>
          <a:xfrm>
            <a:off x="578892" y="900751"/>
            <a:ext cx="11294659" cy="5609231"/>
          </a:xfrm>
        </p:spPr>
        <p:txBody>
          <a:bodyPr>
            <a:normAutofit/>
          </a:bodyPr>
          <a:lstStyle/>
          <a:p>
            <a:pPr marL="0" indent="0" algn="just">
              <a:lnSpc>
                <a:spcPct val="150000"/>
              </a:lnSpc>
              <a:buNone/>
            </a:pPr>
            <a:r>
              <a:rPr lang="en-US" dirty="0"/>
              <a:t>Optimization is the process of adjusting the model parameters (weights and biases) to minimize the error between predicted and actual outputs</a:t>
            </a:r>
            <a:r>
              <a:rPr lang="en-US" dirty="0" smtClean="0"/>
              <a:t>.</a:t>
            </a:r>
          </a:p>
          <a:p>
            <a:pPr algn="just">
              <a:lnSpc>
                <a:spcPct val="150000"/>
              </a:lnSpc>
            </a:pPr>
            <a:r>
              <a:rPr lang="en-US" dirty="0"/>
              <a:t>Gradient </a:t>
            </a:r>
            <a:r>
              <a:rPr lang="en-US" dirty="0" smtClean="0"/>
              <a:t>Descent</a:t>
            </a:r>
          </a:p>
          <a:p>
            <a:pPr lvl="1" algn="just">
              <a:lnSpc>
                <a:spcPct val="150000"/>
              </a:lnSpc>
            </a:pPr>
            <a:r>
              <a:rPr lang="en-US" dirty="0"/>
              <a:t>Batch Gradient </a:t>
            </a:r>
            <a:r>
              <a:rPr lang="en-US" dirty="0" smtClean="0"/>
              <a:t>Descent</a:t>
            </a:r>
          </a:p>
          <a:p>
            <a:pPr lvl="1" algn="just">
              <a:lnSpc>
                <a:spcPct val="150000"/>
              </a:lnSpc>
            </a:pPr>
            <a:r>
              <a:rPr lang="en-US" dirty="0"/>
              <a:t>Stochastic Gradient Descent (SGD</a:t>
            </a:r>
            <a:r>
              <a:rPr lang="en-US" dirty="0" smtClean="0"/>
              <a:t>)</a:t>
            </a:r>
          </a:p>
          <a:p>
            <a:pPr lvl="1" algn="just">
              <a:lnSpc>
                <a:spcPct val="150000"/>
              </a:lnSpc>
            </a:pPr>
            <a:r>
              <a:rPr lang="en-US" dirty="0"/>
              <a:t>Mini-Batch Gradient </a:t>
            </a:r>
            <a:r>
              <a:rPr lang="en-US" dirty="0" smtClean="0"/>
              <a:t>Descent</a:t>
            </a:r>
          </a:p>
          <a:p>
            <a:pPr algn="just">
              <a:lnSpc>
                <a:spcPct val="150000"/>
              </a:lnSpc>
            </a:pPr>
            <a:r>
              <a:rPr lang="en-US" dirty="0" err="1"/>
              <a:t>Adagrad</a:t>
            </a:r>
            <a:r>
              <a:rPr lang="en-US" dirty="0"/>
              <a:t> (Adaptive Gradient</a:t>
            </a:r>
            <a:r>
              <a:rPr lang="en-US" dirty="0" smtClean="0"/>
              <a:t>)</a:t>
            </a:r>
          </a:p>
          <a:p>
            <a:pPr algn="just">
              <a:lnSpc>
                <a:spcPct val="150000"/>
              </a:lnSpc>
            </a:pPr>
            <a:r>
              <a:rPr lang="en-US" dirty="0" err="1"/>
              <a:t>RMSprop</a:t>
            </a:r>
            <a:r>
              <a:rPr lang="en-US" dirty="0"/>
              <a:t> (Root Mean Square Propagation</a:t>
            </a:r>
            <a:r>
              <a:rPr lang="en-US" dirty="0" smtClean="0"/>
              <a:t>)</a:t>
            </a:r>
          </a:p>
        </p:txBody>
      </p:sp>
    </p:spTree>
    <p:extLst>
      <p:ext uri="{BB962C8B-B14F-4D97-AF65-F5344CB8AC3E}">
        <p14:creationId xmlns:p14="http://schemas.microsoft.com/office/powerpoint/2010/main" val="26017899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081" y="245660"/>
            <a:ext cx="11614244" cy="6400800"/>
          </a:xfrm>
        </p:spPr>
        <p:txBody>
          <a:bodyPr>
            <a:normAutofit/>
          </a:bodyPr>
          <a:lstStyle/>
          <a:p>
            <a:pPr marL="0" indent="0" algn="just">
              <a:lnSpc>
                <a:spcPct val="150000"/>
              </a:lnSpc>
              <a:buNone/>
            </a:pPr>
            <a:r>
              <a:rPr lang="en-US" b="1" dirty="0"/>
              <a:t>Gradient Descent </a:t>
            </a:r>
            <a:r>
              <a:rPr lang="en-US" dirty="0"/>
              <a:t>: </a:t>
            </a:r>
            <a:r>
              <a:rPr lang="en-US" dirty="0" smtClean="0"/>
              <a:t>GD is </a:t>
            </a:r>
            <a:r>
              <a:rPr lang="en-US" dirty="0"/>
              <a:t>an optimization algorithm used to minimize the loss function by updating the model’s weights and biases</a:t>
            </a:r>
            <a:r>
              <a:rPr lang="en-US" dirty="0" smtClean="0"/>
              <a:t>.</a:t>
            </a:r>
          </a:p>
          <a:p>
            <a:pPr algn="just" fontAlgn="base">
              <a:lnSpc>
                <a:spcPct val="150000"/>
              </a:lnSpc>
            </a:pPr>
            <a:r>
              <a:rPr lang="en-US" b="1" dirty="0"/>
              <a:t>Key Steps in Gradient Descent</a:t>
            </a:r>
          </a:p>
          <a:p>
            <a:pPr lvl="1" algn="just" fontAlgn="base">
              <a:lnSpc>
                <a:spcPct val="150000"/>
              </a:lnSpc>
            </a:pPr>
            <a:r>
              <a:rPr lang="en-US" dirty="0"/>
              <a:t>Initialize parameters: Randomly initialize the model parameters.</a:t>
            </a:r>
          </a:p>
          <a:p>
            <a:pPr lvl="1" algn="just" fontAlgn="base">
              <a:lnSpc>
                <a:spcPct val="150000"/>
              </a:lnSpc>
            </a:pPr>
            <a:r>
              <a:rPr lang="en-US" dirty="0"/>
              <a:t>Compute the gradient: Calculate the gradient (derivative) of the loss function with respect to the parameters.</a:t>
            </a:r>
          </a:p>
          <a:p>
            <a:pPr lvl="1" algn="just" fontAlgn="base">
              <a:lnSpc>
                <a:spcPct val="150000"/>
              </a:lnSpc>
            </a:pPr>
            <a:r>
              <a:rPr lang="en-US" dirty="0"/>
              <a:t>Update parameters: Adjust the parameters by moving in the opposite direction of the gradient, scaled by the learning rate.</a:t>
            </a:r>
          </a:p>
          <a:p>
            <a:pPr marL="0" indent="0" algn="just">
              <a:lnSpc>
                <a:spcPct val="150000"/>
              </a:lnSpc>
              <a:buNone/>
            </a:pPr>
            <a:endParaRPr lang="en-US" sz="2400" dirty="0"/>
          </a:p>
        </p:txBody>
      </p:sp>
    </p:spTree>
    <p:extLst>
      <p:ext uri="{BB962C8B-B14F-4D97-AF65-F5344CB8AC3E}">
        <p14:creationId xmlns:p14="http://schemas.microsoft.com/office/powerpoint/2010/main" val="27615066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7203" t="40308" r="25735" b="12653"/>
          <a:stretch/>
        </p:blipFill>
        <p:spPr>
          <a:xfrm>
            <a:off x="668740" y="614150"/>
            <a:ext cx="10931857" cy="5377217"/>
          </a:xfrm>
          <a:prstGeom prst="rect">
            <a:avLst/>
          </a:prstGeom>
        </p:spPr>
      </p:pic>
    </p:spTree>
    <p:extLst>
      <p:ext uri="{BB962C8B-B14F-4D97-AF65-F5344CB8AC3E}">
        <p14:creationId xmlns:p14="http://schemas.microsoft.com/office/powerpoint/2010/main" val="35607112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677006928"/>
              </p:ext>
            </p:extLst>
          </p:nvPr>
        </p:nvGraphicFramePr>
        <p:xfrm>
          <a:off x="150124" y="204717"/>
          <a:ext cx="11887200" cy="6482687"/>
        </p:xfrm>
        <a:graphic>
          <a:graphicData uri="http://schemas.openxmlformats.org/drawingml/2006/table">
            <a:tbl>
              <a:tblPr/>
              <a:tblGrid>
                <a:gridCol w="2019870"/>
                <a:gridCol w="3261815"/>
                <a:gridCol w="3633715"/>
                <a:gridCol w="2971800"/>
              </a:tblGrid>
              <a:tr h="491434">
                <a:tc>
                  <a:txBody>
                    <a:bodyPr/>
                    <a:lstStyle/>
                    <a:p>
                      <a:pPr algn="ctr"/>
                      <a:r>
                        <a:rPr lang="en-US" sz="2000" b="1" dirty="0"/>
                        <a:t>Type</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2000" b="1" dirty="0"/>
                        <a:t>Description</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2000" b="1" dirty="0"/>
                        <a:t>Characteristics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2000" b="1" dirty="0"/>
                        <a:t>Use Case</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r>
              <a:tr h="1819518">
                <a:tc>
                  <a:txBody>
                    <a:bodyPr/>
                    <a:lstStyle/>
                    <a:p>
                      <a:pPr algn="just"/>
                      <a:r>
                        <a:rPr lang="en-US" sz="2000" b="1" dirty="0"/>
                        <a:t>1. Batch Gradient Descent</a:t>
                      </a:r>
                      <a:endParaRPr lang="en-US" sz="2000" dirty="0"/>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2000" dirty="0"/>
                        <a:t>Uses </a:t>
                      </a:r>
                      <a:r>
                        <a:rPr lang="en-US" sz="2000" b="1" dirty="0"/>
                        <a:t>all training samples</a:t>
                      </a:r>
                      <a:r>
                        <a:rPr lang="en-US" sz="2000" dirty="0"/>
                        <a:t> to compute the gradient before updating weights.</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just">
                        <a:buFontTx/>
                        <a:buChar char="-"/>
                      </a:pPr>
                      <a:r>
                        <a:rPr lang="en-US" sz="2000" dirty="0" smtClean="0"/>
                        <a:t>Stable </a:t>
                      </a:r>
                      <a:r>
                        <a:rPr lang="en-US" sz="2000" dirty="0"/>
                        <a:t>and accurate updates</a:t>
                      </a:r>
                      <a:r>
                        <a:rPr lang="en-US" sz="2000" dirty="0" smtClean="0"/>
                        <a:t>.</a:t>
                      </a:r>
                    </a:p>
                    <a:p>
                      <a:pPr marL="342900" indent="-342900" algn="just">
                        <a:buFontTx/>
                        <a:buChar char="-"/>
                      </a:pPr>
                      <a:r>
                        <a:rPr lang="en-US" sz="2000" dirty="0" smtClean="0"/>
                        <a:t>Requires </a:t>
                      </a:r>
                      <a:r>
                        <a:rPr lang="en-US" sz="2000" dirty="0"/>
                        <a:t>entire dataset in memory</a:t>
                      </a:r>
                      <a:r>
                        <a:rPr lang="en-US" sz="2000" dirty="0" smtClean="0"/>
                        <a:t>.</a:t>
                      </a:r>
                    </a:p>
                    <a:p>
                      <a:pPr marL="342900" indent="-342900" algn="just">
                        <a:buFontTx/>
                        <a:buChar char="-"/>
                      </a:pPr>
                      <a:r>
                        <a:rPr lang="en-US" sz="2000" dirty="0" smtClean="0"/>
                        <a:t>Computationally </a:t>
                      </a:r>
                      <a:r>
                        <a:rPr lang="en-US" sz="2000" dirty="0"/>
                        <a:t>expensive for large data.</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2000" dirty="0"/>
                        <a:t>Suitable for </a:t>
                      </a:r>
                      <a:r>
                        <a:rPr lang="en-US" sz="2000" b="1" dirty="0"/>
                        <a:t>small datasets</a:t>
                      </a:r>
                      <a:r>
                        <a:rPr lang="en-US" sz="2000" dirty="0"/>
                        <a:t> and </a:t>
                      </a:r>
                      <a:r>
                        <a:rPr lang="en-US" sz="2000" b="1" dirty="0"/>
                        <a:t>offline training</a:t>
                      </a:r>
                      <a:r>
                        <a:rPr lang="en-US" sz="2000" dirty="0"/>
                        <a: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196122">
                <a:tc>
                  <a:txBody>
                    <a:bodyPr/>
                    <a:lstStyle/>
                    <a:p>
                      <a:pPr algn="just"/>
                      <a:r>
                        <a:rPr lang="fr-FR" sz="2000" b="1" dirty="0"/>
                        <a:t>2. </a:t>
                      </a:r>
                      <a:r>
                        <a:rPr lang="fr-FR" sz="2000" b="1" dirty="0" err="1"/>
                        <a:t>Stochastic</a:t>
                      </a:r>
                      <a:r>
                        <a:rPr lang="fr-FR" sz="2000" b="1" dirty="0"/>
                        <a:t> Gradient </a:t>
                      </a:r>
                      <a:r>
                        <a:rPr lang="fr-FR" sz="2000" b="1" dirty="0" err="1"/>
                        <a:t>Descent</a:t>
                      </a:r>
                      <a:r>
                        <a:rPr lang="fr-FR" sz="2000" b="1" dirty="0"/>
                        <a:t> (SGD)</a:t>
                      </a:r>
                      <a:endParaRPr lang="fr-FR" sz="2000" dirty="0"/>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2000" dirty="0"/>
                        <a:t>Updates weights </a:t>
                      </a:r>
                      <a:r>
                        <a:rPr lang="en-US" sz="2000" b="1" dirty="0"/>
                        <a:t>after each training example</a:t>
                      </a:r>
                      <a:r>
                        <a:rPr lang="en-US" sz="2000" dirty="0"/>
                        <a: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just">
                        <a:buFontTx/>
                        <a:buChar char="-"/>
                      </a:pPr>
                      <a:r>
                        <a:rPr lang="en-US" sz="2000" dirty="0" smtClean="0"/>
                        <a:t>Very </a:t>
                      </a:r>
                      <a:r>
                        <a:rPr lang="en-US" sz="2000" dirty="0"/>
                        <a:t>fast updates</a:t>
                      </a:r>
                      <a:r>
                        <a:rPr lang="en-US" sz="2000" dirty="0" smtClean="0"/>
                        <a:t>.</a:t>
                      </a:r>
                    </a:p>
                    <a:p>
                      <a:pPr marL="342900" indent="-342900" algn="just">
                        <a:buFontTx/>
                        <a:buChar char="-"/>
                      </a:pPr>
                      <a:r>
                        <a:rPr lang="en-US" sz="2000" dirty="0" smtClean="0"/>
                        <a:t>Highly </a:t>
                      </a:r>
                      <a:r>
                        <a:rPr lang="en-US" sz="2000" dirty="0"/>
                        <a:t>noisy gradient estimates</a:t>
                      </a:r>
                      <a:r>
                        <a:rPr lang="en-US" sz="2000" dirty="0" smtClean="0"/>
                        <a:t>.</a:t>
                      </a:r>
                    </a:p>
                    <a:p>
                      <a:pPr marL="342900" indent="-342900" algn="just">
                        <a:buFontTx/>
                        <a:buChar char="-"/>
                      </a:pPr>
                      <a:r>
                        <a:rPr lang="en-US" sz="2000" dirty="0" smtClean="0"/>
                        <a:t>May </a:t>
                      </a:r>
                      <a:r>
                        <a:rPr lang="en-US" sz="2000" dirty="0"/>
                        <a:t>oscillate around the minimum instead of converging smoothly.</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2000" dirty="0"/>
                        <a:t>Suitable for </a:t>
                      </a:r>
                      <a:r>
                        <a:rPr lang="en-US" sz="2000" b="1" dirty="0"/>
                        <a:t>large datasets</a:t>
                      </a:r>
                      <a:r>
                        <a:rPr lang="en-US" sz="2000" dirty="0"/>
                        <a:t> and </a:t>
                      </a:r>
                      <a:r>
                        <a:rPr lang="en-US" sz="2000" b="1" dirty="0"/>
                        <a:t>online learning</a:t>
                      </a:r>
                      <a:r>
                        <a:rPr lang="en-US" sz="2000" dirty="0"/>
                        <a: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975613">
                <a:tc>
                  <a:txBody>
                    <a:bodyPr/>
                    <a:lstStyle/>
                    <a:p>
                      <a:pPr algn="just"/>
                      <a:r>
                        <a:rPr lang="en-US" sz="2000" b="1"/>
                        <a:t>3. Mini-Batch Gradient Descent</a:t>
                      </a:r>
                      <a:endParaRPr lang="en-US" sz="2000"/>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2000"/>
                        <a:t>Splits data into </a:t>
                      </a:r>
                      <a:r>
                        <a:rPr lang="en-US" sz="2000" b="1"/>
                        <a:t>small batches (e.g., 32, 64, 128 samples)</a:t>
                      </a:r>
                      <a:r>
                        <a:rPr lang="en-US" sz="2000"/>
                        <a:t> and updates weights after each batch.</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just">
                        <a:buFontTx/>
                        <a:buChar char="-"/>
                      </a:pPr>
                      <a:r>
                        <a:rPr lang="en-US" sz="2000" dirty="0" smtClean="0"/>
                        <a:t>Balances </a:t>
                      </a:r>
                      <a:r>
                        <a:rPr lang="en-US" sz="2000" dirty="0"/>
                        <a:t>speed and stability.- Most commonly used in Deep Learning</a:t>
                      </a:r>
                      <a:r>
                        <a:rPr lang="en-US" sz="2000" dirty="0" smtClean="0"/>
                        <a:t>.</a:t>
                      </a:r>
                    </a:p>
                    <a:p>
                      <a:pPr marL="342900" indent="-342900" algn="just">
                        <a:buFontTx/>
                        <a:buChar char="-"/>
                      </a:pPr>
                      <a:r>
                        <a:rPr lang="en-US" sz="2000" dirty="0" smtClean="0"/>
                        <a:t>Works </a:t>
                      </a:r>
                      <a:r>
                        <a:rPr lang="en-US" sz="2000" dirty="0"/>
                        <a:t>well with GPU computation.</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2000" dirty="0"/>
                        <a:t>Ideal for </a:t>
                      </a:r>
                      <a:r>
                        <a:rPr lang="en-US" sz="2000" b="1" dirty="0"/>
                        <a:t>deep learning models</a:t>
                      </a:r>
                      <a:r>
                        <a:rPr lang="en-US" sz="2000" dirty="0"/>
                        <a:t>.</a:t>
                      </a:r>
                    </a:p>
                  </a:txBody>
                  <a:tcPr marL="79115" marR="79115" marT="39558" marB="395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422694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7546" y="423081"/>
            <a:ext cx="11026254" cy="5753882"/>
          </a:xfrm>
        </p:spPr>
        <p:txBody>
          <a:bodyPr>
            <a:normAutofit lnSpcReduction="10000"/>
          </a:bodyPr>
          <a:lstStyle/>
          <a:p>
            <a:r>
              <a:rPr lang="en-US" dirty="0" err="1"/>
              <a:t>Adagrad</a:t>
            </a:r>
            <a:r>
              <a:rPr lang="en-US" dirty="0"/>
              <a:t> (Adaptive Gradient</a:t>
            </a:r>
            <a:r>
              <a:rPr lang="en-US" dirty="0" smtClean="0"/>
              <a:t>) :</a:t>
            </a:r>
          </a:p>
          <a:p>
            <a:pPr lvl="1"/>
            <a:r>
              <a:rPr lang="en-US" dirty="0"/>
              <a:t>A</a:t>
            </a:r>
            <a:r>
              <a:rPr lang="en-US" dirty="0" smtClean="0"/>
              <a:t>dapts </a:t>
            </a:r>
            <a:r>
              <a:rPr lang="en-US" dirty="0"/>
              <a:t>the learning rate for each parameter based on the historical gradient information. </a:t>
            </a:r>
            <a:endParaRPr lang="en-US" dirty="0" smtClean="0"/>
          </a:p>
          <a:p>
            <a:pPr lvl="1"/>
            <a:r>
              <a:rPr lang="en-US" dirty="0" smtClean="0"/>
              <a:t>The </a:t>
            </a:r>
            <a:r>
              <a:rPr lang="en-US" dirty="0"/>
              <a:t>learning rate decreases over time, making </a:t>
            </a:r>
            <a:r>
              <a:rPr lang="en-US" dirty="0" err="1"/>
              <a:t>AdaGrad</a:t>
            </a:r>
            <a:r>
              <a:rPr lang="en-US" dirty="0"/>
              <a:t> effective for sparse features</a:t>
            </a:r>
            <a:r>
              <a:rPr lang="en-US" dirty="0" smtClean="0"/>
              <a:t>.</a:t>
            </a:r>
          </a:p>
          <a:p>
            <a:pPr lvl="1" fontAlgn="base"/>
            <a:r>
              <a:rPr lang="en-US" dirty="0"/>
              <a:t>Advantages: Adapts the learning rate, improving training efficiency.</a:t>
            </a:r>
          </a:p>
          <a:p>
            <a:pPr lvl="1" fontAlgn="base"/>
            <a:r>
              <a:rPr lang="en-US" dirty="0"/>
              <a:t>Disadvantages: Learning rate decays too quickly, causing slow convergence.</a:t>
            </a:r>
          </a:p>
          <a:p>
            <a:pPr lvl="1"/>
            <a:endParaRPr lang="en-US" dirty="0" smtClean="0"/>
          </a:p>
          <a:p>
            <a:pPr algn="just">
              <a:lnSpc>
                <a:spcPct val="150000"/>
              </a:lnSpc>
            </a:pPr>
            <a:r>
              <a:rPr lang="en-US" dirty="0" err="1"/>
              <a:t>RMSprop</a:t>
            </a:r>
            <a:r>
              <a:rPr lang="en-US" dirty="0"/>
              <a:t> (Root Mean Square Propagation</a:t>
            </a:r>
            <a:r>
              <a:rPr lang="en-US" dirty="0" smtClean="0"/>
              <a:t>)</a:t>
            </a:r>
          </a:p>
          <a:p>
            <a:pPr lvl="1" algn="just">
              <a:lnSpc>
                <a:spcPct val="150000"/>
              </a:lnSpc>
            </a:pPr>
            <a:r>
              <a:rPr lang="en-US" dirty="0"/>
              <a:t>I</a:t>
            </a:r>
            <a:r>
              <a:rPr lang="en-US" dirty="0" smtClean="0"/>
              <a:t>mproves </a:t>
            </a:r>
            <a:r>
              <a:rPr lang="en-US" dirty="0"/>
              <a:t>upon </a:t>
            </a:r>
            <a:r>
              <a:rPr lang="en-US" dirty="0" err="1"/>
              <a:t>AdaGrad</a:t>
            </a:r>
            <a:r>
              <a:rPr lang="en-US" dirty="0"/>
              <a:t> by introducing a decay factor to prevent the learning rate from decreasing too rapidly</a:t>
            </a:r>
            <a:r>
              <a:rPr lang="en-US" dirty="0" smtClean="0"/>
              <a:t>.</a:t>
            </a:r>
          </a:p>
          <a:p>
            <a:pPr lvl="1" fontAlgn="base"/>
            <a:r>
              <a:rPr lang="en-US" dirty="0"/>
              <a:t>Advantages: Prevents excessive decay of learning rates.</a:t>
            </a:r>
          </a:p>
          <a:p>
            <a:pPr lvl="1" fontAlgn="base"/>
            <a:r>
              <a:rPr lang="en-US" dirty="0"/>
              <a:t>Disadvantages: Computationally expensive due to the additional parameter</a:t>
            </a:r>
          </a:p>
          <a:p>
            <a:pPr lvl="1" algn="just">
              <a:lnSpc>
                <a:spcPct val="150000"/>
              </a:lnSpc>
            </a:pPr>
            <a:endParaRPr lang="en-US" dirty="0"/>
          </a:p>
          <a:p>
            <a:endParaRPr lang="en-US" dirty="0"/>
          </a:p>
          <a:p>
            <a:endParaRPr lang="en-US" dirty="0"/>
          </a:p>
        </p:txBody>
      </p:sp>
    </p:spTree>
    <p:extLst>
      <p:ext uri="{BB962C8B-B14F-4D97-AF65-F5344CB8AC3E}">
        <p14:creationId xmlns:p14="http://schemas.microsoft.com/office/powerpoint/2010/main" val="19376077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994" y="242296"/>
            <a:ext cx="10515600" cy="822230"/>
          </a:xfrm>
        </p:spPr>
        <p:txBody>
          <a:bodyPr/>
          <a:lstStyle/>
          <a:p>
            <a:r>
              <a:rPr lang="en-US" b="1" dirty="0" smtClean="0"/>
              <a:t>Regularization methods in DL </a:t>
            </a:r>
            <a:endParaRPr lang="en-US" b="1" dirty="0"/>
          </a:p>
        </p:txBody>
      </p:sp>
      <p:sp>
        <p:nvSpPr>
          <p:cNvPr id="3" name="Content Placeholder 2"/>
          <p:cNvSpPr>
            <a:spLocks noGrp="1"/>
          </p:cNvSpPr>
          <p:nvPr>
            <p:ph idx="1"/>
          </p:nvPr>
        </p:nvSpPr>
        <p:spPr>
          <a:xfrm>
            <a:off x="264993" y="1064526"/>
            <a:ext cx="11772331" cy="2333767"/>
          </a:xfrm>
        </p:spPr>
        <p:txBody>
          <a:bodyPr>
            <a:noAutofit/>
          </a:bodyPr>
          <a:lstStyle/>
          <a:p>
            <a:pPr algn="just">
              <a:lnSpc>
                <a:spcPct val="150000"/>
              </a:lnSpc>
            </a:pPr>
            <a:r>
              <a:rPr lang="en-US" sz="2400" dirty="0"/>
              <a:t>Regularization is a </a:t>
            </a:r>
            <a:r>
              <a:rPr lang="en-US" sz="2400" dirty="0" smtClean="0"/>
              <a:t>technique </a:t>
            </a:r>
            <a:r>
              <a:rPr lang="en-US" sz="2400" dirty="0"/>
              <a:t>that prevents </a:t>
            </a:r>
            <a:r>
              <a:rPr lang="en-US" sz="2400" dirty="0" err="1"/>
              <a:t>overfitting</a:t>
            </a:r>
            <a:r>
              <a:rPr lang="en-US" sz="2400" dirty="0"/>
              <a:t> by constraining a model's complexity, making it perform better on new, unseen data. </a:t>
            </a:r>
            <a:endParaRPr lang="en-US" sz="2400" dirty="0" smtClean="0"/>
          </a:p>
          <a:p>
            <a:pPr algn="just">
              <a:lnSpc>
                <a:spcPct val="150000"/>
              </a:lnSpc>
            </a:pPr>
            <a:r>
              <a:rPr lang="en-US" sz="2400" dirty="0" smtClean="0"/>
              <a:t>It </a:t>
            </a:r>
            <a:r>
              <a:rPr lang="en-US" sz="2400" dirty="0"/>
              <a:t>adds a penalty to the model's loss function to discourage it from learning noise and irrelevant patterns by shrinking the model's coefficients towards zero. </a:t>
            </a:r>
            <a:endParaRPr lang="en-US" sz="2400" dirty="0" smtClean="0"/>
          </a:p>
          <a:p>
            <a:pPr algn="just">
              <a:lnSpc>
                <a:spcPct val="150000"/>
              </a:lnSpc>
            </a:pPr>
            <a:endParaRPr lang="en-US" sz="2400" dirty="0"/>
          </a:p>
        </p:txBody>
      </p:sp>
      <p:pic>
        <p:nvPicPr>
          <p:cNvPr id="1028" name="Picture 4" descr="https://i.ibb.co/g35FMM5/ov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37" y="3630305"/>
            <a:ext cx="11327642" cy="2961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6945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251" y="300250"/>
            <a:ext cx="11614245" cy="6346209"/>
          </a:xfrm>
        </p:spPr>
        <p:txBody>
          <a:bodyPr>
            <a:normAutofit fontScale="92500" lnSpcReduction="10000"/>
          </a:bodyPr>
          <a:lstStyle/>
          <a:p>
            <a:pPr algn="just" fontAlgn="base">
              <a:lnSpc>
                <a:spcPct val="150000"/>
              </a:lnSpc>
            </a:pPr>
            <a:r>
              <a:rPr lang="en-US" dirty="0"/>
              <a:t>Prevents </a:t>
            </a:r>
            <a:r>
              <a:rPr lang="en-US" dirty="0" err="1"/>
              <a:t>overfitting</a:t>
            </a:r>
            <a:r>
              <a:rPr lang="en-US" dirty="0"/>
              <a:t>: Adds constraints to the model to reduce the risk of memorizing noise in the training data.</a:t>
            </a:r>
          </a:p>
          <a:p>
            <a:pPr algn="just" fontAlgn="base">
              <a:lnSpc>
                <a:spcPct val="150000"/>
              </a:lnSpc>
            </a:pPr>
            <a:r>
              <a:rPr lang="en-US" dirty="0"/>
              <a:t>Improves generalization: Encourages simpler models that perform better on new, unseen data.</a:t>
            </a:r>
          </a:p>
          <a:p>
            <a:pPr algn="just">
              <a:lnSpc>
                <a:spcPct val="150000"/>
              </a:lnSpc>
            </a:pPr>
            <a:r>
              <a:rPr lang="en-US" b="1" dirty="0"/>
              <a:t>Types of Regularization</a:t>
            </a:r>
          </a:p>
          <a:p>
            <a:pPr lvl="1" algn="just">
              <a:lnSpc>
                <a:spcPct val="150000"/>
              </a:lnSpc>
            </a:pPr>
            <a:r>
              <a:rPr lang="en-US" dirty="0"/>
              <a:t> L1 </a:t>
            </a:r>
            <a:r>
              <a:rPr lang="en-US" dirty="0" smtClean="0"/>
              <a:t>Regularization</a:t>
            </a:r>
          </a:p>
          <a:p>
            <a:pPr lvl="1" algn="just">
              <a:lnSpc>
                <a:spcPct val="150000"/>
              </a:lnSpc>
            </a:pPr>
            <a:r>
              <a:rPr lang="en-US" dirty="0"/>
              <a:t> </a:t>
            </a:r>
            <a:r>
              <a:rPr lang="en-US" dirty="0" smtClean="0"/>
              <a:t>L2 Regularization</a:t>
            </a:r>
          </a:p>
          <a:p>
            <a:pPr lvl="1" algn="just">
              <a:lnSpc>
                <a:spcPct val="150000"/>
              </a:lnSpc>
            </a:pPr>
            <a:r>
              <a:rPr lang="en-US" dirty="0" smtClean="0"/>
              <a:t>Dropout</a:t>
            </a:r>
          </a:p>
          <a:p>
            <a:pPr lvl="1" algn="just">
              <a:lnSpc>
                <a:spcPct val="150000"/>
              </a:lnSpc>
            </a:pPr>
            <a:r>
              <a:rPr lang="en-US" dirty="0"/>
              <a:t>Data </a:t>
            </a:r>
            <a:r>
              <a:rPr lang="en-US" dirty="0" smtClean="0"/>
              <a:t>Augmentation</a:t>
            </a:r>
          </a:p>
          <a:p>
            <a:pPr lvl="1" algn="just">
              <a:lnSpc>
                <a:spcPct val="150000"/>
              </a:lnSpc>
            </a:pPr>
            <a:r>
              <a:rPr lang="en-US" dirty="0"/>
              <a:t>Early </a:t>
            </a:r>
            <a:r>
              <a:rPr lang="en-US" dirty="0" smtClean="0"/>
              <a:t>Stopping</a:t>
            </a:r>
          </a:p>
          <a:p>
            <a:pPr lvl="1" algn="just">
              <a:lnSpc>
                <a:spcPct val="150000"/>
              </a:lnSpc>
            </a:pPr>
            <a:r>
              <a:rPr lang="en-US" dirty="0"/>
              <a:t>Noise Injection</a:t>
            </a:r>
          </a:p>
        </p:txBody>
      </p:sp>
    </p:spTree>
    <p:extLst>
      <p:ext uri="{BB962C8B-B14F-4D97-AF65-F5344CB8AC3E}">
        <p14:creationId xmlns:p14="http://schemas.microsoft.com/office/powerpoint/2010/main" val="11379644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4" y="245660"/>
            <a:ext cx="11805314" cy="3289110"/>
          </a:xfrm>
        </p:spPr>
        <p:txBody>
          <a:bodyPr>
            <a:normAutofit/>
          </a:bodyPr>
          <a:lstStyle/>
          <a:p>
            <a:pPr marL="0" indent="0" algn="just">
              <a:buNone/>
            </a:pPr>
            <a:r>
              <a:rPr lang="en-US" sz="2400" b="1" dirty="0"/>
              <a:t>L1 </a:t>
            </a:r>
            <a:r>
              <a:rPr lang="en-US" sz="2400" b="1" dirty="0" smtClean="0"/>
              <a:t>Regularization</a:t>
            </a:r>
          </a:p>
          <a:p>
            <a:pPr algn="just"/>
            <a:r>
              <a:rPr lang="en-US" sz="2400" dirty="0"/>
              <a:t>the </a:t>
            </a:r>
            <a:r>
              <a:rPr lang="en-US" sz="2400" b="1" dirty="0"/>
              <a:t>L1 Regularization </a:t>
            </a:r>
            <a:r>
              <a:rPr lang="en-US" sz="2400" dirty="0"/>
              <a:t>technique is called LASSO (Least Absolute Shrinkage and Selection Operator) regression. </a:t>
            </a:r>
            <a:endParaRPr lang="en-US" sz="2400" dirty="0" smtClean="0"/>
          </a:p>
          <a:p>
            <a:pPr algn="just"/>
            <a:r>
              <a:rPr lang="en-US" sz="2400" dirty="0" smtClean="0"/>
              <a:t>It </a:t>
            </a:r>
            <a:r>
              <a:rPr lang="en-US" sz="2400" dirty="0"/>
              <a:t>adds the </a:t>
            </a:r>
            <a:r>
              <a:rPr lang="en-US" sz="2400" b="1" dirty="0"/>
              <a:t>absolute value of magnitude</a:t>
            </a:r>
            <a:r>
              <a:rPr lang="en-US" sz="2400" dirty="0"/>
              <a:t> of the coefficient as a penalty term to the loss function(L). </a:t>
            </a:r>
            <a:endParaRPr lang="en-US" sz="2400" dirty="0" smtClean="0"/>
          </a:p>
          <a:p>
            <a:pPr algn="just"/>
            <a:r>
              <a:rPr lang="en-US" sz="2400" dirty="0" smtClean="0"/>
              <a:t>This </a:t>
            </a:r>
            <a:r>
              <a:rPr lang="en-US" sz="2400" dirty="0"/>
              <a:t>penalty can shrink some coefficients to zero which helps in selecting only the important features and ignoring the less important ones.</a:t>
            </a:r>
          </a:p>
        </p:txBody>
      </p:sp>
      <p:pic>
        <p:nvPicPr>
          <p:cNvPr id="4" name="Picture 3"/>
          <p:cNvPicPr>
            <a:picLocks noChangeAspect="1"/>
          </p:cNvPicPr>
          <p:nvPr/>
        </p:nvPicPr>
        <p:blipFill rotWithShape="1">
          <a:blip r:embed="rId2"/>
          <a:srcRect l="18253" t="48180" r="51329" b="16393"/>
          <a:stretch/>
        </p:blipFill>
        <p:spPr>
          <a:xfrm>
            <a:off x="723332" y="3698543"/>
            <a:ext cx="8720920" cy="2934269"/>
          </a:xfrm>
          <a:prstGeom prst="rect">
            <a:avLst/>
          </a:prstGeom>
        </p:spPr>
      </p:pic>
    </p:spTree>
    <p:extLst>
      <p:ext uri="{BB962C8B-B14F-4D97-AF65-F5344CB8AC3E}">
        <p14:creationId xmlns:p14="http://schemas.microsoft.com/office/powerpoint/2010/main" val="20451695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2137" y="327547"/>
            <a:ext cx="11682484" cy="3043450"/>
          </a:xfrm>
        </p:spPr>
        <p:txBody>
          <a:bodyPr>
            <a:normAutofit fontScale="85000" lnSpcReduction="10000"/>
          </a:bodyPr>
          <a:lstStyle/>
          <a:p>
            <a:pPr marL="0" indent="0" algn="just">
              <a:lnSpc>
                <a:spcPct val="150000"/>
              </a:lnSpc>
              <a:buNone/>
            </a:pPr>
            <a:r>
              <a:rPr lang="en-US" b="1" dirty="0"/>
              <a:t>L2 </a:t>
            </a:r>
            <a:r>
              <a:rPr lang="en-US" b="1" dirty="0" smtClean="0"/>
              <a:t>Regularization</a:t>
            </a:r>
          </a:p>
          <a:p>
            <a:pPr algn="just">
              <a:lnSpc>
                <a:spcPct val="150000"/>
              </a:lnSpc>
            </a:pPr>
            <a:r>
              <a:rPr lang="en-US" b="1" dirty="0"/>
              <a:t>L2 regularization</a:t>
            </a:r>
            <a:r>
              <a:rPr lang="en-US" dirty="0"/>
              <a:t> technique is </a:t>
            </a:r>
            <a:r>
              <a:rPr lang="en-US" dirty="0" smtClean="0"/>
              <a:t>called Ridge </a:t>
            </a:r>
            <a:r>
              <a:rPr lang="en-US" dirty="0"/>
              <a:t>regression </a:t>
            </a:r>
            <a:r>
              <a:rPr lang="en-US" dirty="0" smtClean="0"/>
              <a:t>. </a:t>
            </a:r>
          </a:p>
          <a:p>
            <a:pPr algn="just">
              <a:lnSpc>
                <a:spcPct val="150000"/>
              </a:lnSpc>
            </a:pPr>
            <a:r>
              <a:rPr lang="en-US" dirty="0" smtClean="0"/>
              <a:t>It </a:t>
            </a:r>
            <a:r>
              <a:rPr lang="en-US" dirty="0"/>
              <a:t>adds the </a:t>
            </a:r>
            <a:r>
              <a:rPr lang="en-US" b="1" dirty="0"/>
              <a:t>squared magnitude</a:t>
            </a:r>
            <a:r>
              <a:rPr lang="en-US" dirty="0"/>
              <a:t> of the coefficient as a penalty term to the loss function(L). </a:t>
            </a:r>
            <a:endParaRPr lang="en-US" dirty="0" smtClean="0"/>
          </a:p>
          <a:p>
            <a:pPr algn="just">
              <a:lnSpc>
                <a:spcPct val="150000"/>
              </a:lnSpc>
            </a:pPr>
            <a:r>
              <a:rPr lang="en-US" dirty="0" smtClean="0"/>
              <a:t>It </a:t>
            </a:r>
            <a:r>
              <a:rPr lang="en-US" dirty="0"/>
              <a:t>handles </a:t>
            </a:r>
            <a:r>
              <a:rPr lang="en-US" dirty="0" err="1"/>
              <a:t>multicollinearity</a:t>
            </a:r>
            <a:r>
              <a:rPr lang="en-US" dirty="0"/>
              <a:t> by shrinking the coefficients of correlated features instead of eliminating them.</a:t>
            </a:r>
          </a:p>
        </p:txBody>
      </p:sp>
      <p:pic>
        <p:nvPicPr>
          <p:cNvPr id="4" name="Picture 3"/>
          <p:cNvPicPr>
            <a:picLocks noChangeAspect="1"/>
          </p:cNvPicPr>
          <p:nvPr/>
        </p:nvPicPr>
        <p:blipFill rotWithShape="1">
          <a:blip r:embed="rId2"/>
          <a:srcRect l="18253" t="39716" r="30036" b="18952"/>
          <a:stretch/>
        </p:blipFill>
        <p:spPr>
          <a:xfrm>
            <a:off x="777922" y="3548418"/>
            <a:ext cx="10072047" cy="2866030"/>
          </a:xfrm>
          <a:prstGeom prst="rect">
            <a:avLst/>
          </a:prstGeom>
        </p:spPr>
      </p:pic>
    </p:spTree>
    <p:extLst>
      <p:ext uri="{BB962C8B-B14F-4D97-AF65-F5344CB8AC3E}">
        <p14:creationId xmlns:p14="http://schemas.microsoft.com/office/powerpoint/2010/main" val="5134911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12" y="204718"/>
            <a:ext cx="11737075" cy="3043450"/>
          </a:xfrm>
        </p:spPr>
        <p:txBody>
          <a:bodyPr>
            <a:normAutofit lnSpcReduction="10000"/>
          </a:bodyPr>
          <a:lstStyle/>
          <a:p>
            <a:pPr marL="0" lvl="1" indent="0" algn="just">
              <a:spcBef>
                <a:spcPts val="1000"/>
              </a:spcBef>
              <a:buNone/>
            </a:pPr>
            <a:r>
              <a:rPr lang="en-US" sz="2800" b="1" dirty="0"/>
              <a:t>Dropout</a:t>
            </a:r>
          </a:p>
          <a:p>
            <a:pPr algn="just"/>
            <a:r>
              <a:rPr lang="en-US" dirty="0"/>
              <a:t>In Dropout, a random subset of neurons is temporarily excluded or “dropped out” during each iteration. </a:t>
            </a:r>
            <a:endParaRPr lang="en-US" dirty="0" smtClean="0"/>
          </a:p>
          <a:p>
            <a:pPr algn="just"/>
            <a:r>
              <a:rPr lang="en-US" dirty="0" smtClean="0"/>
              <a:t>This </a:t>
            </a:r>
            <a:r>
              <a:rPr lang="en-US" dirty="0"/>
              <a:t>helps prevent </a:t>
            </a:r>
            <a:r>
              <a:rPr lang="en-US" dirty="0" err="1"/>
              <a:t>overfitting</a:t>
            </a:r>
            <a:r>
              <a:rPr lang="en-US" dirty="0"/>
              <a:t> by promoting more robust learning and reducing the reliance on specific neurons</a:t>
            </a:r>
            <a:r>
              <a:rPr lang="en-US" dirty="0" smtClean="0"/>
              <a:t>.</a:t>
            </a:r>
          </a:p>
          <a:p>
            <a:pPr algn="just"/>
            <a:r>
              <a:rPr lang="en-US" dirty="0"/>
              <a:t>E</a:t>
            </a:r>
            <a:r>
              <a:rPr lang="en-US" dirty="0" smtClean="0"/>
              <a:t>ach </a:t>
            </a:r>
            <a:r>
              <a:rPr lang="en-US" dirty="0"/>
              <a:t>iteration has a different set of nodes and this results in a different set of outputs.</a:t>
            </a:r>
          </a:p>
        </p:txBody>
      </p:sp>
      <p:pic>
        <p:nvPicPr>
          <p:cNvPr id="2050" name="Picture 2" descr="https://i.ibb.co/KydYCbp/d3.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037228" y="3678854"/>
            <a:ext cx="9771797" cy="2844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8953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34" y="122830"/>
            <a:ext cx="11996383" cy="6605516"/>
          </a:xfrm>
        </p:spPr>
        <p:txBody>
          <a:bodyPr>
            <a:noAutofit/>
          </a:bodyPr>
          <a:lstStyle/>
          <a:p>
            <a:pPr marL="0" indent="0" algn="just">
              <a:lnSpc>
                <a:spcPct val="150000"/>
              </a:lnSpc>
              <a:buNone/>
            </a:pPr>
            <a:r>
              <a:rPr lang="en-US" sz="2400" b="1" dirty="0"/>
              <a:t>Data Augmentation</a:t>
            </a:r>
            <a:endParaRPr lang="en-US" sz="2400" dirty="0"/>
          </a:p>
          <a:p>
            <a:pPr lvl="1" algn="just">
              <a:lnSpc>
                <a:spcPct val="150000"/>
              </a:lnSpc>
            </a:pPr>
            <a:r>
              <a:rPr lang="en-US" dirty="0"/>
              <a:t>Expands the training dataset by applying transformations (rotation, flipping, cropping, etc.) to existing data.</a:t>
            </a:r>
          </a:p>
          <a:p>
            <a:pPr lvl="1" algn="just">
              <a:lnSpc>
                <a:spcPct val="150000"/>
              </a:lnSpc>
            </a:pPr>
            <a:r>
              <a:rPr lang="en-US" dirty="0"/>
              <a:t>Purpose: Increases data diversity and reduces </a:t>
            </a:r>
            <a:r>
              <a:rPr lang="en-US" dirty="0" err="1" smtClean="0"/>
              <a:t>overfitting</a:t>
            </a:r>
            <a:r>
              <a:rPr lang="en-US" dirty="0" smtClean="0"/>
              <a:t>.</a:t>
            </a:r>
          </a:p>
          <a:p>
            <a:pPr marL="0" indent="0" algn="just">
              <a:lnSpc>
                <a:spcPct val="150000"/>
              </a:lnSpc>
              <a:buNone/>
            </a:pPr>
            <a:r>
              <a:rPr lang="en-US" sz="2400" b="1" dirty="0"/>
              <a:t>Early </a:t>
            </a:r>
            <a:r>
              <a:rPr lang="en-US" sz="2400" b="1" dirty="0" smtClean="0"/>
              <a:t>Stopping</a:t>
            </a:r>
          </a:p>
          <a:p>
            <a:pPr lvl="1" algn="just">
              <a:lnSpc>
                <a:spcPct val="150000"/>
              </a:lnSpc>
            </a:pPr>
            <a:r>
              <a:rPr lang="en-US" dirty="0"/>
              <a:t>Monitors validation performance during training and stops when it stops improving.</a:t>
            </a:r>
          </a:p>
          <a:p>
            <a:pPr lvl="1" algn="just">
              <a:lnSpc>
                <a:spcPct val="150000"/>
              </a:lnSpc>
            </a:pPr>
            <a:r>
              <a:rPr lang="en-US" dirty="0"/>
              <a:t>Purpose: Prevents </a:t>
            </a:r>
            <a:r>
              <a:rPr lang="en-US" dirty="0" err="1"/>
              <a:t>overfitting</a:t>
            </a:r>
            <a:r>
              <a:rPr lang="en-US" dirty="0"/>
              <a:t> by halting training before the model memorizes noise.</a:t>
            </a:r>
          </a:p>
          <a:p>
            <a:pPr marL="0" indent="0" algn="just">
              <a:lnSpc>
                <a:spcPct val="150000"/>
              </a:lnSpc>
              <a:buNone/>
            </a:pPr>
            <a:r>
              <a:rPr lang="en-US" sz="2400" b="1" dirty="0"/>
              <a:t>Noise </a:t>
            </a:r>
            <a:r>
              <a:rPr lang="en-US" sz="2400" b="1" dirty="0" smtClean="0"/>
              <a:t>Injection</a:t>
            </a:r>
          </a:p>
          <a:p>
            <a:pPr lvl="1" algn="just">
              <a:lnSpc>
                <a:spcPct val="150000"/>
              </a:lnSpc>
            </a:pPr>
            <a:r>
              <a:rPr lang="en-US" dirty="0"/>
              <a:t>Adds noise to inputs, weights, or activations during training.</a:t>
            </a:r>
          </a:p>
          <a:p>
            <a:pPr lvl="1" algn="just">
              <a:lnSpc>
                <a:spcPct val="150000"/>
              </a:lnSpc>
            </a:pPr>
            <a:r>
              <a:rPr lang="en-US" dirty="0"/>
              <a:t>Purpose: Improves robustness and prevents the model from becoming too sensitive to training data</a:t>
            </a:r>
          </a:p>
          <a:p>
            <a:pPr marL="0" indent="0" algn="just">
              <a:lnSpc>
                <a:spcPct val="150000"/>
              </a:lnSpc>
              <a:buNone/>
            </a:pPr>
            <a:endParaRPr lang="en-US" sz="2400" dirty="0"/>
          </a:p>
          <a:p>
            <a:pPr marL="0" indent="0" algn="just">
              <a:lnSpc>
                <a:spcPct val="150000"/>
              </a:lnSpc>
              <a:buNone/>
            </a:pPr>
            <a:endParaRPr lang="en-US" sz="2400" dirty="0"/>
          </a:p>
        </p:txBody>
      </p:sp>
    </p:spTree>
    <p:extLst>
      <p:ext uri="{BB962C8B-B14F-4D97-AF65-F5344CB8AC3E}">
        <p14:creationId xmlns:p14="http://schemas.microsoft.com/office/powerpoint/2010/main" val="3312392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7827</TotalTime>
  <Words>1727</Words>
  <Application>Microsoft Office PowerPoint</Application>
  <PresentationFormat>Widescreen</PresentationFormat>
  <Paragraphs>233</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Calibri Light</vt:lpstr>
      <vt:lpstr>Office Theme</vt:lpstr>
      <vt:lpstr>Module 3 : DEEP LEARNING</vt:lpstr>
      <vt:lpstr>PowerPoint Presentation</vt:lpstr>
      <vt:lpstr>PowerPoint Presentation</vt:lpstr>
      <vt:lpstr>Neural Network</vt:lpstr>
      <vt:lpstr>PowerPoint Presentation</vt:lpstr>
      <vt:lpstr>PowerPoint Presentation</vt:lpstr>
      <vt:lpstr>Basic Components of Neural Networks</vt:lpstr>
      <vt:lpstr>Weights</vt:lpstr>
      <vt:lpstr>PowerPoint Presentation</vt:lpstr>
      <vt:lpstr>Forward Propagation</vt:lpstr>
      <vt:lpstr>PowerPoint Presentation</vt:lpstr>
      <vt:lpstr>PowerPoint Presentation</vt:lpstr>
      <vt:lpstr>Activation Functions</vt:lpstr>
      <vt:lpstr>PowerPoint Presentation</vt:lpstr>
      <vt:lpstr>PowerPoint Presentation</vt:lpstr>
      <vt:lpstr>PowerPoint Presentation</vt:lpstr>
      <vt:lpstr>PowerPoint Presentation</vt:lpstr>
      <vt:lpstr>PowerPoint Presentation</vt:lpstr>
      <vt:lpstr>PowerPoint Presentation</vt:lpstr>
      <vt:lpstr>3. Exponential Linear Units</vt:lpstr>
      <vt:lpstr>PowerPoint Presentation</vt:lpstr>
      <vt:lpstr>Loss Functions in Deep Learning</vt:lpstr>
      <vt:lpstr>PowerPoint Presentation</vt:lpstr>
      <vt:lpstr>PowerPoint Presentation</vt:lpstr>
      <vt:lpstr>PowerPoint Presentation</vt:lpstr>
      <vt:lpstr>Backpropagation</vt:lpstr>
      <vt:lpstr>PowerPoint Presentation</vt:lpstr>
      <vt:lpstr>Optimization Methods in DL</vt:lpstr>
      <vt:lpstr>PowerPoint Presentation</vt:lpstr>
      <vt:lpstr>PowerPoint Presentation</vt:lpstr>
      <vt:lpstr>PowerPoint Presentation</vt:lpstr>
      <vt:lpstr>PowerPoint Presentation</vt:lpstr>
      <vt:lpstr>Regularization methods in DL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DEEP LEARNING</dc:title>
  <dc:creator>Microsoft account</dc:creator>
  <cp:lastModifiedBy>Microsoft account</cp:lastModifiedBy>
  <cp:revision>43</cp:revision>
  <dcterms:created xsi:type="dcterms:W3CDTF">2025-10-12T14:26:14Z</dcterms:created>
  <dcterms:modified xsi:type="dcterms:W3CDTF">2025-12-13T04:49:03Z</dcterms:modified>
</cp:coreProperties>
</file>